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0ff925110c4933" /><Relationship Type="http://schemas.openxmlformats.org/officeDocument/2006/relationships/extended-properties" Target="/docProps/app.xml" Id="R02c64b298b774be8" /><Relationship Type="http://schemas.openxmlformats.org/officeDocument/2006/relationships/officeDocument" Target="/ppt/presentation.xml" Id="R8e291f30e1c4462b" /></Relationships>
</file>

<file path=ppt/presentation.xml><?xml version="1.0" encoding="utf-8"?>
<p:presentation xmlns:p="http://schemas.openxmlformats.org/presentationml/2006/main">
  <p:sldMasterIdLst>
    <p:sldMasterId xmlns:r="http://schemas.openxmlformats.org/officeDocument/2006/relationships" id="2147483648" r:id="Rdf2e694d07c54c96"/>
  </p:sldMasterIdLst>
  <p:notesMasterIdLst>
    <p:notesMasterId xmlns:r="http://schemas.openxmlformats.org/officeDocument/2006/relationships" r:id="R37a5a246a04d473c"/>
  </p:notesMasterIdLst>
  <p:sldIdLst>
    <p:sldId xmlns:r="http://schemas.openxmlformats.org/officeDocument/2006/relationships" id="256" r:id="R98d5304e6ab244bb"/>
    <p:sldId xmlns:r="http://schemas.openxmlformats.org/officeDocument/2006/relationships" id="257" r:id="Rcd76dbbe54544495"/>
    <p:sldId xmlns:r="http://schemas.openxmlformats.org/officeDocument/2006/relationships" id="258" r:id="R56cd8b2b03554509"/>
    <p:sldId xmlns:r="http://schemas.openxmlformats.org/officeDocument/2006/relationships" id="259" r:id="Rfd3d660ab7984935"/>
    <p:sldId xmlns:r="http://schemas.openxmlformats.org/officeDocument/2006/relationships" id="260" r:id="R30950072f1ef4cde"/>
    <p:sldId xmlns:r="http://schemas.openxmlformats.org/officeDocument/2006/relationships" id="261" r:id="R7845a851462e40bd"/>
    <p:sldId xmlns:r="http://schemas.openxmlformats.org/officeDocument/2006/relationships" id="262" r:id="Rfd8301cab1634b47"/>
    <p:sldId xmlns:r="http://schemas.openxmlformats.org/officeDocument/2006/relationships" id="263" r:id="R46d145c8d28d4385"/>
    <p:sldId xmlns:r="http://schemas.openxmlformats.org/officeDocument/2006/relationships" id="264" r:id="R40643f59ca0847b6"/>
    <p:sldId xmlns:r="http://schemas.openxmlformats.org/officeDocument/2006/relationships" id="265" r:id="Re3fb88376b3441f8"/>
    <p:sldId xmlns:r="http://schemas.openxmlformats.org/officeDocument/2006/relationships" id="266" r:id="Re1b10b8c87634eb0"/>
    <p:sldId xmlns:r="http://schemas.openxmlformats.org/officeDocument/2006/relationships" id="267" r:id="R8fca47342ad94b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5175b17217343e2" /><Relationship Type="http://schemas.openxmlformats.org/officeDocument/2006/relationships/slideMaster" Target="/ppt/slideMasters/slideMaster1.xml" Id="Rdf2e694d07c54c96" /><Relationship Type="http://schemas.openxmlformats.org/officeDocument/2006/relationships/notesMaster" Target="/ppt/notesMasters/notesMaster1.xml" Id="R37a5a246a04d473c" /><Relationship Type="http://schemas.openxmlformats.org/officeDocument/2006/relationships/presProps" Target="/ppt/presProps.xml" Id="R423d889b0b6847ee" /><Relationship Type="http://schemas.openxmlformats.org/officeDocument/2006/relationships/viewProps" Target="/ppt/viewProps.xml" Id="Rc244c967eef546cb" /><Relationship Type="http://schemas.openxmlformats.org/officeDocument/2006/relationships/tableStyles" Target="/ppt/tableStyles.xml" Id="Ra119cbe458544f3c" /><Relationship Type="http://schemas.openxmlformats.org/officeDocument/2006/relationships/slide" Target="/ppt/slides/slide1.xml" Id="R98d5304e6ab244bb" /><Relationship Type="http://schemas.openxmlformats.org/officeDocument/2006/relationships/slide" Target="/ppt/slides/slide2.xml" Id="Rcd76dbbe54544495" /><Relationship Type="http://schemas.openxmlformats.org/officeDocument/2006/relationships/slide" Target="/ppt/slides/slide3.xml" Id="R56cd8b2b03554509" /><Relationship Type="http://schemas.openxmlformats.org/officeDocument/2006/relationships/slide" Target="/ppt/slides/slide4.xml" Id="Rfd3d660ab7984935" /><Relationship Type="http://schemas.openxmlformats.org/officeDocument/2006/relationships/slide" Target="/ppt/slides/slide5.xml" Id="R30950072f1ef4cde" /><Relationship Type="http://schemas.openxmlformats.org/officeDocument/2006/relationships/slide" Target="/ppt/slides/slide6.xml" Id="R7845a851462e40bd" /><Relationship Type="http://schemas.openxmlformats.org/officeDocument/2006/relationships/slide" Target="/ppt/slides/slide7.xml" Id="Rfd8301cab1634b47" /><Relationship Type="http://schemas.openxmlformats.org/officeDocument/2006/relationships/slide" Target="/ppt/slides/slide8.xml" Id="R46d145c8d28d4385" /><Relationship Type="http://schemas.openxmlformats.org/officeDocument/2006/relationships/slide" Target="/ppt/slides/slide9.xml" Id="R40643f59ca0847b6" /><Relationship Type="http://schemas.openxmlformats.org/officeDocument/2006/relationships/slide" Target="/ppt/slides/slide10.xml" Id="Re3fb88376b3441f8" /><Relationship Type="http://schemas.openxmlformats.org/officeDocument/2006/relationships/slide" Target="/ppt/slides/slide11.xml" Id="Re1b10b8c87634eb0" /><Relationship Type="http://schemas.openxmlformats.org/officeDocument/2006/relationships/slide" Target="/ppt/slides/slide12.xml" Id="R8fca47342ad94b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62b6ce733549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316222ae4b440e" /><Relationship Type="http://schemas.openxmlformats.org/officeDocument/2006/relationships/notesMaster" Target="/ppt/notesMasters/notesMaster1.xml" Id="R5e07ec8e5b4641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6807f968964b3b" /><Relationship Type="http://schemas.openxmlformats.org/officeDocument/2006/relationships/notesMaster" Target="/ppt/notesMasters/notesMaster1.xml" Id="Rce8403db410144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28df5cd8fa4651" /><Relationship Type="http://schemas.openxmlformats.org/officeDocument/2006/relationships/notesMaster" Target="/ppt/notesMasters/notesMaster1.xml" Id="Rb3b5ea0d13c14c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a16a1f67ad47bd" /><Relationship Type="http://schemas.openxmlformats.org/officeDocument/2006/relationships/notesMaster" Target="/ppt/notesMasters/notesMaster1.xml" Id="R4ee07910e13f41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02c72ef1134711" /><Relationship Type="http://schemas.openxmlformats.org/officeDocument/2006/relationships/notesMaster" Target="/ppt/notesMasters/notesMaster1.xml" Id="Rb5539155305d46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1a5d80630f4689" /><Relationship Type="http://schemas.openxmlformats.org/officeDocument/2006/relationships/notesMaster" Target="/ppt/notesMasters/notesMaster1.xml" Id="R4afe9943d2bf47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b548fdcef049b1" /><Relationship Type="http://schemas.openxmlformats.org/officeDocument/2006/relationships/notesMaster" Target="/ppt/notesMasters/notesMaster1.xml" Id="R7c10de292afb46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7e113c6e2a45b9" /><Relationship Type="http://schemas.openxmlformats.org/officeDocument/2006/relationships/notesMaster" Target="/ppt/notesMasters/notesMaster1.xml" Id="R2789883f8cf24e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f8ec8fe87e4983" /><Relationship Type="http://schemas.openxmlformats.org/officeDocument/2006/relationships/notesMaster" Target="/ppt/notesMasters/notesMaster1.xml" Id="R50a856e9f3e645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8a5a6b186240f6" /><Relationship Type="http://schemas.openxmlformats.org/officeDocument/2006/relationships/notesMaster" Target="/ppt/notesMasters/notesMaster1.xml" Id="Rb22e687fc37547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345c18eb0d4fdc" /><Relationship Type="http://schemas.openxmlformats.org/officeDocument/2006/relationships/notesMaster" Target="/ppt/notesMasters/notesMaster1.xml" Id="R249fa41948504a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edfd1ed07f4ca3" /><Relationship Type="http://schemas.openxmlformats.org/officeDocument/2006/relationships/notesMaster" Target="/ppt/notesMasters/notesMaster1.xml" Id="Rb2c9e2daefb549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Assalamualaikum/selamat pagi. Saya Putra Febrian akan mempresentasikan skripsi tentang Web GIS untuk pemetaan dan analisis zonasi UMKM di Sulawesi Utara menggunakan K-Means.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Mitra penelitian saya adalah Yayasan Bina Lentera Insan atau YBLI. YBLI bergerak di bidang pendidikan, kesehatan, ekonomi, dan sosial keagamaan. Karena penelitian ini membahas pemetaan UMKM, YBLI menjadi konteks yang relevan untuk pemberdayaan masyarakat dan UMKM.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Masalahnya adalah data UMKM banyak, tersebar, dan jika hanya dibaca sebagai tabel, pola wilayahnya sulit terlihat. Web GIS digunakan agar lokasi bisa dilihat langsung di peta. Namun koordinat harus dijelaskan kualitasnya karena tidak semua titik merupakan lokasi GPS yang tepat.</a:t>
            </a:r>
          </a:p>
          <a:p xmlns:a="http://schemas.openxmlformats.org/drawingml/2006/main">
            <a:r>
              <a:t>
Tambahan masalah: YBLI mempertimbangkan Google Maps untuk menampilkan sebaran UMKM, tetapi biaya layanan dinilai tinggi. Sistem menyediakan peta interaktif dan fitur rute sebagai solusi.
Sumber tambahan: hasil diskusi dengan mitra YBLI yang disampaikan oleh penulis.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Rumusan masalah saya tidak hanya tentang membuat peta. Penelitian juga membahas alur pengajuan, kualitas koordinat, proses K-Means, dan pengujian. Tujuannya agar sistem bukan hanya tampil, tetapi juga bisa dievaluasi.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Solusi yang saya bangun terdiri dari halaman publik, panel admin, dan modul analisis. Publik bisa mencari dan mengajukan UMKM. Admin mengelola dan memverifikasi data. Setelah data siap, sistem menjalankan analisis zonasi dengan K-Means.</a:t>
            </a:r>
          </a:p>
          <a:p xmlns:a="http://schemas.openxmlformats.org/drawingml/2006/main">
            <a:r>
              <a:t>
Fitur rute membantu pengguna menuju lokasi UMKM tanpa YBLI bergantung pada layanan peta berbiaya tinggi.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Metode penelitian dimulai dari analisis kebutuhan, dilanjutkan perancangan sistem dan basis data, implementasi, verifikasi lokasi, penerapan K-Means, lalu pengujian. Dataset lokal berisi 1.802 record dan 1.743 titik yang bisa dianalisis.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Arsitektur sistem memisahkan antarmuka publik, panel admin, dan backend. React dan Leaflet menangani tampilan peta. Supabase menjaga data, hak akses, dan penyimpanan. K-Means dijalankan pada data yang memenuhi syarat.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Pada penelitian ini, koordinat tidak langsung dianggap sama akurat. Ada lokasi tepat, perkiraan kecamatan, dan belum terverifikasi. Data yang belum terverifikasi tidak dimasukkan ke K-Means. Sistem juga memisahkan koordinat analisis dan koordinat tampilan.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Proses K-Means dimulai dari pemilihan data yang layak dianalisis. Data dibuat menjadi snapshot, kemudian centroid awal dipilih dengan K-Means++. Jarak antar titik dihitung menggunakan Haversine, lalu sistem menghasilkan cluster, WCSS, radius, dan menyimpan hasilnya.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Hasil implementasi menunjukkan fitur utama sudah tersedia. Algoritma K-Means diuji dari K=2 sampai K=10 pada 1.743 titik. ESLint dan build produksi berhasil. Namun pengujian integrasi Supabase serta black-box pada perangkat nyata masih perlu dilengkapi.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Pada evaluasi WCSS, nilai umumnya menurun ketika K bertambah. Namun pada K=9 terjadi kenaikan, sehingga kurva tidak monoton. Karena itu saya tidak menetapkan K optimal hanya dari satu run per K. Evaluasi lanjutan perlu multi-start atau metode tambahan.</a:t>
            </a:r>
          </a:p>
          <a:p xmlns:a="http://schemas.openxmlformats.org/drawingml/2006/main">
            <a:r>
              <a:t>
Grafik evaluasi nilai K dipertahankan sebagai gambar dari slide asli agar visualnya tidak berubah pada pembaruan 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Bacaan singkat:
Kesimpulannya, sistem berhasil menggabungkan pemetaan, layanan publik, pengelolaan data, dan analisis clustering. Namun hasil K-Means masih perlu dibaca secara hati-hati karena kualitas koordinat masih didominasi perkiraan. Pengembangan berikutnya adalah verifikasi koordinat, multi-start, dan pengujian 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17f115b3cc42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8219b719fb489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ODERN">
    <p:bg>
      <p:bgPr>
        <a:solidFill xmlns:a="http://schemas.openxmlformats.org/drawingml/2006/main">
          <a:srgbClr val="F8FAF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2D16578-D5D9-4C76-BE29-3CEF54CB833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8"/>
          </a:solidFill>
          <a:ln xmlns:a="http://schemas.openxmlformats.org/drawingml/2006/main" w="12700">
            <a:solidFill>
              <a:srgbClr val="F8FAF8"/>
            </a:solidFill>
            <a:prstDash val="solid"/>
          </a:ln>
        </p:spPr>
      </p:sp>
      <p:sp>
        <p:nvSpPr>
          <p:cNvPr id="3" name="Shape 1">
            <a:extLst xmlns:a="http://schemas.openxmlformats.org/drawingml/2006/main">
              <a:ext uri="{FF2B5EF4-FFF2-40B4-BE49-F238E27FC236}">
                <a16:creationId xmlns:a16="http://schemas.microsoft.com/office/drawing/2014/main" id="{226B083A-7835-4E5E-95E7-10E7E8C098C7}"/>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0F4C5C"/>
          </a:solidFill>
          <a:ln xmlns:a="http://schemas.openxmlformats.org/drawingml/2006/main" w="12700">
            <a:solidFill>
              <a:srgbClr val="0F4C5C"/>
            </a:solidFill>
            <a:prstDash val="solid"/>
          </a:ln>
        </p:spPr>
      </p:sp>
      <p:sp>
        <p:nvSpPr>
          <p:cNvPr id="4" name="Shape 2">
            <a:extLst xmlns:a="http://schemas.openxmlformats.org/drawingml/2006/main">
              <a:ext uri="{FF2B5EF4-FFF2-40B4-BE49-F238E27FC236}">
                <a16:creationId xmlns:a16="http://schemas.microsoft.com/office/drawing/2014/main" id="{C1E2275A-68F9-4746-835F-BDF3CE278FEE}"/>
              </a:ext>
            </a:extLst>
          </p:cNvPr>
          <p:cNvSpPr>
            <a:spLocks xmlns:a="http://schemas.openxmlformats.org/drawingml/2006/main" noGrp="1"/>
          </p:cNvSpPr>
          <p:nvPr/>
        </p:nvSpPr>
        <p:spPr>
          <a:xfrm xmlns:a="http://schemas.openxmlformats.org/drawingml/2006/main">
            <a:off x="594360" y="6446520"/>
            <a:ext cx="10972800" cy="0"/>
          </a:xfrm>
          <a:prstGeom xmlns:a="http://schemas.openxmlformats.org/drawingml/2006/main" prst="line">
            <a:avLst/>
          </a:prstGeom>
          <a:noFill xmlns:a="http://schemas.openxmlformats.org/drawingml/2006/main"/>
          <a:ln xmlns:a="http://schemas.openxmlformats.org/drawingml/2006/main" w="12700">
            <a:solidFill>
              <a:srgbClr val="D7E5DF"/>
            </a:solidFill>
            <a:prstDash val="solid"/>
          </a:ln>
        </p:spPr>
      </p:sp>
      <p:sp>
        <p:nvSpPr>
          <p:cNvPr id="5" name="Text 3">
            <a:extLst xmlns:a="http://schemas.openxmlformats.org/drawingml/2006/main">
              <a:ext uri="{FF2B5EF4-FFF2-40B4-BE49-F238E27FC236}">
                <a16:creationId xmlns:a16="http://schemas.microsoft.com/office/drawing/2014/main" id="{0EBE4D7D-9C43-4E20-B3BB-ADA4394A0E38}"/>
              </a:ext>
            </a:extLst>
          </p:cNvPr>
          <p:cNvSpPr>
            <a:spLocks xmlns:a="http://schemas.openxmlformats.org/drawingml/2006/main" noGrp="1"/>
          </p:cNvSpPr>
          <p:nvPr/>
        </p:nvSpPr>
        <p:spPr>
          <a:xfrm xmlns:a="http://schemas.openxmlformats.org/drawingml/2006/main">
            <a:off x="594360" y="652881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70">
                <a:solidFill>
                  <a:srgbClr val="6B7B84"/>
                </a:solidFill>
                <a:latin typeface="Aptos"/>
                <a:ea typeface="Aptos"/>
                <a:cs typeface="Aptos"/>
              </a:rPr>
              <a:t>Putra Febrian • D-IV Teknik Informatika • Politeknik Negeri Manado</a:t>
            </a:r>
            <a:endParaRPr sz="870"/>
          </a:p>
        </p:txBody>
      </p:sp>
      <p:sp>
        <p:nvSpPr>
          <p:cNvPr id="25" name="Slide Number Placeholder 0">
            <a:extLst xmlns:a="http://schemas.openxmlformats.org/drawingml/2006/main">
              <a:ext uri="{FF2B5EF4-FFF2-40B4-BE49-F238E27FC236}">
                <a16:creationId xmlns:a16="http://schemas.microsoft.com/office/drawing/2014/main" id="{D619E1F4-83FB-4EEE-AAB2-603C6DF59D9E}"/>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a04d67f42642ab" /><Relationship Type="http://schemas.openxmlformats.org/officeDocument/2006/relationships/slideLayout" Target="/ppt/slideLayouts/slideLayout1.xml" Id="R499cf095ef5a4bb7" /><Relationship Type="http://schemas.openxmlformats.org/officeDocument/2006/relationships/slideLayout" Target="/ppt/slideLayouts/slideLayout2.xml" Id="Rac1ea77640494fa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E4D82DA6-6B83-4249-A312-1CA26364C788}"/>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9cf095ef5a4bb7"/>
    <p:sldLayoutId xmlns:r="http://schemas.openxmlformats.org/officeDocument/2006/relationships" id="2147483650" r:id="Rac1ea77640494fa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82ca858d6048a7" /><Relationship Type="http://schemas.openxmlformats.org/officeDocument/2006/relationships/image" Target="/ppt/media/image.png" Id="R32e83ff2bc4d4a1b" /><Relationship Type="http://schemas.openxmlformats.org/officeDocument/2006/relationships/image" Target="/ppt/media/image2.png" Id="R0215628dce064080" /><Relationship Type="http://schemas.openxmlformats.org/officeDocument/2006/relationships/notesSlide" Target="/ppt/notesSlides/notesSlide1.xml" Id="Rb8ac81d82d0442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afd6161d95849dc" /><Relationship Type="http://schemas.openxmlformats.org/officeDocument/2006/relationships/notesSlide" Target="/ppt/notesSlides/notesSlide2.xml" Id="Rc688f63d8ab34a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50d924b645e453e" /><Relationship Type="http://schemas.openxmlformats.org/officeDocument/2006/relationships/image" Target="/ppt/media/image3.png" Id="R3d5058664bcf4d8a" /><Relationship Type="http://schemas.openxmlformats.org/officeDocument/2006/relationships/notesSlide" Target="/ppt/notesSlides/notesSlide3.xml" Id="R7273871b5c6f40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96d4333d1284750" /><Relationship Type="http://schemas.openxmlformats.org/officeDocument/2006/relationships/notesSlide" Target="/ppt/notesSlides/notesSlide4.xml" Id="R87f57a1ce54c46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eea8932062444af" /><Relationship Type="http://schemas.openxmlformats.org/officeDocument/2006/relationships/notesSlide" Target="/ppt/notesSlides/notesSlide5.xml" Id="R448e5d4dbbf14d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fc63149066248ec" /><Relationship Type="http://schemas.openxmlformats.org/officeDocument/2006/relationships/image" Target="/ppt/media/image4.png" Id="R2ac68aa69ae64d16" /><Relationship Type="http://schemas.openxmlformats.org/officeDocument/2006/relationships/notesSlide" Target="/ppt/notesSlides/notesSlide6.xml" Id="R4f7012da64fe4c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362faa72fc84628" /><Relationship Type="http://schemas.openxmlformats.org/officeDocument/2006/relationships/image" Target="/ppt/media/image5.png" Id="R2c146077eb7f4f55" /><Relationship Type="http://schemas.openxmlformats.org/officeDocument/2006/relationships/notesSlide" Target="/ppt/notesSlides/notesSlide7.xml" Id="R49dea522c8ad4e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eb32b34c0e04acd" /><Relationship Type="http://schemas.openxmlformats.org/officeDocument/2006/relationships/image" Target="/ppt/media/image6.png" Id="Rdce69ca3d75543f5" /><Relationship Type="http://schemas.openxmlformats.org/officeDocument/2006/relationships/notesSlide" Target="/ppt/notesSlides/notesSlide8.xml" Id="R4e06417504f348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622da86e20a4ece" /><Relationship Type="http://schemas.openxmlformats.org/officeDocument/2006/relationships/image" Target="/ppt/media/image7.png" Id="R915482afff794bd3" /><Relationship Type="http://schemas.openxmlformats.org/officeDocument/2006/relationships/notesSlide" Target="/ppt/notesSlides/notesSlide9.xml" Id="Ra266ae89c7da48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4714708fe44494e" /><Relationship Type="http://schemas.openxmlformats.org/officeDocument/2006/relationships/image" Target="/ppt/media/image8.png" Id="Rf4745579cff244e4" /><Relationship Type="http://schemas.openxmlformats.org/officeDocument/2006/relationships/notesSlide" Target="/ppt/notesSlides/notesSlide10.xml" Id="R76cbd28c4d084f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cd56eeb2340495b" /><Relationship Type="http://schemas.openxmlformats.org/officeDocument/2006/relationships/image" Target="/ppt/media/image9.png" Id="R77c364315b414ffd" /><Relationship Type="http://schemas.openxmlformats.org/officeDocument/2006/relationships/notesSlide" Target="/ppt/notesSlides/notesSlide11.xml" Id="Red5f45bba68840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71a063517f47f9" /><Relationship Type="http://schemas.openxmlformats.org/officeDocument/2006/relationships/notesSlide" Target="/ppt/notesSlides/notesSlide12.xml" Id="R19cf44132724488c" /></Relationships>
</file>

<file path=ppt/slides/slide1.xml><?xml version="1.0" encoding="utf-8"?>
<p:sld xmlns:p="http://schemas.openxmlformats.org/presentationml/2006/main">
  <p:cSld>
    <p:bg>
      <p:bgPr>
        <a:solidFill xmlns:a="http://schemas.openxmlformats.org/drawingml/2006/main">
          <a:srgbClr val="0B2F3A"/>
        </a:solidFill>
      </p:bgPr>
    </p:bg>
    <p:spTree>
      <p:nvGrpSpPr>
        <p:cNvPr id="1" name=""/>
        <p:cNvGrpSpPr/>
        <p:nvPr/>
      </p:nvGrpSpPr>
      <p:grpSpPr>
        <a:xfrm xmlns:a="http://schemas.openxmlformats.org/drawingml/2006/main"/>
      </p:grpSpPr>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32e83ff2bc4d4a1b"/>
          <a:stretch xmlns:a="http://schemas.openxmlformats.org/drawingml/2006/main">
            <a:fillRect l="0" t="0" r="0" b="0"/>
          </a:stretch>
        </p:blipFill>
        <p:spPr>
          <a:xfrm xmlns:a="http://schemas.openxmlformats.org/drawingml/2006/main">
            <a:off x="6748272" y="0"/>
            <a:ext cx="5443423"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06EF270C-B4C4-42DB-935C-50CEFC304D13}"/>
              </a:ext>
            </a:extLst>
          </p:cNvPr>
          <p:cNvSpPr>
            <a:spLocks xmlns:a="http://schemas.openxmlformats.org/drawingml/2006/main" noGrp="1"/>
          </p:cNvSpPr>
          <p:nvPr/>
        </p:nvSpPr>
        <p:spPr>
          <a:xfrm xmlns:a="http://schemas.openxmlformats.org/drawingml/2006/main">
            <a:off x="658368" y="566928"/>
            <a:ext cx="2057400" cy="329184"/>
          </a:xfrm>
          <a:prstGeom xmlns:a="http://schemas.openxmlformats.org/drawingml/2006/main" prst="roundRect">
            <a:avLst>
              <a:gd name="adj" fmla="val 33333"/>
            </a:avLst>
          </a:prstGeom>
          <a:solidFill xmlns:a="http://schemas.openxmlformats.org/drawingml/2006/main">
            <a:srgbClr val="F2C94C"/>
          </a:solidFill>
          <a:ln xmlns:a="http://schemas.openxmlformats.org/drawingml/2006/main" w="12700">
            <a:solidFill>
              <a:srgbClr val="F2C94C"/>
            </a:solidFill>
            <a:prstDash val="solid"/>
          </a:ln>
        </p:spPr>
      </p:sp>
      <p:sp>
        <p:nvSpPr>
          <p:cNvPr id="4" name="Text 1">
            <a:extLst xmlns:a="http://schemas.openxmlformats.org/drawingml/2006/main">
              <a:ext uri="{FF2B5EF4-FFF2-40B4-BE49-F238E27FC236}">
                <a16:creationId xmlns:a16="http://schemas.microsoft.com/office/drawing/2014/main" id="{68D63892-E6D4-4926-BF3E-1B0722B37A3F}"/>
              </a:ext>
            </a:extLst>
          </p:cNvPr>
          <p:cNvSpPr>
            <a:spLocks xmlns:a="http://schemas.openxmlformats.org/drawingml/2006/main" noGrp="1"/>
          </p:cNvSpPr>
          <p:nvPr/>
        </p:nvSpPr>
        <p:spPr>
          <a:xfrm xmlns:a="http://schemas.openxmlformats.org/drawingml/2006/main">
            <a:off x="658368" y="640080"/>
            <a:ext cx="2057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9212B"/>
                </a:solidFill>
              </a:rPr>
              <a:t>PRESENTASI SKRIPSI</a:t>
            </a:r>
            <a:endParaRPr sz="950"/>
          </a:p>
        </p:txBody>
      </p:sp>
      <p:sp>
        <p:nvSpPr>
          <p:cNvPr id="5" name="Text 2">
            <a:extLst xmlns:a="http://schemas.openxmlformats.org/drawingml/2006/main">
              <a:ext uri="{FF2B5EF4-FFF2-40B4-BE49-F238E27FC236}">
                <a16:creationId xmlns:a16="http://schemas.microsoft.com/office/drawing/2014/main" id="{D5AFE537-4FB9-4366-817B-AFC543F09375}"/>
              </a:ext>
            </a:extLst>
          </p:cNvPr>
          <p:cNvSpPr>
            <a:spLocks xmlns:a="http://schemas.openxmlformats.org/drawingml/2006/main" noGrp="1"/>
          </p:cNvSpPr>
          <p:nvPr/>
        </p:nvSpPr>
        <p:spPr>
          <a:xfrm xmlns:a="http://schemas.openxmlformats.org/drawingml/2006/main">
            <a:off x="658368" y="1170432"/>
            <a:ext cx="598932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400" b="1">
                <a:solidFill>
                  <a:srgbClr val="FFFFFF"/>
                </a:solidFill>
                <a:latin typeface="Aptos Display"/>
                <a:ea typeface="Aptos Display"/>
                <a:cs typeface="Aptos Display"/>
              </a:rPr>
              <a:t>Implementasi Algoritma K-Means Clustering pada Web GIS</a:t>
            </a:r>
            <a:endParaRPr sz="3400"/>
          </a:p>
        </p:txBody>
      </p:sp>
      <p:sp>
        <p:nvSpPr>
          <p:cNvPr id="6" name="Text 3">
            <a:extLst xmlns:a="http://schemas.openxmlformats.org/drawingml/2006/main">
              <a:ext uri="{FF2B5EF4-FFF2-40B4-BE49-F238E27FC236}">
                <a16:creationId xmlns:a16="http://schemas.microsoft.com/office/drawing/2014/main" id="{B2FDEF69-6203-4ACD-BA37-9A8F31159019}"/>
              </a:ext>
            </a:extLst>
          </p:cNvPr>
          <p:cNvSpPr>
            <a:spLocks xmlns:a="http://schemas.openxmlformats.org/drawingml/2006/main" noGrp="1"/>
          </p:cNvSpPr>
          <p:nvPr/>
        </p:nvSpPr>
        <p:spPr>
          <a:xfrm xmlns:a="http://schemas.openxmlformats.org/drawingml/2006/main">
            <a:off x="676656" y="2331720"/>
            <a:ext cx="55778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700">
                <a:solidFill>
                  <a:srgbClr val="D9F3EF"/>
                </a:solidFill>
              </a:rPr>
              <a:t>untuk Pemetaan dan Analisis Zonasi Persebaran UMKM di Sulawesi Utara</a:t>
            </a:r>
            <a:endParaRPr sz="1700"/>
          </a:p>
        </p:txBody>
      </p:sp>
      <p:sp>
        <p:nvSpPr>
          <p:cNvPr id="7" name="Shape 4">
            <a:extLst xmlns:a="http://schemas.openxmlformats.org/drawingml/2006/main">
              <a:ext uri="{FF2B5EF4-FFF2-40B4-BE49-F238E27FC236}">
                <a16:creationId xmlns:a16="http://schemas.microsoft.com/office/drawing/2014/main" id="{7C635012-15D6-473C-BB22-8A3BE5C42386}"/>
              </a:ext>
            </a:extLst>
          </p:cNvPr>
          <p:cNvSpPr>
            <a:spLocks xmlns:a="http://schemas.openxmlformats.org/drawingml/2006/main" noGrp="1"/>
          </p:cNvSpPr>
          <p:nvPr/>
        </p:nvSpPr>
        <p:spPr>
          <a:xfrm xmlns:a="http://schemas.openxmlformats.org/drawingml/2006/main">
            <a:off x="658368" y="3200400"/>
            <a:ext cx="3931920" cy="0"/>
          </a:xfrm>
          <a:prstGeom xmlns:a="http://schemas.openxmlformats.org/drawingml/2006/main" prst="line">
            <a:avLst/>
          </a:prstGeom>
          <a:noFill xmlns:a="http://schemas.openxmlformats.org/drawingml/2006/main"/>
          <a:ln xmlns:a="http://schemas.openxmlformats.org/drawingml/2006/main" w="25400">
            <a:solidFill>
              <a:srgbClr val="F2C94C"/>
            </a:solidFill>
            <a:prstDash val="solid"/>
          </a:ln>
        </p:spPr>
      </p:sp>
      <p:sp>
        <p:nvSpPr>
          <p:cNvPr id="8" name="Text 5">
            <a:extLst xmlns:a="http://schemas.openxmlformats.org/drawingml/2006/main">
              <a:ext uri="{FF2B5EF4-FFF2-40B4-BE49-F238E27FC236}">
                <a16:creationId xmlns:a16="http://schemas.microsoft.com/office/drawing/2014/main" id="{8A469E94-993D-40D6-A0AD-A9727D97F1E9}"/>
              </a:ext>
            </a:extLst>
          </p:cNvPr>
          <p:cNvSpPr>
            <a:spLocks xmlns:a="http://schemas.openxmlformats.org/drawingml/2006/main" noGrp="1"/>
          </p:cNvSpPr>
          <p:nvPr/>
        </p:nvSpPr>
        <p:spPr>
          <a:xfrm xmlns:a="http://schemas.openxmlformats.org/drawingml/2006/main">
            <a:off x="676656" y="3511296"/>
            <a:ext cx="37947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rPr>
              <a:t>Putra Febrian</a:t>
            </a:r>
            <a:endParaRPr sz="1800"/>
          </a:p>
          <a:p xmlns:a="http://schemas.openxmlformats.org/drawingml/2006/main">
            <a:pPr marL="0" indent="0">
              <a:buNone/>
            </a:pPr>
            <a:r>
              <a:rPr sz="1800" b="1">
                <a:solidFill>
                  <a:srgbClr val="FFFFFF"/>
                </a:solidFill>
              </a:rPr>
              <a:t>NIM 22024129</a:t>
            </a:r>
            <a:endParaRPr sz="1800"/>
          </a:p>
        </p:txBody>
      </p:sp>
      <p:sp>
        <p:nvSpPr>
          <p:cNvPr id="9" name="Text 6">
            <a:extLst xmlns:a="http://schemas.openxmlformats.org/drawingml/2006/main">
              <a:ext uri="{FF2B5EF4-FFF2-40B4-BE49-F238E27FC236}">
                <a16:creationId xmlns:a16="http://schemas.microsoft.com/office/drawing/2014/main" id="{FA92E172-CE14-4DF2-A672-6948EDE4035D}"/>
              </a:ext>
            </a:extLst>
          </p:cNvPr>
          <p:cNvSpPr>
            <a:spLocks xmlns:a="http://schemas.openxmlformats.org/drawingml/2006/main" noGrp="1"/>
          </p:cNvSpPr>
          <p:nvPr/>
        </p:nvSpPr>
        <p:spPr>
          <a:xfrm xmlns:a="http://schemas.openxmlformats.org/drawingml/2006/main">
            <a:off x="676656" y="4370832"/>
            <a:ext cx="47548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BFE8E4"/>
                </a:solidFill>
              </a:rPr>
              <a:t>Program Studi D-IV Teknik Informatika</a:t>
            </a:r>
            <a:endParaRPr sz="1350"/>
          </a:p>
          <a:p xmlns:a="http://schemas.openxmlformats.org/drawingml/2006/main">
            <a:pPr marL="0" indent="0">
              <a:buNone/>
            </a:pPr>
            <a:r>
              <a:rPr sz="1350">
                <a:solidFill>
                  <a:srgbClr val="BFE8E4"/>
                </a:solidFill>
              </a:rPr>
              <a:t>Politeknik Negeri Manado • 2026</a:t>
            </a:r>
            <a:endParaRPr sz="1350"/>
          </a:p>
        </p:txBody>
      </p:sp>
      <p:sp>
        <p:nvSpPr>
          <p:cNvPr id="10" name="Shape 7">
            <a:extLst xmlns:a="http://schemas.openxmlformats.org/drawingml/2006/main">
              <a:ext uri="{FF2B5EF4-FFF2-40B4-BE49-F238E27FC236}">
                <a16:creationId xmlns:a16="http://schemas.microsoft.com/office/drawing/2014/main" id="{3206310D-A11C-4D42-9D9B-D7699AB7542A}"/>
              </a:ext>
            </a:extLst>
          </p:cNvPr>
          <p:cNvSpPr>
            <a:spLocks xmlns:a="http://schemas.openxmlformats.org/drawingml/2006/main" noGrp="1"/>
          </p:cNvSpPr>
          <p:nvPr/>
        </p:nvSpPr>
        <p:spPr>
          <a:xfrm xmlns:a="http://schemas.openxmlformats.org/drawingml/2006/main">
            <a:off x="658368" y="5687568"/>
            <a:ext cx="5212080" cy="530352"/>
          </a:xfrm>
          <a:prstGeom xmlns:a="http://schemas.openxmlformats.org/drawingml/2006/main" prst="roundRect">
            <a:avLst>
              <a:gd name="adj" fmla="val 27586"/>
            </a:avLst>
          </a:prstGeom>
          <a:solidFill xmlns:a="http://schemas.openxmlformats.org/drawingml/2006/main">
            <a:srgbClr val="0A2630">
              <a:alpha val="92000"/>
            </a:srgbClr>
          </a:solidFill>
          <a:ln xmlns:a="http://schemas.openxmlformats.org/drawingml/2006/main" w="12700">
            <a:solidFill>
              <a:srgbClr val="3CA4A0"/>
            </a:solidFill>
            <a:prstDash val="solid"/>
          </a:ln>
        </p:spPr>
      </p:sp>
      <p:sp>
        <p:nvSpPr>
          <p:cNvPr id="11" name="Text 8">
            <a:extLst xmlns:a="http://schemas.openxmlformats.org/drawingml/2006/main">
              <a:ext uri="{FF2B5EF4-FFF2-40B4-BE49-F238E27FC236}">
                <a16:creationId xmlns:a16="http://schemas.microsoft.com/office/drawing/2014/main" id="{92C14968-82F4-42D6-A2A8-236BF6924D4E}"/>
              </a:ext>
            </a:extLst>
          </p:cNvPr>
          <p:cNvSpPr>
            <a:spLocks xmlns:a="http://schemas.openxmlformats.org/drawingml/2006/main" noGrp="1"/>
          </p:cNvSpPr>
          <p:nvPr/>
        </p:nvSpPr>
        <p:spPr>
          <a:xfrm xmlns:a="http://schemas.openxmlformats.org/drawingml/2006/main">
            <a:off x="822960" y="5833872"/>
            <a:ext cx="48920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b="1">
                <a:solidFill>
                  <a:srgbClr val="EFFFFC"/>
                </a:solidFill>
              </a:rPr>
              <a:t>Web GIS • K-Means++ • Haversine • Kualitas Data Spasial</a:t>
            </a:r>
            <a:endParaRPr sz="1050"/>
          </a:p>
        </p:txBody>
      </p:sp>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0215628dce064080"/>
          <a:stretch xmlns:a="http://schemas.openxmlformats.org/drawingml/2006/main">
            <a:fillRect l="0" t="0" r="0" b="0"/>
          </a:stretch>
        </p:blipFill>
        <p:spPr>
          <a:xfrm xmlns:a="http://schemas.openxmlformats.org/drawingml/2006/main">
            <a:off x="9985248" y="438912"/>
            <a:ext cx="1325880" cy="1325880"/>
          </a:xfrm>
          <a:prstGeom xmlns:a="http://schemas.openxmlformats.org/drawingml/2006/main" prst="rect">
            <a:avLst/>
          </a:prstGeom>
        </p:spPr>
      </p:pic>
    </p:spTree>
    <p:extLst>
      <p:ext uri="{BB962C8B-B14F-4D97-AF65-F5344CB8AC3E}">
        <p14:creationId xmlns:p14="http://schemas.microsoft.com/office/powerpoint/2010/main" val="176113504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18EA41-A62B-4353-911B-A64707C7A20A}"/>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Latar Belakang Mitra: YBLI</a:t>
            </a:r>
            <a:endParaRPr sz="3000"/>
          </a:p>
        </p:txBody>
      </p:sp>
      <p:sp>
        <p:nvSpPr>
          <p:cNvPr id="3" name="Text 1">
            <a:extLst xmlns:a="http://schemas.openxmlformats.org/drawingml/2006/main">
              <a:ext uri="{FF2B5EF4-FFF2-40B4-BE49-F238E27FC236}">
                <a16:creationId xmlns:a16="http://schemas.microsoft.com/office/drawing/2014/main" id="{33453F91-8883-4923-9E9C-9E6489477E92}"/>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Yayasan Bina Lentera Insan sebagai mitra penelitian</a:t>
            </a:r>
            <a:endParaRPr sz="1300"/>
          </a:p>
        </p:txBody>
      </p:sp>
      <p:sp>
        <p:nvSpPr>
          <p:cNvPr id="4" name="Shape 2">
            <a:extLst xmlns:a="http://schemas.openxmlformats.org/drawingml/2006/main">
              <a:ext uri="{FF2B5EF4-FFF2-40B4-BE49-F238E27FC236}">
                <a16:creationId xmlns:a16="http://schemas.microsoft.com/office/drawing/2014/main" id="{A0641708-7CB7-4386-9F8C-88FB37FDE331}"/>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8CA97959-0931-4E1F-8665-8674A1B31301}"/>
              </a:ext>
            </a:extLst>
          </p:cNvPr>
          <p:cNvSpPr>
            <a:spLocks xmlns:a="http://schemas.openxmlformats.org/drawingml/2006/main" noGrp="1"/>
          </p:cNvSpPr>
          <p:nvPr/>
        </p:nvSpPr>
        <p:spPr>
          <a:xfrm xmlns:a="http://schemas.openxmlformats.org/drawingml/2006/main">
            <a:off x="713232" y="1417320"/>
            <a:ext cx="2834640" cy="4434840"/>
          </a:xfrm>
          <a:prstGeom xmlns:a="http://schemas.openxmlformats.org/drawingml/2006/main" prst="roundRect">
            <a:avLst>
              <a:gd name="adj" fmla="val 5161"/>
            </a:avLst>
          </a:prstGeom>
          <a:solidFill xmlns:a="http://schemas.openxmlformats.org/drawingml/2006/main">
            <a:srgbClr val="0B2F3A"/>
          </a:solidFill>
          <a:ln xmlns:a="http://schemas.openxmlformats.org/drawingml/2006/main" w="12700">
            <a:solidFill>
              <a:srgbClr val="0B2F3A"/>
            </a:solidFill>
            <a:prstDash val="solid"/>
          </a:ln>
        </p:spPr>
      </p:sp>
      <p:sp>
        <p:nvSpPr>
          <p:cNvPr id="6" name="Text 4">
            <a:extLst xmlns:a="http://schemas.openxmlformats.org/drawingml/2006/main">
              <a:ext uri="{FF2B5EF4-FFF2-40B4-BE49-F238E27FC236}">
                <a16:creationId xmlns:a16="http://schemas.microsoft.com/office/drawing/2014/main" id="{C3A7A31B-0554-454C-932C-E9CBA89CE7A2}"/>
              </a:ext>
            </a:extLst>
          </p:cNvPr>
          <p:cNvSpPr>
            <a:spLocks xmlns:a="http://schemas.openxmlformats.org/drawingml/2006/main" noGrp="1"/>
          </p:cNvSpPr>
          <p:nvPr/>
        </p:nvSpPr>
        <p:spPr>
          <a:xfrm xmlns:a="http://schemas.openxmlformats.org/drawingml/2006/main">
            <a:off x="978408" y="1828800"/>
            <a:ext cx="230428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F2C94C"/>
                </a:solidFill>
                <a:latin typeface="Aptos Display"/>
                <a:ea typeface="Aptos Display"/>
                <a:cs typeface="Aptos Display"/>
              </a:rPr>
              <a:t>YBLI</a:t>
            </a:r>
            <a:endParaRPr sz="4000"/>
          </a:p>
        </p:txBody>
      </p:sp>
      <p:sp>
        <p:nvSpPr>
          <p:cNvPr id="7" name="Text 5">
            <a:extLst xmlns:a="http://schemas.openxmlformats.org/drawingml/2006/main">
              <a:ext uri="{FF2B5EF4-FFF2-40B4-BE49-F238E27FC236}">
                <a16:creationId xmlns:a16="http://schemas.microsoft.com/office/drawing/2014/main" id="{1A102D5B-6E5D-49B9-9115-6481B2E3B328}"/>
              </a:ext>
            </a:extLst>
          </p:cNvPr>
          <p:cNvSpPr>
            <a:spLocks xmlns:a="http://schemas.openxmlformats.org/drawingml/2006/main" noGrp="1"/>
          </p:cNvSpPr>
          <p:nvPr/>
        </p:nvSpPr>
        <p:spPr>
          <a:xfrm xmlns:a="http://schemas.openxmlformats.org/drawingml/2006/main">
            <a:off x="932688" y="2670048"/>
            <a:ext cx="239572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rPr>
              <a:t>Jadilah lentera</a:t>
            </a:r>
            <a:endParaRPr sz="1700"/>
          </a:p>
          <a:p xmlns:a="http://schemas.openxmlformats.org/drawingml/2006/main">
            <a:pPr marL="0" indent="0" algn="ctr">
              <a:buNone/>
            </a:pPr>
            <a:r>
              <a:rPr sz="1700" b="1">
                <a:solidFill>
                  <a:srgbClr val="FFFFFF"/>
                </a:solidFill>
              </a:rPr>
              <a:t>yang menerangi</a:t>
            </a:r>
            <a:endParaRPr sz="1700"/>
          </a:p>
        </p:txBody>
      </p:sp>
      <p:sp>
        <p:nvSpPr>
          <p:cNvPr id="8" name="Shape 6">
            <a:extLst xmlns:a="http://schemas.openxmlformats.org/drawingml/2006/main">
              <a:ext uri="{FF2B5EF4-FFF2-40B4-BE49-F238E27FC236}">
                <a16:creationId xmlns:a16="http://schemas.microsoft.com/office/drawing/2014/main" id="{870D670D-F491-4AA1-BF82-78A5BC56DD3E}"/>
              </a:ext>
            </a:extLst>
          </p:cNvPr>
          <p:cNvSpPr>
            <a:spLocks xmlns:a="http://schemas.openxmlformats.org/drawingml/2006/main" noGrp="1"/>
          </p:cNvSpPr>
          <p:nvPr/>
        </p:nvSpPr>
        <p:spPr>
          <a:xfrm xmlns:a="http://schemas.openxmlformats.org/drawingml/2006/main">
            <a:off x="1078992" y="3429000"/>
            <a:ext cx="2011680" cy="0"/>
          </a:xfrm>
          <a:prstGeom xmlns:a="http://schemas.openxmlformats.org/drawingml/2006/main" prst="line">
            <a:avLst/>
          </a:prstGeom>
          <a:noFill xmlns:a="http://schemas.openxmlformats.org/drawingml/2006/main"/>
          <a:ln xmlns:a="http://schemas.openxmlformats.org/drawingml/2006/main" w="25400">
            <a:solidFill>
              <a:srgbClr val="F2C94C"/>
            </a:solidFill>
            <a:prstDash val="solid"/>
          </a:ln>
        </p:spPr>
      </p:sp>
      <p:sp>
        <p:nvSpPr>
          <p:cNvPr id="9" name="Text 7">
            <a:extLst xmlns:a="http://schemas.openxmlformats.org/drawingml/2006/main">
              <a:ext uri="{FF2B5EF4-FFF2-40B4-BE49-F238E27FC236}">
                <a16:creationId xmlns:a16="http://schemas.microsoft.com/office/drawing/2014/main" id="{83896847-6595-4AF4-8BD1-16264663FD0C}"/>
              </a:ext>
            </a:extLst>
          </p:cNvPr>
          <p:cNvSpPr>
            <a:spLocks xmlns:a="http://schemas.openxmlformats.org/drawingml/2006/main" noGrp="1"/>
          </p:cNvSpPr>
          <p:nvPr/>
        </p:nvSpPr>
        <p:spPr>
          <a:xfrm xmlns:a="http://schemas.openxmlformats.org/drawingml/2006/main">
            <a:off x="987552" y="3721608"/>
            <a:ext cx="23317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DDF4EA"/>
                </a:solidFill>
              </a:rPr>
              <a:t>Mitra penelitian yang berfokus pada penguatan kapasitas masyarakat.</a:t>
            </a:r>
            <a:endParaRPr sz="1260"/>
          </a:p>
        </p:txBody>
      </p:sp>
      <p:sp>
        <p:nvSpPr>
          <p:cNvPr id="10" name="Text 8">
            <a:extLst xmlns:a="http://schemas.openxmlformats.org/drawingml/2006/main">
              <a:ext uri="{FF2B5EF4-FFF2-40B4-BE49-F238E27FC236}">
                <a16:creationId xmlns:a16="http://schemas.microsoft.com/office/drawing/2014/main" id="{26869E3B-2638-4F1C-9685-E01461E2A7B4}"/>
              </a:ext>
            </a:extLst>
          </p:cNvPr>
          <p:cNvSpPr>
            <a:spLocks xmlns:a="http://schemas.openxmlformats.org/drawingml/2006/main" noGrp="1"/>
          </p:cNvSpPr>
          <p:nvPr/>
        </p:nvSpPr>
        <p:spPr>
          <a:xfrm xmlns:a="http://schemas.openxmlformats.org/drawingml/2006/main">
            <a:off x="960120" y="5065776"/>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60">
                <a:solidFill>
                  <a:srgbClr val="BFE8E4"/>
                </a:solidFill>
              </a:rPr>
              <a:t>Manado, Sulawesi Utara</a:t>
            </a:r>
            <a:endParaRPr sz="1060"/>
          </a:p>
        </p:txBody>
      </p:sp>
      <p:sp>
        <p:nvSpPr>
          <p:cNvPr id="11" name="Shape 9">
            <a:extLst xmlns:a="http://schemas.openxmlformats.org/drawingml/2006/main">
              <a:ext uri="{FF2B5EF4-FFF2-40B4-BE49-F238E27FC236}">
                <a16:creationId xmlns:a16="http://schemas.microsoft.com/office/drawing/2014/main" id="{5E49C179-64E2-4F1E-94FA-196E3080E7E8}"/>
              </a:ext>
            </a:extLst>
          </p:cNvPr>
          <p:cNvSpPr>
            <a:spLocks xmlns:a="http://schemas.openxmlformats.org/drawingml/2006/main" noGrp="1"/>
          </p:cNvSpPr>
          <p:nvPr/>
        </p:nvSpPr>
        <p:spPr>
          <a:xfrm xmlns:a="http://schemas.openxmlformats.org/drawingml/2006/main">
            <a:off x="3913632" y="1481328"/>
            <a:ext cx="205740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700">
            <a:solidFill>
              <a:srgbClr val="D6E3DF"/>
            </a:solidFill>
            <a:prstDash val="solid"/>
          </a:ln>
        </p:spPr>
      </p:sp>
      <p:sp>
        <p:nvSpPr>
          <p:cNvPr id="12" name="Text 10">
            <a:extLst xmlns:a="http://schemas.openxmlformats.org/drawingml/2006/main">
              <a:ext uri="{FF2B5EF4-FFF2-40B4-BE49-F238E27FC236}">
                <a16:creationId xmlns:a16="http://schemas.microsoft.com/office/drawing/2014/main" id="{35622840-DAFA-4C32-9E40-EF52E6839240}"/>
              </a:ext>
            </a:extLst>
          </p:cNvPr>
          <p:cNvSpPr>
            <a:spLocks xmlns:a="http://schemas.openxmlformats.org/drawingml/2006/main" noGrp="1"/>
          </p:cNvSpPr>
          <p:nvPr/>
        </p:nvSpPr>
        <p:spPr>
          <a:xfrm xmlns:a="http://schemas.openxmlformats.org/drawingml/2006/main">
            <a:off x="4078224" y="1618488"/>
            <a:ext cx="172821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0F6B72"/>
                </a:solidFill>
              </a:rPr>
              <a:t>2013</a:t>
            </a:r>
            <a:endParaRPr sz="2400"/>
          </a:p>
        </p:txBody>
      </p:sp>
      <p:sp>
        <p:nvSpPr>
          <p:cNvPr id="13" name="Text 11">
            <a:extLst xmlns:a="http://schemas.openxmlformats.org/drawingml/2006/main">
              <a:ext uri="{FF2B5EF4-FFF2-40B4-BE49-F238E27FC236}">
                <a16:creationId xmlns:a16="http://schemas.microsoft.com/office/drawing/2014/main" id="{FDE6D8F1-7270-408F-9CE1-E67D357DF8EA}"/>
              </a:ext>
            </a:extLst>
          </p:cNvPr>
          <p:cNvSpPr>
            <a:spLocks xmlns:a="http://schemas.openxmlformats.org/drawingml/2006/main" noGrp="1"/>
          </p:cNvSpPr>
          <p:nvPr/>
        </p:nvSpPr>
        <p:spPr>
          <a:xfrm xmlns:a="http://schemas.openxmlformats.org/drawingml/2006/main">
            <a:off x="4050792" y="2066544"/>
            <a:ext cx="1783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5E7178"/>
                </a:solidFill>
              </a:rPr>
              <a:t>Berdiri sejak</a:t>
            </a:r>
            <a:endParaRPr sz="1050"/>
          </a:p>
        </p:txBody>
      </p:sp>
      <p:sp>
        <p:nvSpPr>
          <p:cNvPr id="14" name="Shape 12">
            <a:extLst xmlns:a="http://schemas.openxmlformats.org/drawingml/2006/main">
              <a:ext uri="{FF2B5EF4-FFF2-40B4-BE49-F238E27FC236}">
                <a16:creationId xmlns:a16="http://schemas.microsoft.com/office/drawing/2014/main" id="{5DB25936-AFC3-4E1F-ADB7-17D3F0E7A4F2}"/>
              </a:ext>
            </a:extLst>
          </p:cNvPr>
          <p:cNvSpPr>
            <a:spLocks xmlns:a="http://schemas.openxmlformats.org/drawingml/2006/main" noGrp="1"/>
          </p:cNvSpPr>
          <p:nvPr/>
        </p:nvSpPr>
        <p:spPr>
          <a:xfrm xmlns:a="http://schemas.openxmlformats.org/drawingml/2006/main">
            <a:off x="6181344" y="1481328"/>
            <a:ext cx="205740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700">
            <a:solidFill>
              <a:srgbClr val="D6E3DF"/>
            </a:solidFill>
            <a:prstDash val="solid"/>
          </a:ln>
        </p:spPr>
      </p:sp>
      <p:sp>
        <p:nvSpPr>
          <p:cNvPr id="15" name="Text 13">
            <a:extLst xmlns:a="http://schemas.openxmlformats.org/drawingml/2006/main">
              <a:ext uri="{FF2B5EF4-FFF2-40B4-BE49-F238E27FC236}">
                <a16:creationId xmlns:a16="http://schemas.microsoft.com/office/drawing/2014/main" id="{C4503689-0FE6-4BD5-B20A-9A092A6AAD03}"/>
              </a:ext>
            </a:extLst>
          </p:cNvPr>
          <p:cNvSpPr>
            <a:spLocks xmlns:a="http://schemas.openxmlformats.org/drawingml/2006/main" noGrp="1"/>
          </p:cNvSpPr>
          <p:nvPr/>
        </p:nvSpPr>
        <p:spPr>
          <a:xfrm xmlns:a="http://schemas.openxmlformats.org/drawingml/2006/main">
            <a:off x="6345936" y="1618488"/>
            <a:ext cx="172821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2E7D57"/>
                </a:solidFill>
              </a:rPr>
              <a:t>3</a:t>
            </a:r>
            <a:endParaRPr sz="2400"/>
          </a:p>
        </p:txBody>
      </p:sp>
      <p:sp>
        <p:nvSpPr>
          <p:cNvPr id="16" name="Text 14">
            <a:extLst xmlns:a="http://schemas.openxmlformats.org/drawingml/2006/main">
              <a:ext uri="{FF2B5EF4-FFF2-40B4-BE49-F238E27FC236}">
                <a16:creationId xmlns:a16="http://schemas.microsoft.com/office/drawing/2014/main" id="{F5A12559-3055-4609-A86F-13B54E6A08BC}"/>
              </a:ext>
            </a:extLst>
          </p:cNvPr>
          <p:cNvSpPr>
            <a:spLocks xmlns:a="http://schemas.openxmlformats.org/drawingml/2006/main" noGrp="1"/>
          </p:cNvSpPr>
          <p:nvPr/>
        </p:nvSpPr>
        <p:spPr>
          <a:xfrm xmlns:a="http://schemas.openxmlformats.org/drawingml/2006/main">
            <a:off x="6318504" y="2066544"/>
            <a:ext cx="1783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5E7178"/>
                </a:solidFill>
              </a:rPr>
              <a:t>Bidang utama</a:t>
            </a:r>
            <a:endParaRPr sz="1050"/>
          </a:p>
        </p:txBody>
      </p:sp>
      <p:sp>
        <p:nvSpPr>
          <p:cNvPr id="17" name="Shape 15">
            <a:extLst xmlns:a="http://schemas.openxmlformats.org/drawingml/2006/main">
              <a:ext uri="{FF2B5EF4-FFF2-40B4-BE49-F238E27FC236}">
                <a16:creationId xmlns:a16="http://schemas.microsoft.com/office/drawing/2014/main" id="{C52110DB-0111-4BA1-9291-0AE3B70F1037}"/>
              </a:ext>
            </a:extLst>
          </p:cNvPr>
          <p:cNvSpPr>
            <a:spLocks xmlns:a="http://schemas.openxmlformats.org/drawingml/2006/main" noGrp="1"/>
          </p:cNvSpPr>
          <p:nvPr/>
        </p:nvSpPr>
        <p:spPr>
          <a:xfrm xmlns:a="http://schemas.openxmlformats.org/drawingml/2006/main">
            <a:off x="8449056" y="1481328"/>
            <a:ext cx="205740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700">
            <a:solidFill>
              <a:srgbClr val="D6E3DF"/>
            </a:solidFill>
            <a:prstDash val="solid"/>
          </a:ln>
        </p:spPr>
      </p:sp>
      <p:sp>
        <p:nvSpPr>
          <p:cNvPr id="18" name="Text 16">
            <a:extLst xmlns:a="http://schemas.openxmlformats.org/drawingml/2006/main">
              <a:ext uri="{FF2B5EF4-FFF2-40B4-BE49-F238E27FC236}">
                <a16:creationId xmlns:a16="http://schemas.microsoft.com/office/drawing/2014/main" id="{7ABDC950-2D85-4058-A8C1-E93C6847977F}"/>
              </a:ext>
            </a:extLst>
          </p:cNvPr>
          <p:cNvSpPr>
            <a:spLocks xmlns:a="http://schemas.openxmlformats.org/drawingml/2006/main" noGrp="1"/>
          </p:cNvSpPr>
          <p:nvPr/>
        </p:nvSpPr>
        <p:spPr>
          <a:xfrm xmlns:a="http://schemas.openxmlformats.org/drawingml/2006/main">
            <a:off x="8613648" y="1618488"/>
            <a:ext cx="172821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F2994A"/>
                </a:solidFill>
              </a:rPr>
              <a:t>5</a:t>
            </a:r>
            <a:endParaRPr sz="2400"/>
          </a:p>
        </p:txBody>
      </p:sp>
      <p:sp>
        <p:nvSpPr>
          <p:cNvPr id="19" name="Text 17">
            <a:extLst xmlns:a="http://schemas.openxmlformats.org/drawingml/2006/main">
              <a:ext uri="{FF2B5EF4-FFF2-40B4-BE49-F238E27FC236}">
                <a16:creationId xmlns:a16="http://schemas.microsoft.com/office/drawing/2014/main" id="{8DAEB646-AA09-4513-BFD8-36EC395C13C5}"/>
              </a:ext>
            </a:extLst>
          </p:cNvPr>
          <p:cNvSpPr>
            <a:spLocks xmlns:a="http://schemas.openxmlformats.org/drawingml/2006/main" noGrp="1"/>
          </p:cNvSpPr>
          <p:nvPr/>
        </p:nvSpPr>
        <p:spPr>
          <a:xfrm xmlns:a="http://schemas.openxmlformats.org/drawingml/2006/main">
            <a:off x="8586216" y="2066544"/>
            <a:ext cx="1783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5E7178"/>
                </a:solidFill>
              </a:rPr>
              <a:t>Unit kegiatan</a:t>
            </a:r>
            <a:endParaRPr sz="1050"/>
          </a:p>
        </p:txBody>
      </p:sp>
      <p:sp>
        <p:nvSpPr>
          <p:cNvPr id="20" name="Shape 18">
            <a:extLst xmlns:a="http://schemas.openxmlformats.org/drawingml/2006/main">
              <a:ext uri="{FF2B5EF4-FFF2-40B4-BE49-F238E27FC236}">
                <a16:creationId xmlns:a16="http://schemas.microsoft.com/office/drawing/2014/main" id="{A8C55A2B-39F3-4B01-AABC-04BEEDEE69D8}"/>
              </a:ext>
            </a:extLst>
          </p:cNvPr>
          <p:cNvSpPr>
            <a:spLocks xmlns:a="http://schemas.openxmlformats.org/drawingml/2006/main" noGrp="1"/>
          </p:cNvSpPr>
          <p:nvPr/>
        </p:nvSpPr>
        <p:spPr>
          <a:xfrm xmlns:a="http://schemas.openxmlformats.org/drawingml/2006/main">
            <a:off x="3913632" y="2743200"/>
            <a:ext cx="3063240" cy="25146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2700">
            <a:solidFill>
              <a:srgbClr val="D6E3DF"/>
            </a:solidFill>
            <a:prstDash val="solid"/>
          </a:ln>
        </p:spPr>
      </p:sp>
      <p:sp>
        <p:nvSpPr>
          <p:cNvPr id="21" name="Shape 19">
            <a:extLst xmlns:a="http://schemas.openxmlformats.org/drawingml/2006/main">
              <a:ext uri="{FF2B5EF4-FFF2-40B4-BE49-F238E27FC236}">
                <a16:creationId xmlns:a16="http://schemas.microsoft.com/office/drawing/2014/main" id="{CF7E0FD9-0E34-4F36-9C0F-3747EF873936}"/>
              </a:ext>
            </a:extLst>
          </p:cNvPr>
          <p:cNvSpPr>
            <a:spLocks xmlns:a="http://schemas.openxmlformats.org/drawingml/2006/main" noGrp="1"/>
          </p:cNvSpPr>
          <p:nvPr/>
        </p:nvSpPr>
        <p:spPr>
          <a:xfrm xmlns:a="http://schemas.openxmlformats.org/drawingml/2006/main">
            <a:off x="3913632" y="2743200"/>
            <a:ext cx="73152" cy="2514600"/>
          </a:xfrm>
          <a:prstGeom xmlns:a="http://schemas.openxmlformats.org/drawingml/2006/main" prst="rect">
            <a:avLst/>
          </a:prstGeom>
          <a:solidFill xmlns:a="http://schemas.openxmlformats.org/drawingml/2006/main">
            <a:srgbClr val="0F6B72"/>
          </a:solidFill>
          <a:ln xmlns:a="http://schemas.openxmlformats.org/drawingml/2006/main" w="12700">
            <a:solidFill>
              <a:srgbClr val="0F6B72"/>
            </a:solidFill>
            <a:prstDash val="solid"/>
          </a:ln>
        </p:spPr>
      </p:sp>
      <p:sp>
        <p:nvSpPr>
          <p:cNvPr id="22" name="Text 20">
            <a:extLst xmlns:a="http://schemas.openxmlformats.org/drawingml/2006/main">
              <a:ext uri="{FF2B5EF4-FFF2-40B4-BE49-F238E27FC236}">
                <a16:creationId xmlns:a16="http://schemas.microsoft.com/office/drawing/2014/main" id="{CEB4D940-BE3E-40AE-AC89-DD6EB2E2B223}"/>
              </a:ext>
            </a:extLst>
          </p:cNvPr>
          <p:cNvSpPr>
            <a:spLocks xmlns:a="http://schemas.openxmlformats.org/drawingml/2006/main" noGrp="1"/>
          </p:cNvSpPr>
          <p:nvPr/>
        </p:nvSpPr>
        <p:spPr>
          <a:xfrm xmlns:a="http://schemas.openxmlformats.org/drawingml/2006/main">
            <a:off x="4169664" y="2944368"/>
            <a:ext cx="2560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Profil singkat</a:t>
            </a:r>
            <a:endParaRPr sz="1650"/>
          </a:p>
        </p:txBody>
      </p:sp>
      <p:sp>
        <p:nvSpPr>
          <p:cNvPr id="23" name="Text 21">
            <a:extLst xmlns:a="http://schemas.openxmlformats.org/drawingml/2006/main">
              <a:ext uri="{FF2B5EF4-FFF2-40B4-BE49-F238E27FC236}">
                <a16:creationId xmlns:a16="http://schemas.microsoft.com/office/drawing/2014/main" id="{0C1B8474-DBDD-483A-BE93-850046CC76ED}"/>
              </a:ext>
            </a:extLst>
          </p:cNvPr>
          <p:cNvSpPr>
            <a:spLocks xmlns:a="http://schemas.openxmlformats.org/drawingml/2006/main" noGrp="1"/>
          </p:cNvSpPr>
          <p:nvPr/>
        </p:nvSpPr>
        <p:spPr>
          <a:xfrm xmlns:a="http://schemas.openxmlformats.org/drawingml/2006/main">
            <a:off x="4169664" y="3364992"/>
            <a:ext cx="256032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YBLI adalah LSM yang bergerak dalam penguatan kapasitas masyarakat melalui pendidikan, kesehatan, ekonomi, dan sosial keagamaan. Berdiri pada 21 Januari 2013 di Kota Manado.</a:t>
            </a:r>
            <a:endParaRPr sz="1380"/>
          </a:p>
        </p:txBody>
      </p:sp>
      <p:sp>
        <p:nvSpPr>
          <p:cNvPr id="24" name="Shape 22">
            <a:extLst xmlns:a="http://schemas.openxmlformats.org/drawingml/2006/main">
              <a:ext uri="{FF2B5EF4-FFF2-40B4-BE49-F238E27FC236}">
                <a16:creationId xmlns:a16="http://schemas.microsoft.com/office/drawing/2014/main" id="{03B62353-6D3E-42B3-9136-66AC5CA252F3}"/>
              </a:ext>
            </a:extLst>
          </p:cNvPr>
          <p:cNvSpPr>
            <a:spLocks xmlns:a="http://schemas.openxmlformats.org/drawingml/2006/main" noGrp="1"/>
          </p:cNvSpPr>
          <p:nvPr/>
        </p:nvSpPr>
        <p:spPr>
          <a:xfrm xmlns:a="http://schemas.openxmlformats.org/drawingml/2006/main">
            <a:off x="7269480" y="2743200"/>
            <a:ext cx="3246120" cy="25146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2700">
            <a:solidFill>
              <a:srgbClr val="D6E3DF"/>
            </a:solidFill>
            <a:prstDash val="solid"/>
          </a:ln>
        </p:spPr>
      </p:sp>
      <p:sp>
        <p:nvSpPr>
          <p:cNvPr id="25" name="Shape 23">
            <a:extLst xmlns:a="http://schemas.openxmlformats.org/drawingml/2006/main">
              <a:ext uri="{FF2B5EF4-FFF2-40B4-BE49-F238E27FC236}">
                <a16:creationId xmlns:a16="http://schemas.microsoft.com/office/drawing/2014/main" id="{F928E900-0257-439A-A9AE-386A7106ECEE}"/>
              </a:ext>
            </a:extLst>
          </p:cNvPr>
          <p:cNvSpPr>
            <a:spLocks xmlns:a="http://schemas.openxmlformats.org/drawingml/2006/main" noGrp="1"/>
          </p:cNvSpPr>
          <p:nvPr/>
        </p:nvSpPr>
        <p:spPr>
          <a:xfrm xmlns:a="http://schemas.openxmlformats.org/drawingml/2006/main">
            <a:off x="7269480" y="2743200"/>
            <a:ext cx="73152" cy="2514600"/>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26" name="Text 24">
            <a:extLst xmlns:a="http://schemas.openxmlformats.org/drawingml/2006/main">
              <a:ext uri="{FF2B5EF4-FFF2-40B4-BE49-F238E27FC236}">
                <a16:creationId xmlns:a16="http://schemas.microsoft.com/office/drawing/2014/main" id="{6695071B-A279-4624-951B-9EB35EA346C5}"/>
              </a:ext>
            </a:extLst>
          </p:cNvPr>
          <p:cNvSpPr>
            <a:spLocks xmlns:a="http://schemas.openxmlformats.org/drawingml/2006/main" noGrp="1"/>
          </p:cNvSpPr>
          <p:nvPr/>
        </p:nvSpPr>
        <p:spPr>
          <a:xfrm xmlns:a="http://schemas.openxmlformats.org/drawingml/2006/main">
            <a:off x="7525512" y="2944368"/>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Kaitan dengan penelitian</a:t>
            </a:r>
            <a:endParaRPr sz="1650"/>
          </a:p>
        </p:txBody>
      </p:sp>
      <p:sp>
        <p:nvSpPr>
          <p:cNvPr id="27" name="Text 25">
            <a:extLst xmlns:a="http://schemas.openxmlformats.org/drawingml/2006/main">
              <a:ext uri="{FF2B5EF4-FFF2-40B4-BE49-F238E27FC236}">
                <a16:creationId xmlns:a16="http://schemas.microsoft.com/office/drawing/2014/main" id="{118F1959-926E-4C78-A7B6-32BAEFCC498F}"/>
              </a:ext>
            </a:extLst>
          </p:cNvPr>
          <p:cNvSpPr>
            <a:spLocks xmlns:a="http://schemas.openxmlformats.org/drawingml/2006/main" noGrp="1"/>
          </p:cNvSpPr>
          <p:nvPr/>
        </p:nvSpPr>
        <p:spPr>
          <a:xfrm xmlns:a="http://schemas.openxmlformats.org/drawingml/2006/main">
            <a:off x="7525512" y="3364992"/>
            <a:ext cx="274320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Mitra ini relevan karena penelitian membantu pengelolaan dan pemetaan data UMKM, termasuk penemuan lokasi, kualitas data, pengajuan publik, serta analisis zonasi.</a:t>
            </a:r>
            <a:endParaRPr sz="1380"/>
          </a:p>
        </p:txBody>
      </p:sp>
      <p:sp>
        <p:nvSpPr>
          <p:cNvPr id="28" name="Text 26">
            <a:extLst xmlns:a="http://schemas.openxmlformats.org/drawingml/2006/main">
              <a:ext uri="{FF2B5EF4-FFF2-40B4-BE49-F238E27FC236}">
                <a16:creationId xmlns:a16="http://schemas.microsoft.com/office/drawing/2014/main" id="{CE4A4684-4EFB-4B08-935C-328934400E17}"/>
              </a:ext>
            </a:extLst>
          </p:cNvPr>
          <p:cNvSpPr>
            <a:spLocks xmlns:a="http://schemas.openxmlformats.org/drawingml/2006/main" noGrp="1"/>
          </p:cNvSpPr>
          <p:nvPr/>
        </p:nvSpPr>
        <p:spPr>
          <a:xfrm xmlns:a="http://schemas.openxmlformats.org/drawingml/2006/main">
            <a:off x="8458200" y="6528816"/>
            <a:ext cx="2788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750">
                <a:solidFill>
                  <a:srgbClr val="7A8D93"/>
                </a:solidFill>
              </a:rPr>
              <a:t>Sumber: ybli.or.id/tentang-kami</a:t>
            </a:r>
            <a:endParaRPr sz="750"/>
          </a:p>
        </p:txBody>
      </p:sp>
      <p:sp>
        <p:nvSpPr>
          <p:cNvPr id="29" name="Slide Number Placeholder 0">
            <a:extLst xmlns:a="http://schemas.openxmlformats.org/drawingml/2006/main">
              <a:ext uri="{FF2B5EF4-FFF2-40B4-BE49-F238E27FC236}">
                <a16:creationId xmlns:a16="http://schemas.microsoft.com/office/drawing/2014/main" id="{C08FEF16-38BC-4747-A5B4-7B98D8374FD2}"/>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832520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20C9347-1E45-4A7B-A422-E4D4A1EBAA37}"/>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Latar Belakang Masalah</a:t>
            </a:r>
            <a:endParaRPr sz="3000"/>
          </a:p>
        </p:txBody>
      </p:sp>
      <p:sp>
        <p:nvSpPr>
          <p:cNvPr id="3" name="Text 1">
            <a:extLst xmlns:a="http://schemas.openxmlformats.org/drawingml/2006/main">
              <a:ext uri="{FF2B5EF4-FFF2-40B4-BE49-F238E27FC236}">
                <a16:creationId xmlns:a16="http://schemas.microsoft.com/office/drawing/2014/main" id="{639EAC80-A738-474A-8F3C-7745F7735D98}"/>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Dari data tabel menjadi informasi wilayah</a:t>
            </a:r>
            <a:endParaRPr sz="1300"/>
          </a:p>
        </p:txBody>
      </p:sp>
      <p:sp>
        <p:nvSpPr>
          <p:cNvPr id="4" name="Shape 2">
            <a:extLst xmlns:a="http://schemas.openxmlformats.org/drawingml/2006/main">
              <a:ext uri="{FF2B5EF4-FFF2-40B4-BE49-F238E27FC236}">
                <a16:creationId xmlns:a16="http://schemas.microsoft.com/office/drawing/2014/main" id="{94E9F881-DD96-431B-951D-F9D09D2D9731}"/>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3A04838D-4348-4142-8CB4-2208E64894BC}"/>
              </a:ext>
            </a:extLst>
          </p:cNvPr>
          <p:cNvSpPr>
            <a:spLocks xmlns:a="http://schemas.openxmlformats.org/drawingml/2006/main" noGrp="1"/>
          </p:cNvSpPr>
          <p:nvPr/>
        </p:nvSpPr>
        <p:spPr>
          <a:xfrm xmlns:a="http://schemas.openxmlformats.org/drawingml/2006/main">
            <a:off x="7406640" y="1298448"/>
            <a:ext cx="3977640" cy="3886200"/>
          </a:xfrm>
          <a:prstGeom xmlns:a="http://schemas.openxmlformats.org/drawingml/2006/main" prst="roundRect">
            <a:avLst>
              <a:gd name="adj" fmla="val 1882"/>
            </a:avLst>
          </a:prstGeom>
          <a:solidFill xmlns:a="http://schemas.openxmlformats.org/drawingml/2006/main">
            <a:srgbClr val="FFFFFF"/>
          </a:solidFill>
          <a:ln xmlns:a="http://schemas.openxmlformats.org/drawingml/2006/main" w="12700">
            <a:solidFill>
              <a:srgbClr val="D6E3DF"/>
            </a:solidFill>
            <a:prstDash val="solid"/>
          </a:ln>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3d5058664bcf4d8a"/>
          <a:stretch xmlns:a="http://schemas.openxmlformats.org/drawingml/2006/main">
            <a:fillRect l="0" t="0" r="0" b="0"/>
          </a:stretch>
        </p:blipFill>
        <p:spPr>
          <a:xfrm xmlns:a="http://schemas.openxmlformats.org/drawingml/2006/main">
            <a:off x="7516368" y="2100671"/>
            <a:ext cx="3758184" cy="2281755"/>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5AEA6AE3-974E-4519-8E20-B3DFEB4C4B92}"/>
              </a:ext>
            </a:extLst>
          </p:cNvPr>
          <p:cNvSpPr>
            <a:spLocks xmlns:a="http://schemas.openxmlformats.org/drawingml/2006/main" noGrp="1"/>
          </p:cNvSpPr>
          <p:nvPr/>
        </p:nvSpPr>
        <p:spPr>
          <a:xfrm xmlns:a="http://schemas.openxmlformats.org/drawingml/2006/main">
            <a:off x="713232" y="1408176"/>
            <a:ext cx="6309360" cy="3950208"/>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12700">
            <a:solidFill>
              <a:srgbClr val="D6E3DF"/>
            </a:solidFill>
            <a:prstDash val="solid"/>
          </a:ln>
        </p:spPr>
      </p:sp>
      <p:sp>
        <p:nvSpPr>
          <p:cNvPr id="8" name="Text 5">
            <a:extLst xmlns:a="http://schemas.openxmlformats.org/drawingml/2006/main">
              <a:ext uri="{FF2B5EF4-FFF2-40B4-BE49-F238E27FC236}">
                <a16:creationId xmlns:a16="http://schemas.microsoft.com/office/drawing/2014/main" id="{BF237F3C-22EC-4B42-9514-A464BD5E3F6B}"/>
              </a:ext>
            </a:extLst>
          </p:cNvPr>
          <p:cNvSpPr>
            <a:spLocks xmlns:a="http://schemas.openxmlformats.org/drawingml/2006/main" noGrp="1"/>
          </p:cNvSpPr>
          <p:nvPr/>
        </p:nvSpPr>
        <p:spPr>
          <a:xfrm xmlns:a="http://schemas.openxmlformats.org/drawingml/2006/main">
            <a:off x="987552" y="1773936"/>
            <a:ext cx="5715000" cy="32918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normAutofit fontScale="100000"/>
          </a:bodyPr>
          <a:lstStyle xmlns:a="http://schemas.openxmlformats.org/drawingml/2006/main"/>
          <a:p xmlns:a="http://schemas.openxmlformats.org/drawingml/2006/main">
            <a:pPr marL="228600" indent="-114300">
              <a:spcAft>
                <a:spcPts val="400"/>
              </a:spcAft>
              <a:buChar char="•"/>
              <a:defRPr sz="1800">
                <a:solidFill>
                  <a:srgbClr val="1E2D36"/>
                </a:solidFill>
                <a:latin typeface="Aptos"/>
                <a:ea typeface="Aptos"/>
                <a:cs typeface="Aptos"/>
              </a:defRPr>
            </a:pPr>
            <a:r>
              <a:rPr sz="1800">
                <a:solidFill>
                  <a:srgbClr val="1E2D36"/>
                </a:solidFill>
                <a:latin typeface="Aptos"/>
                <a:ea typeface="Aptos"/>
                <a:cs typeface="Aptos"/>
              </a:rPr>
              <a:t>Data UMKM yang hanya berbentuk tabel sulit menunjukkan pola persebaran.</a:t>
            </a:r>
          </a:p>
          <a:p xmlns:a="http://schemas.openxmlformats.org/drawingml/2006/main">
            <a:pPr marL="228600" indent="-114300">
              <a:spcAft>
                <a:spcPts val="400"/>
              </a:spcAft>
              <a:buChar char="•"/>
              <a:defRPr sz="1800">
                <a:solidFill>
                  <a:srgbClr val="1E2D36"/>
                </a:solidFill>
                <a:latin typeface="Aptos"/>
                <a:ea typeface="Aptos"/>
                <a:cs typeface="Aptos"/>
              </a:defRPr>
            </a:pPr>
            <a:r>
              <a:rPr sz="1800">
                <a:solidFill>
                  <a:srgbClr val="1E2D36"/>
                </a:solidFill>
                <a:latin typeface="Aptos"/>
                <a:ea typeface="Aptos"/>
                <a:cs typeface="Aptos"/>
              </a:rPr>
              <a:t>Peta interaktif membantu pengguna melihat lokasi, mencari, dan memfilter UMKM.</a:t>
            </a:r>
          </a:p>
          <a:p xmlns:a="http://schemas.openxmlformats.org/drawingml/2006/main">
            <a:pPr marL="228600" indent="-114300">
              <a:spcAft>
                <a:spcPts val="400"/>
              </a:spcAft>
              <a:buChar char="•"/>
              <a:defRPr sz="1800">
                <a:solidFill>
                  <a:srgbClr val="1E2D36"/>
                </a:solidFill>
                <a:latin typeface="Aptos"/>
                <a:ea typeface="Aptos"/>
                <a:cs typeface="Aptos"/>
              </a:defRPr>
            </a:pPr>
            <a:r>
              <a:rPr sz="1800">
                <a:solidFill>
                  <a:srgbClr val="1E2D36"/>
                </a:solidFill>
                <a:latin typeface="Aptos"/>
                <a:ea typeface="Aptos"/>
                <a:cs typeface="Aptos"/>
              </a:rPr>
              <a:t>Masalah utama penelitian adalah kualitas koordinat yang belum semuanya presisi.</a:t>
            </a:r>
          </a:p>
          <a:p xmlns:a="http://schemas.openxmlformats.org/drawingml/2006/main">
            <a:pPr marL="228600" indent="-114300">
              <a:spcAft>
                <a:spcPts val="400"/>
              </a:spcAft>
              <a:buChar char="•"/>
              <a:defRPr sz="1800">
                <a:solidFill>
                  <a:srgbClr val="1E2D36"/>
                </a:solidFill>
                <a:latin typeface="Aptos"/>
                <a:ea typeface="Aptos"/>
                <a:cs typeface="Aptos"/>
              </a:defRPr>
            </a:pPr>
            <a:r>
              <a:rPr sz="1800">
                <a:solidFill>
                  <a:srgbClr val="1E2D36"/>
                </a:solidFill>
                <a:latin typeface="Aptos"/>
                <a:ea typeface="Aptos"/>
                <a:cs typeface="Aptos"/>
              </a:rPr>
              <a:t>Sistem perlu membedakan data untuk tampilan peta dan data untuk analisis.</a:t>
            </a:r>
          </a:p>
          <a:p xmlns:a="http://schemas.openxmlformats.org/drawingml/2006/main">
            <a:pPr marL="228600" indent="-114300">
              <a:spcAft>
                <a:spcPts val="400"/>
              </a:spcAft>
              <a:buChar char="•"/>
              <a:defRPr sz="1800">
                <a:solidFill>
                  <a:srgbClr val="1E2D36"/>
                </a:solidFill>
                <a:latin typeface="Aptos"/>
                <a:ea typeface="Aptos"/>
                <a:cs typeface="Aptos"/>
              </a:defRPr>
            </a:pPr>
            <a:r>
              <a:rPr sz="1800">
                <a:solidFill>
                  <a:srgbClr val="1E2D36"/>
                </a:solidFill>
                <a:latin typeface="Aptos"/>
                <a:ea typeface="Aptos"/>
                <a:cs typeface="Aptos"/>
              </a:rPr>
              <a:t>Mitra mempertimbangkan Google Maps, tetapi biaya layanan dinilai tinggi.</a:t>
            </a:r>
          </a:p>
        </p:txBody>
      </p:sp>
      <p:sp>
        <p:nvSpPr>
          <p:cNvPr id="9" name="Shape 6">
            <a:extLst xmlns:a="http://schemas.openxmlformats.org/drawingml/2006/main">
              <a:ext uri="{FF2B5EF4-FFF2-40B4-BE49-F238E27FC236}">
                <a16:creationId xmlns:a16="http://schemas.microsoft.com/office/drawing/2014/main" id="{CE0F162B-D58D-485C-9538-5A81A592F32E}"/>
              </a:ext>
            </a:extLst>
          </p:cNvPr>
          <p:cNvSpPr>
            <a:spLocks xmlns:a="http://schemas.openxmlformats.org/drawingml/2006/main" noGrp="1"/>
          </p:cNvSpPr>
          <p:nvPr/>
        </p:nvSpPr>
        <p:spPr>
          <a:xfrm xmlns:a="http://schemas.openxmlformats.org/drawingml/2006/main">
            <a:off x="713232" y="5577840"/>
            <a:ext cx="6309360" cy="411480"/>
          </a:xfrm>
          <a:prstGeom xmlns:a="http://schemas.openxmlformats.org/drawingml/2006/main" prst="roundRect">
            <a:avLst>
              <a:gd name="adj" fmla="val 26667"/>
            </a:avLst>
          </a:prstGeom>
          <a:solidFill xmlns:a="http://schemas.openxmlformats.org/drawingml/2006/main">
            <a:srgbClr val="DDF4EA"/>
          </a:solidFill>
          <a:ln xmlns:a="http://schemas.openxmlformats.org/drawingml/2006/main" w="12700">
            <a:solidFill>
              <a:srgbClr val="B8E5D7"/>
            </a:solidFill>
            <a:prstDash val="solid"/>
          </a:ln>
        </p:spPr>
      </p:sp>
      <p:sp>
        <p:nvSpPr>
          <p:cNvPr id="10" name="Text 7">
            <a:extLst xmlns:a="http://schemas.openxmlformats.org/drawingml/2006/main">
              <a:ext uri="{FF2B5EF4-FFF2-40B4-BE49-F238E27FC236}">
                <a16:creationId xmlns:a16="http://schemas.microsoft.com/office/drawing/2014/main" id="{0D3A1E82-E84F-425F-B75D-CB3372A51C96}"/>
              </a:ext>
            </a:extLst>
          </p:cNvPr>
          <p:cNvSpPr>
            <a:spLocks xmlns:a="http://schemas.openxmlformats.org/drawingml/2006/main" noGrp="1"/>
          </p:cNvSpPr>
          <p:nvPr/>
        </p:nvSpPr>
        <p:spPr>
          <a:xfrm xmlns:a="http://schemas.openxmlformats.org/drawingml/2006/main">
            <a:off x="960120" y="5705856"/>
            <a:ext cx="580644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62609"/>
          </a:bodyPr>
          <a:lstStyle xmlns:a="http://schemas.openxmlformats.org/drawingml/2006/main"/>
          <a:p xmlns:a="http://schemas.openxmlformats.org/drawingml/2006/main">
            <a:pPr marL="0" indent="0" algn="ctr">
              <a:buNone/>
            </a:pPr>
            <a:r>
              <a:rPr sz="1150" b="1">
                <a:solidFill>
                  <a:srgbClr val="0F6B72"/>
                </a:solidFill>
              </a:rPr>
              <a:t>Inti masalah: YBLI membutuhkan peta dan rute yang informatif serta terjangkau.</a:t>
            </a:r>
            <a:endParaRPr sz="1150"/>
          </a:p>
        </p:txBody>
      </p:sp>
      <p:sp>
        <p:nvSpPr>
          <p:cNvPr id="25" name="Slide Number Placeholder 0">
            <a:extLst xmlns:a="http://schemas.openxmlformats.org/drawingml/2006/main">
              <a:ext uri="{FF2B5EF4-FFF2-40B4-BE49-F238E27FC236}">
                <a16:creationId xmlns:a16="http://schemas.microsoft.com/office/drawing/2014/main" id="{92ACA03D-4CED-4E36-8E37-5CB006D686F0}"/>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18175746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74E5E9-EA18-440F-B5F3-FCFDD075DE7A}"/>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Rumusan Masalah dan Tujuan</a:t>
            </a:r>
            <a:endParaRPr sz="3000"/>
          </a:p>
        </p:txBody>
      </p:sp>
      <p:sp>
        <p:nvSpPr>
          <p:cNvPr id="3" name="Text 1">
            <a:extLst xmlns:a="http://schemas.openxmlformats.org/drawingml/2006/main">
              <a:ext uri="{FF2B5EF4-FFF2-40B4-BE49-F238E27FC236}">
                <a16:creationId xmlns:a16="http://schemas.microsoft.com/office/drawing/2014/main" id="{170246EF-59C9-4576-8251-5F7F66D9A5B3}"/>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Pertanyaan penelitian diarahkan pada sistem, data, dan analisis</a:t>
            </a:r>
            <a:endParaRPr sz="1300"/>
          </a:p>
        </p:txBody>
      </p:sp>
      <p:sp>
        <p:nvSpPr>
          <p:cNvPr id="4" name="Shape 2">
            <a:extLst xmlns:a="http://schemas.openxmlformats.org/drawingml/2006/main">
              <a:ext uri="{FF2B5EF4-FFF2-40B4-BE49-F238E27FC236}">
                <a16:creationId xmlns:a16="http://schemas.microsoft.com/office/drawing/2014/main" id="{F848716C-9489-4F36-8545-10D1C5E51AC1}"/>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59D67001-DCE9-4934-A04B-FE4FB0403039}"/>
              </a:ext>
            </a:extLst>
          </p:cNvPr>
          <p:cNvSpPr>
            <a:spLocks xmlns:a="http://schemas.openxmlformats.org/drawingml/2006/main" noGrp="1"/>
          </p:cNvSpPr>
          <p:nvPr/>
        </p:nvSpPr>
        <p:spPr>
          <a:xfrm xmlns:a="http://schemas.openxmlformats.org/drawingml/2006/main">
            <a:off x="713232" y="1335024"/>
            <a:ext cx="5303520" cy="4297680"/>
          </a:xfrm>
          <a:prstGeom xmlns:a="http://schemas.openxmlformats.org/drawingml/2006/main" prst="roundRect">
            <a:avLst>
              <a:gd name="adj" fmla="val 2128"/>
            </a:avLst>
          </a:prstGeom>
          <a:solidFill xmlns:a="http://schemas.openxmlformats.org/drawingml/2006/main">
            <a:srgbClr val="FFFFFF"/>
          </a:solidFill>
          <a:ln xmlns:a="http://schemas.openxmlformats.org/drawingml/2006/main" w="12700">
            <a:solidFill>
              <a:srgbClr val="D6E3DF"/>
            </a:solidFill>
            <a:prstDash val="solid"/>
          </a:ln>
        </p:spPr>
      </p:sp>
      <p:sp>
        <p:nvSpPr>
          <p:cNvPr id="6" name="Shape 4">
            <a:extLst xmlns:a="http://schemas.openxmlformats.org/drawingml/2006/main">
              <a:ext uri="{FF2B5EF4-FFF2-40B4-BE49-F238E27FC236}">
                <a16:creationId xmlns:a16="http://schemas.microsoft.com/office/drawing/2014/main" id="{500D86A6-333D-49C7-AB90-4E10466830B7}"/>
              </a:ext>
            </a:extLst>
          </p:cNvPr>
          <p:cNvSpPr>
            <a:spLocks xmlns:a="http://schemas.openxmlformats.org/drawingml/2006/main" noGrp="1"/>
          </p:cNvSpPr>
          <p:nvPr/>
        </p:nvSpPr>
        <p:spPr>
          <a:xfrm xmlns:a="http://schemas.openxmlformats.org/drawingml/2006/main">
            <a:off x="713232" y="1335024"/>
            <a:ext cx="73152" cy="4297680"/>
          </a:xfrm>
          <a:prstGeom xmlns:a="http://schemas.openxmlformats.org/drawingml/2006/main" prst="rect">
            <a:avLst/>
          </a:prstGeom>
          <a:solidFill xmlns:a="http://schemas.openxmlformats.org/drawingml/2006/main">
            <a:srgbClr val="0F6B72"/>
          </a:solidFill>
          <a:ln xmlns:a="http://schemas.openxmlformats.org/drawingml/2006/main" w="12700">
            <a:solidFill>
              <a:srgbClr val="0F6B72"/>
            </a:solidFill>
            <a:prstDash val="solid"/>
          </a:ln>
        </p:spPr>
      </p:sp>
      <p:sp>
        <p:nvSpPr>
          <p:cNvPr id="7" name="Text 5">
            <a:extLst xmlns:a="http://schemas.openxmlformats.org/drawingml/2006/main">
              <a:ext uri="{FF2B5EF4-FFF2-40B4-BE49-F238E27FC236}">
                <a16:creationId xmlns:a16="http://schemas.microsoft.com/office/drawing/2014/main" id="{C3B18E60-192D-4072-B323-4BE882A77FAF}"/>
              </a:ext>
            </a:extLst>
          </p:cNvPr>
          <p:cNvSpPr>
            <a:spLocks xmlns:a="http://schemas.openxmlformats.org/drawingml/2006/main" noGrp="1"/>
          </p:cNvSpPr>
          <p:nvPr/>
        </p:nvSpPr>
        <p:spPr>
          <a:xfrm xmlns:a="http://schemas.openxmlformats.org/drawingml/2006/main">
            <a:off x="969264" y="1536192"/>
            <a:ext cx="4800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Rumusan masalah utama</a:t>
            </a:r>
            <a:endParaRPr sz="1650"/>
          </a:p>
        </p:txBody>
      </p:sp>
      <p:sp>
        <p:nvSpPr>
          <p:cNvPr id="8" name="Text 6">
            <a:extLst xmlns:a="http://schemas.openxmlformats.org/drawingml/2006/main">
              <a:ext uri="{FF2B5EF4-FFF2-40B4-BE49-F238E27FC236}">
                <a16:creationId xmlns:a16="http://schemas.microsoft.com/office/drawing/2014/main" id="{FD485570-B67B-45C6-8E1C-5F0D41B3E229}"/>
              </a:ext>
            </a:extLst>
          </p:cNvPr>
          <p:cNvSpPr>
            <a:spLocks xmlns:a="http://schemas.openxmlformats.org/drawingml/2006/main" noGrp="1"/>
          </p:cNvSpPr>
          <p:nvPr/>
        </p:nvSpPr>
        <p:spPr>
          <a:xfrm xmlns:a="http://schemas.openxmlformats.org/drawingml/2006/main">
            <a:off x="969264" y="1956816"/>
            <a:ext cx="480060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1. Bagaimana membangun Web GIS UMKM?</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2. Bagaimana menyediakan pengajuan publik, pelacakan, dan admin?</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3. Bagaimana membedakan kualitas koordinat?</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4. Bagaimana menerapkan K-Means++ dengan Haversine?</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5. Bagaimana memverifikasi sistem melalui pengujian?</a:t>
            </a:r>
            <a:endParaRPr sz="1380"/>
          </a:p>
        </p:txBody>
      </p:sp>
      <p:sp>
        <p:nvSpPr>
          <p:cNvPr id="9" name="Shape 7">
            <a:extLst xmlns:a="http://schemas.openxmlformats.org/drawingml/2006/main">
              <a:ext uri="{FF2B5EF4-FFF2-40B4-BE49-F238E27FC236}">
                <a16:creationId xmlns:a16="http://schemas.microsoft.com/office/drawing/2014/main" id="{07DCFB47-DFC6-4EEC-9E26-4746786A31C1}"/>
              </a:ext>
            </a:extLst>
          </p:cNvPr>
          <p:cNvSpPr>
            <a:spLocks xmlns:a="http://schemas.openxmlformats.org/drawingml/2006/main" noGrp="1"/>
          </p:cNvSpPr>
          <p:nvPr/>
        </p:nvSpPr>
        <p:spPr>
          <a:xfrm xmlns:a="http://schemas.openxmlformats.org/drawingml/2006/main">
            <a:off x="6309360" y="1335024"/>
            <a:ext cx="5138928" cy="4297680"/>
          </a:xfrm>
          <a:prstGeom xmlns:a="http://schemas.openxmlformats.org/drawingml/2006/main" prst="roundRect">
            <a:avLst>
              <a:gd name="adj" fmla="val 2128"/>
            </a:avLst>
          </a:prstGeom>
          <a:solidFill xmlns:a="http://schemas.openxmlformats.org/drawingml/2006/main">
            <a:srgbClr val="FFFDF2"/>
          </a:solidFill>
          <a:ln xmlns:a="http://schemas.openxmlformats.org/drawingml/2006/main" w="12700">
            <a:solidFill>
              <a:srgbClr val="D6E3DF"/>
            </a:solidFill>
            <a:prstDash val="solid"/>
          </a:ln>
        </p:spPr>
      </p:sp>
      <p:sp>
        <p:nvSpPr>
          <p:cNvPr id="10" name="Shape 8">
            <a:extLst xmlns:a="http://schemas.openxmlformats.org/drawingml/2006/main">
              <a:ext uri="{FF2B5EF4-FFF2-40B4-BE49-F238E27FC236}">
                <a16:creationId xmlns:a16="http://schemas.microsoft.com/office/drawing/2014/main" id="{37F602E8-2CA7-481E-99D1-84F451851377}"/>
              </a:ext>
            </a:extLst>
          </p:cNvPr>
          <p:cNvSpPr>
            <a:spLocks xmlns:a="http://schemas.openxmlformats.org/drawingml/2006/main" noGrp="1"/>
          </p:cNvSpPr>
          <p:nvPr/>
        </p:nvSpPr>
        <p:spPr>
          <a:xfrm xmlns:a="http://schemas.openxmlformats.org/drawingml/2006/main">
            <a:off x="6309360" y="1335024"/>
            <a:ext cx="73152" cy="4297680"/>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11" name="Text 9">
            <a:extLst xmlns:a="http://schemas.openxmlformats.org/drawingml/2006/main">
              <a:ext uri="{FF2B5EF4-FFF2-40B4-BE49-F238E27FC236}">
                <a16:creationId xmlns:a16="http://schemas.microsoft.com/office/drawing/2014/main" id="{0CB6262A-41CF-47BB-952F-698F9E124EF4}"/>
              </a:ext>
            </a:extLst>
          </p:cNvPr>
          <p:cNvSpPr>
            <a:spLocks xmlns:a="http://schemas.openxmlformats.org/drawingml/2006/main" noGrp="1"/>
          </p:cNvSpPr>
          <p:nvPr/>
        </p:nvSpPr>
        <p:spPr>
          <a:xfrm xmlns:a="http://schemas.openxmlformats.org/drawingml/2006/main">
            <a:off x="6565392" y="1536192"/>
            <a:ext cx="46360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Tujuan penelitian</a:t>
            </a:r>
            <a:endParaRPr sz="1650"/>
          </a:p>
        </p:txBody>
      </p:sp>
      <p:sp>
        <p:nvSpPr>
          <p:cNvPr id="12" name="Text 10">
            <a:extLst xmlns:a="http://schemas.openxmlformats.org/drawingml/2006/main">
              <a:ext uri="{FF2B5EF4-FFF2-40B4-BE49-F238E27FC236}">
                <a16:creationId xmlns:a16="http://schemas.microsoft.com/office/drawing/2014/main" id="{D7E10564-ABE8-4304-A466-24AC6B5D51D3}"/>
              </a:ext>
            </a:extLst>
          </p:cNvPr>
          <p:cNvSpPr>
            <a:spLocks xmlns:a="http://schemas.openxmlformats.org/drawingml/2006/main" noGrp="1"/>
          </p:cNvSpPr>
          <p:nvPr/>
        </p:nvSpPr>
        <p:spPr>
          <a:xfrm xmlns:a="http://schemas.openxmlformats.org/drawingml/2006/main">
            <a:off x="6565392" y="1956816"/>
            <a:ext cx="4636008"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Mengembangkan aplikasi Web GIS yang interaktif, memiliki layanan publik dan panel admin, mengelola kualitas lokasi, menerapkan K-Means spasial, serta menyimpan hasil analisis agar dapat ditelusuri kembali.</a:t>
            </a:r>
            <a:endParaRPr sz="1380"/>
          </a:p>
        </p:txBody>
      </p:sp>
      <p:sp>
        <p:nvSpPr>
          <p:cNvPr id="13" name="Shape 11">
            <a:extLst xmlns:a="http://schemas.openxmlformats.org/drawingml/2006/main">
              <a:ext uri="{FF2B5EF4-FFF2-40B4-BE49-F238E27FC236}">
                <a16:creationId xmlns:a16="http://schemas.microsoft.com/office/drawing/2014/main" id="{99354A4C-91CD-4446-86AC-654284DCD4B5}"/>
              </a:ext>
            </a:extLst>
          </p:cNvPr>
          <p:cNvSpPr>
            <a:spLocks xmlns:a="http://schemas.openxmlformats.org/drawingml/2006/main" noGrp="1"/>
          </p:cNvSpPr>
          <p:nvPr/>
        </p:nvSpPr>
        <p:spPr>
          <a:xfrm xmlns:a="http://schemas.openxmlformats.org/drawingml/2006/main">
            <a:off x="6309360" y="5687568"/>
            <a:ext cx="5138928" cy="438912"/>
          </a:xfrm>
          <a:prstGeom xmlns:a="http://schemas.openxmlformats.org/drawingml/2006/main" prst="roundRect">
            <a:avLst>
              <a:gd name="adj" fmla="val 25000"/>
            </a:avLst>
          </a:prstGeom>
          <a:solidFill xmlns:a="http://schemas.openxmlformats.org/drawingml/2006/main">
            <a:srgbClr val="0F4C5C"/>
          </a:solidFill>
          <a:ln xmlns:a="http://schemas.openxmlformats.org/drawingml/2006/main" w="12700">
            <a:solidFill>
              <a:srgbClr val="0F4C5C"/>
            </a:solidFill>
            <a:prstDash val="solid"/>
          </a:ln>
        </p:spPr>
      </p:sp>
      <p:sp>
        <p:nvSpPr>
          <p:cNvPr id="14" name="Text 12">
            <a:extLst xmlns:a="http://schemas.openxmlformats.org/drawingml/2006/main">
              <a:ext uri="{FF2B5EF4-FFF2-40B4-BE49-F238E27FC236}">
                <a16:creationId xmlns:a16="http://schemas.microsoft.com/office/drawing/2014/main" id="{FFEEC976-CC8E-4504-A900-BEB7EB245B8E}"/>
              </a:ext>
            </a:extLst>
          </p:cNvPr>
          <p:cNvSpPr>
            <a:spLocks xmlns:a="http://schemas.openxmlformats.org/drawingml/2006/main" noGrp="1"/>
          </p:cNvSpPr>
          <p:nvPr/>
        </p:nvSpPr>
        <p:spPr>
          <a:xfrm xmlns:a="http://schemas.openxmlformats.org/drawingml/2006/main">
            <a:off x="6565392" y="5815584"/>
            <a:ext cx="461772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Fokus: sistem berfungsi dan hasil analisis dapat dipertanggungjawabkan.</a:t>
            </a:r>
            <a:endParaRPr sz="1300"/>
          </a:p>
        </p:txBody>
      </p:sp>
      <p:sp>
        <p:nvSpPr>
          <p:cNvPr id="25" name="Slide Number Placeholder 0">
            <a:extLst xmlns:a="http://schemas.openxmlformats.org/drawingml/2006/main">
              <a:ext uri="{FF2B5EF4-FFF2-40B4-BE49-F238E27FC236}">
                <a16:creationId xmlns:a16="http://schemas.microsoft.com/office/drawing/2014/main" id="{A5FF1788-974B-4686-A9C5-CA6D01283DDA}"/>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206789305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DC2038-6B7F-42D5-B9F7-5EB48378006A}"/>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Solusi yang Dibangun</a:t>
            </a:r>
            <a:endParaRPr sz="3000"/>
          </a:p>
        </p:txBody>
      </p:sp>
      <p:sp>
        <p:nvSpPr>
          <p:cNvPr id="3" name="Text 1">
            <a:extLst xmlns:a="http://schemas.openxmlformats.org/drawingml/2006/main">
              <a:ext uri="{FF2B5EF4-FFF2-40B4-BE49-F238E27FC236}">
                <a16:creationId xmlns:a16="http://schemas.microsoft.com/office/drawing/2014/main" id="{F3C3C0C9-F7E6-402A-BE34-7324D7BC3C78}"/>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Web GIS UMKM dengan dua jalur utama: publik dan admin</a:t>
            </a:r>
            <a:endParaRPr sz="1300"/>
          </a:p>
        </p:txBody>
      </p:sp>
      <p:sp>
        <p:nvSpPr>
          <p:cNvPr id="4" name="Shape 2">
            <a:extLst xmlns:a="http://schemas.openxmlformats.org/drawingml/2006/main">
              <a:ext uri="{FF2B5EF4-FFF2-40B4-BE49-F238E27FC236}">
                <a16:creationId xmlns:a16="http://schemas.microsoft.com/office/drawing/2014/main" id="{2174E3B2-DE7C-441E-AA7C-CD0DC4C0087A}"/>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EF0E342C-A8C7-484D-A18A-377353315771}"/>
              </a:ext>
            </a:extLst>
          </p:cNvPr>
          <p:cNvSpPr>
            <a:spLocks xmlns:a="http://schemas.openxmlformats.org/drawingml/2006/main" noGrp="1"/>
          </p:cNvSpPr>
          <p:nvPr/>
        </p:nvSpPr>
        <p:spPr>
          <a:xfrm xmlns:a="http://schemas.openxmlformats.org/drawingml/2006/main">
            <a:off x="731520" y="1417320"/>
            <a:ext cx="10716768" cy="493776"/>
          </a:xfrm>
          <a:prstGeom xmlns:a="http://schemas.openxmlformats.org/drawingml/2006/main" prst="roundRect">
            <a:avLst>
              <a:gd name="adj" fmla="val 25926"/>
            </a:avLst>
          </a:prstGeom>
          <a:solidFill xmlns:a="http://schemas.openxmlformats.org/drawingml/2006/main">
            <a:srgbClr val="0B2F3A"/>
          </a:solidFill>
          <a:ln xmlns:a="http://schemas.openxmlformats.org/drawingml/2006/main" w="12700">
            <a:solidFill>
              <a:srgbClr val="0B2F3A"/>
            </a:solidFill>
            <a:prstDash val="solid"/>
          </a:ln>
        </p:spPr>
      </p:sp>
      <p:sp>
        <p:nvSpPr>
          <p:cNvPr id="6" name="Text 4">
            <a:extLst xmlns:a="http://schemas.openxmlformats.org/drawingml/2006/main">
              <a:ext uri="{FF2B5EF4-FFF2-40B4-BE49-F238E27FC236}">
                <a16:creationId xmlns:a16="http://schemas.microsoft.com/office/drawing/2014/main" id="{D75BF940-57EC-4930-B6EF-40A8C2EB8003}"/>
              </a:ext>
            </a:extLst>
          </p:cNvPr>
          <p:cNvSpPr>
            <a:spLocks xmlns:a="http://schemas.openxmlformats.org/drawingml/2006/main" noGrp="1"/>
          </p:cNvSpPr>
          <p:nvPr/>
        </p:nvSpPr>
        <p:spPr>
          <a:xfrm xmlns:a="http://schemas.openxmlformats.org/drawingml/2006/main">
            <a:off x="960120" y="1572768"/>
            <a:ext cx="102412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2727"/>
          </a:bodyPr>
          <a:lstStyle xmlns:a="http://schemas.openxmlformats.org/drawingml/2006/main"/>
          <a:p xmlns:a="http://schemas.openxmlformats.org/drawingml/2006/main">
            <a:pPr marL="0" indent="0" algn="ctr">
              <a:buNone/>
            </a:pPr>
            <a:r>
              <a:rPr sz="1320" b="1">
                <a:solidFill>
                  <a:srgbClr val="FFFFFF"/>
                </a:solidFill>
              </a:rPr>
              <a:t>Aplikasi menghubungkan data UMKM, peta interaktif, rute, pengajuan publik, verifikasi lokasi, dan analisis K-Means.</a:t>
            </a:r>
            <a:endParaRPr sz="1320"/>
          </a:p>
        </p:txBody>
      </p:sp>
      <p:sp>
        <p:nvSpPr>
          <p:cNvPr id="7" name="Shape 5">
            <a:extLst xmlns:a="http://schemas.openxmlformats.org/drawingml/2006/main">
              <a:ext uri="{FF2B5EF4-FFF2-40B4-BE49-F238E27FC236}">
                <a16:creationId xmlns:a16="http://schemas.microsoft.com/office/drawing/2014/main" id="{B49AB15D-E626-4DA1-ACDE-A650AF870622}"/>
              </a:ext>
            </a:extLst>
          </p:cNvPr>
          <p:cNvSpPr>
            <a:spLocks xmlns:a="http://schemas.openxmlformats.org/drawingml/2006/main" noGrp="1"/>
          </p:cNvSpPr>
          <p:nvPr/>
        </p:nvSpPr>
        <p:spPr>
          <a:xfrm xmlns:a="http://schemas.openxmlformats.org/drawingml/2006/main">
            <a:off x="804672" y="2395728"/>
            <a:ext cx="3246120" cy="260604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12700">
            <a:solidFill>
              <a:srgbClr val="D6E3DF"/>
            </a:solidFill>
            <a:prstDash val="solid"/>
          </a:ln>
        </p:spPr>
      </p:sp>
      <p:sp>
        <p:nvSpPr>
          <p:cNvPr id="8" name="Shape 6">
            <a:extLst xmlns:a="http://schemas.openxmlformats.org/drawingml/2006/main">
              <a:ext uri="{FF2B5EF4-FFF2-40B4-BE49-F238E27FC236}">
                <a16:creationId xmlns:a16="http://schemas.microsoft.com/office/drawing/2014/main" id="{62B6C51B-81B0-427C-BB50-046FE586862D}"/>
              </a:ext>
            </a:extLst>
          </p:cNvPr>
          <p:cNvSpPr>
            <a:spLocks xmlns:a="http://schemas.openxmlformats.org/drawingml/2006/main" noGrp="1"/>
          </p:cNvSpPr>
          <p:nvPr/>
        </p:nvSpPr>
        <p:spPr>
          <a:xfrm xmlns:a="http://schemas.openxmlformats.org/drawingml/2006/main">
            <a:off x="804672" y="2395728"/>
            <a:ext cx="73152" cy="2606040"/>
          </a:xfrm>
          <a:prstGeom xmlns:a="http://schemas.openxmlformats.org/drawingml/2006/main" prst="rect">
            <a:avLst/>
          </a:prstGeom>
          <a:solidFill xmlns:a="http://schemas.openxmlformats.org/drawingml/2006/main">
            <a:srgbClr val="1B98A8"/>
          </a:solidFill>
          <a:ln xmlns:a="http://schemas.openxmlformats.org/drawingml/2006/main" w="12700">
            <a:solidFill>
              <a:srgbClr val="1B98A8"/>
            </a:solidFill>
            <a:prstDash val="solid"/>
          </a:ln>
        </p:spPr>
      </p:sp>
      <p:sp>
        <p:nvSpPr>
          <p:cNvPr id="9" name="Text 7">
            <a:extLst xmlns:a="http://schemas.openxmlformats.org/drawingml/2006/main">
              <a:ext uri="{FF2B5EF4-FFF2-40B4-BE49-F238E27FC236}">
                <a16:creationId xmlns:a16="http://schemas.microsoft.com/office/drawing/2014/main" id="{FD89FF8B-04AB-4B61-82F4-E558BCE21DDE}"/>
              </a:ext>
            </a:extLst>
          </p:cNvPr>
          <p:cNvSpPr>
            <a:spLocks xmlns:a="http://schemas.openxmlformats.org/drawingml/2006/main" noGrp="1"/>
          </p:cNvSpPr>
          <p:nvPr/>
        </p:nvSpPr>
        <p:spPr>
          <a:xfrm xmlns:a="http://schemas.openxmlformats.org/drawingml/2006/main">
            <a:off x="1060704" y="2596896"/>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Publik</a:t>
            </a:r>
            <a:endParaRPr sz="1650"/>
          </a:p>
        </p:txBody>
      </p:sp>
      <p:sp>
        <p:nvSpPr>
          <p:cNvPr id="10" name="Text 8">
            <a:extLst xmlns:a="http://schemas.openxmlformats.org/drawingml/2006/main">
              <a:ext uri="{FF2B5EF4-FFF2-40B4-BE49-F238E27FC236}">
                <a16:creationId xmlns:a16="http://schemas.microsoft.com/office/drawing/2014/main" id="{A0D4B0B7-4FFF-472B-9BC2-5EC1C0EA2CD1}"/>
              </a:ext>
            </a:extLst>
          </p:cNvPr>
          <p:cNvSpPr>
            <a:spLocks xmlns:a="http://schemas.openxmlformats.org/drawingml/2006/main" noGrp="1"/>
          </p:cNvSpPr>
          <p:nvPr/>
        </p:nvSpPr>
        <p:spPr>
          <a:xfrm xmlns:a="http://schemas.openxmlformats.org/drawingml/2006/main">
            <a:off x="1060704" y="3017520"/>
            <a:ext cx="2743200"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380">
                <a:solidFill>
                  <a:srgbClr val="1E2D36"/>
                </a:solidFill>
              </a:rPr>
              <a:t>Melihat peta, mencari UMKM, filter kategori, memakai fitur rute, menemukan UMKM terdekat, berbagi tautan, dan mengajukan UMKM baru.</a:t>
            </a:r>
            <a:endParaRPr sz="1380"/>
          </a:p>
        </p:txBody>
      </p:sp>
      <p:sp>
        <p:nvSpPr>
          <p:cNvPr id="11" name="Shape 9">
            <a:extLst xmlns:a="http://schemas.openxmlformats.org/drawingml/2006/main">
              <a:ext uri="{FF2B5EF4-FFF2-40B4-BE49-F238E27FC236}">
                <a16:creationId xmlns:a16="http://schemas.microsoft.com/office/drawing/2014/main" id="{4052A2E2-D7A6-4DFB-90B6-DA12A2B8FDE5}"/>
              </a:ext>
            </a:extLst>
          </p:cNvPr>
          <p:cNvSpPr>
            <a:spLocks xmlns:a="http://schemas.openxmlformats.org/drawingml/2006/main" noGrp="1"/>
          </p:cNvSpPr>
          <p:nvPr/>
        </p:nvSpPr>
        <p:spPr>
          <a:xfrm xmlns:a="http://schemas.openxmlformats.org/drawingml/2006/main">
            <a:off x="4462272" y="2395728"/>
            <a:ext cx="3246120" cy="260604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12700">
            <a:solidFill>
              <a:srgbClr val="D6E3DF"/>
            </a:solidFill>
            <a:prstDash val="solid"/>
          </a:ln>
        </p:spPr>
      </p:sp>
      <p:sp>
        <p:nvSpPr>
          <p:cNvPr id="12" name="Shape 10">
            <a:extLst xmlns:a="http://schemas.openxmlformats.org/drawingml/2006/main">
              <a:ext uri="{FF2B5EF4-FFF2-40B4-BE49-F238E27FC236}">
                <a16:creationId xmlns:a16="http://schemas.microsoft.com/office/drawing/2014/main" id="{218974B4-EC4B-4D7E-BEBA-49C9E5BA43B2}"/>
              </a:ext>
            </a:extLst>
          </p:cNvPr>
          <p:cNvSpPr>
            <a:spLocks xmlns:a="http://schemas.openxmlformats.org/drawingml/2006/main" noGrp="1"/>
          </p:cNvSpPr>
          <p:nvPr/>
        </p:nvSpPr>
        <p:spPr>
          <a:xfrm xmlns:a="http://schemas.openxmlformats.org/drawingml/2006/main">
            <a:off x="4462272" y="2395728"/>
            <a:ext cx="73152" cy="2606040"/>
          </a:xfrm>
          <a:prstGeom xmlns:a="http://schemas.openxmlformats.org/drawingml/2006/main" prst="rect">
            <a:avLst/>
          </a:prstGeom>
          <a:solidFill xmlns:a="http://schemas.openxmlformats.org/drawingml/2006/main">
            <a:srgbClr val="0F6B72"/>
          </a:solidFill>
          <a:ln xmlns:a="http://schemas.openxmlformats.org/drawingml/2006/main" w="12700">
            <a:solidFill>
              <a:srgbClr val="0F6B72"/>
            </a:solidFill>
            <a:prstDash val="solid"/>
          </a:ln>
        </p:spPr>
      </p:sp>
      <p:sp>
        <p:nvSpPr>
          <p:cNvPr id="13" name="Text 11">
            <a:extLst xmlns:a="http://schemas.openxmlformats.org/drawingml/2006/main">
              <a:ext uri="{FF2B5EF4-FFF2-40B4-BE49-F238E27FC236}">
                <a16:creationId xmlns:a16="http://schemas.microsoft.com/office/drawing/2014/main" id="{143069CD-F2C2-43FA-9DE3-E1DABCEEB6A2}"/>
              </a:ext>
            </a:extLst>
          </p:cNvPr>
          <p:cNvSpPr>
            <a:spLocks xmlns:a="http://schemas.openxmlformats.org/drawingml/2006/main" noGrp="1"/>
          </p:cNvSpPr>
          <p:nvPr/>
        </p:nvSpPr>
        <p:spPr>
          <a:xfrm xmlns:a="http://schemas.openxmlformats.org/drawingml/2006/main">
            <a:off x="4718304" y="2596896"/>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Admin</a:t>
            </a:r>
            <a:endParaRPr sz="1650"/>
          </a:p>
        </p:txBody>
      </p:sp>
      <p:sp>
        <p:nvSpPr>
          <p:cNvPr id="14" name="Text 12">
            <a:extLst xmlns:a="http://schemas.openxmlformats.org/drawingml/2006/main">
              <a:ext uri="{FF2B5EF4-FFF2-40B4-BE49-F238E27FC236}">
                <a16:creationId xmlns:a16="http://schemas.microsoft.com/office/drawing/2014/main" id="{ABC52EF6-4F9B-485D-871D-52929F42213F}"/>
              </a:ext>
            </a:extLst>
          </p:cNvPr>
          <p:cNvSpPr>
            <a:spLocks xmlns:a="http://schemas.openxmlformats.org/drawingml/2006/main" noGrp="1"/>
          </p:cNvSpPr>
          <p:nvPr/>
        </p:nvSpPr>
        <p:spPr>
          <a:xfrm xmlns:a="http://schemas.openxmlformats.org/drawingml/2006/main">
            <a:off x="4718304" y="3017520"/>
            <a:ext cx="2743200"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Mengelola data UMKM, meninjau pengajuan, memverifikasi koordinat, menjalankan K-Means, melakukan import/export, dan melihat audit.</a:t>
            </a:r>
            <a:endParaRPr sz="1380"/>
          </a:p>
        </p:txBody>
      </p:sp>
      <p:sp>
        <p:nvSpPr>
          <p:cNvPr id="15" name="Shape 13">
            <a:extLst xmlns:a="http://schemas.openxmlformats.org/drawingml/2006/main">
              <a:ext uri="{FF2B5EF4-FFF2-40B4-BE49-F238E27FC236}">
                <a16:creationId xmlns:a16="http://schemas.microsoft.com/office/drawing/2014/main" id="{9F962212-7903-48E0-9A6E-2F7A79212445}"/>
              </a:ext>
            </a:extLst>
          </p:cNvPr>
          <p:cNvSpPr>
            <a:spLocks xmlns:a="http://schemas.openxmlformats.org/drawingml/2006/main" noGrp="1"/>
          </p:cNvSpPr>
          <p:nvPr/>
        </p:nvSpPr>
        <p:spPr>
          <a:xfrm xmlns:a="http://schemas.openxmlformats.org/drawingml/2006/main">
            <a:off x="8119872" y="2395728"/>
            <a:ext cx="3246120" cy="2606040"/>
          </a:xfrm>
          <a:prstGeom xmlns:a="http://schemas.openxmlformats.org/drawingml/2006/main" prst="roundRect">
            <a:avLst>
              <a:gd name="adj" fmla="val 3509"/>
            </a:avLst>
          </a:prstGeom>
          <a:solidFill xmlns:a="http://schemas.openxmlformats.org/drawingml/2006/main">
            <a:srgbClr val="FFFDF2"/>
          </a:solidFill>
          <a:ln xmlns:a="http://schemas.openxmlformats.org/drawingml/2006/main" w="12700">
            <a:solidFill>
              <a:srgbClr val="D6E3DF"/>
            </a:solidFill>
            <a:prstDash val="solid"/>
          </a:ln>
        </p:spPr>
      </p:sp>
      <p:sp>
        <p:nvSpPr>
          <p:cNvPr id="16" name="Shape 14">
            <a:extLst xmlns:a="http://schemas.openxmlformats.org/drawingml/2006/main">
              <a:ext uri="{FF2B5EF4-FFF2-40B4-BE49-F238E27FC236}">
                <a16:creationId xmlns:a16="http://schemas.microsoft.com/office/drawing/2014/main" id="{604BE47C-0AB8-437B-87AD-284F603009F5}"/>
              </a:ext>
            </a:extLst>
          </p:cNvPr>
          <p:cNvSpPr>
            <a:spLocks xmlns:a="http://schemas.openxmlformats.org/drawingml/2006/main" noGrp="1"/>
          </p:cNvSpPr>
          <p:nvPr/>
        </p:nvSpPr>
        <p:spPr>
          <a:xfrm xmlns:a="http://schemas.openxmlformats.org/drawingml/2006/main">
            <a:off x="8119872" y="2395728"/>
            <a:ext cx="73152" cy="2606040"/>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17" name="Text 15">
            <a:extLst xmlns:a="http://schemas.openxmlformats.org/drawingml/2006/main">
              <a:ext uri="{FF2B5EF4-FFF2-40B4-BE49-F238E27FC236}">
                <a16:creationId xmlns:a16="http://schemas.microsoft.com/office/drawing/2014/main" id="{3FD1BB37-6210-4DE2-89A3-25A508CFAFF2}"/>
              </a:ext>
            </a:extLst>
          </p:cNvPr>
          <p:cNvSpPr>
            <a:spLocks xmlns:a="http://schemas.openxmlformats.org/drawingml/2006/main" noGrp="1"/>
          </p:cNvSpPr>
          <p:nvPr/>
        </p:nvSpPr>
        <p:spPr>
          <a:xfrm xmlns:a="http://schemas.openxmlformats.org/drawingml/2006/main">
            <a:off x="8375904" y="2596896"/>
            <a:ext cx="2743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Analisis</a:t>
            </a:r>
            <a:endParaRPr sz="1650"/>
          </a:p>
        </p:txBody>
      </p:sp>
      <p:sp>
        <p:nvSpPr>
          <p:cNvPr id="18" name="Text 16">
            <a:extLst xmlns:a="http://schemas.openxmlformats.org/drawingml/2006/main">
              <a:ext uri="{FF2B5EF4-FFF2-40B4-BE49-F238E27FC236}">
                <a16:creationId xmlns:a16="http://schemas.microsoft.com/office/drawing/2014/main" id="{9B14C504-052D-40F1-BA7D-D83B7D86F209}"/>
              </a:ext>
            </a:extLst>
          </p:cNvPr>
          <p:cNvSpPr>
            <a:spLocks xmlns:a="http://schemas.openxmlformats.org/drawingml/2006/main" noGrp="1"/>
          </p:cNvSpPr>
          <p:nvPr/>
        </p:nvSpPr>
        <p:spPr>
          <a:xfrm xmlns:a="http://schemas.openxmlformats.org/drawingml/2006/main">
            <a:off x="8375904" y="3017520"/>
            <a:ext cx="2743200"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K-Means++ membentuk zona spasial, menghitung WCSS, centroid, radius, snapshot, dan hash dataset.</a:t>
            </a:r>
            <a:endParaRPr sz="1380"/>
          </a:p>
        </p:txBody>
      </p:sp>
      <p:sp>
        <p:nvSpPr>
          <p:cNvPr id="19" name="Shape 17">
            <a:extLst xmlns:a="http://schemas.openxmlformats.org/drawingml/2006/main">
              <a:ext uri="{FF2B5EF4-FFF2-40B4-BE49-F238E27FC236}">
                <a16:creationId xmlns:a16="http://schemas.microsoft.com/office/drawing/2014/main" id="{B9B18D1F-622C-4082-B88E-828459DB7F99}"/>
              </a:ext>
            </a:extLst>
          </p:cNvPr>
          <p:cNvSpPr>
            <a:spLocks xmlns:a="http://schemas.openxmlformats.org/drawingml/2006/main" noGrp="1"/>
          </p:cNvSpPr>
          <p:nvPr/>
        </p:nvSpPr>
        <p:spPr>
          <a:xfrm xmlns:a="http://schemas.openxmlformats.org/drawingml/2006/main">
            <a:off x="4087368" y="3694176"/>
            <a:ext cx="292608" cy="0"/>
          </a:xfrm>
          <a:prstGeom xmlns:a="http://schemas.openxmlformats.org/drawingml/2006/main" prst="line">
            <a:avLst/>
          </a:prstGeom>
          <a:noFill xmlns:a="http://schemas.openxmlformats.org/drawingml/2006/main"/>
          <a:ln xmlns:a="http://schemas.openxmlformats.org/drawingml/2006/main" w="25400">
            <a:solidFill>
              <a:srgbClr val="F2C94C"/>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E5EC9AC7-89AC-4439-9930-D4061CC9A10C}"/>
              </a:ext>
            </a:extLst>
          </p:cNvPr>
          <p:cNvSpPr>
            <a:spLocks xmlns:a="http://schemas.openxmlformats.org/drawingml/2006/main" noGrp="1"/>
          </p:cNvSpPr>
          <p:nvPr/>
        </p:nvSpPr>
        <p:spPr>
          <a:xfrm xmlns:a="http://schemas.openxmlformats.org/drawingml/2006/main">
            <a:off x="7744968" y="3694176"/>
            <a:ext cx="292608" cy="0"/>
          </a:xfrm>
          <a:prstGeom xmlns:a="http://schemas.openxmlformats.org/drawingml/2006/main" prst="line">
            <a:avLst/>
          </a:prstGeom>
          <a:noFill xmlns:a="http://schemas.openxmlformats.org/drawingml/2006/main"/>
          <a:ln xmlns:a="http://schemas.openxmlformats.org/drawingml/2006/main" w="25400">
            <a:solidFill>
              <a:srgbClr val="F2C94C"/>
            </a:solidFill>
            <a:prstDash val="solid"/>
            <a:headEnd type="none"/>
            <a:tailEnd type="triangle"/>
          </a:ln>
        </p:spPr>
      </p:sp>
      <p:sp>
        <p:nvSpPr>
          <p:cNvPr id="25" name="Slide Number Placeholder 0">
            <a:extLst xmlns:a="http://schemas.openxmlformats.org/drawingml/2006/main">
              <a:ext uri="{FF2B5EF4-FFF2-40B4-BE49-F238E27FC236}">
                <a16:creationId xmlns:a16="http://schemas.microsoft.com/office/drawing/2014/main" id="{F03A0E89-BCB7-445B-A346-88F226AEC08F}"/>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14307738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2C70FF-5FBC-4C38-A44B-2F20758C5CC3}"/>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Metodologi Penelitian</a:t>
            </a:r>
            <a:endParaRPr sz="3000"/>
          </a:p>
        </p:txBody>
      </p:sp>
      <p:sp>
        <p:nvSpPr>
          <p:cNvPr id="3" name="Text 1">
            <a:extLst xmlns:a="http://schemas.openxmlformats.org/drawingml/2006/main">
              <a:ext uri="{FF2B5EF4-FFF2-40B4-BE49-F238E27FC236}">
                <a16:creationId xmlns:a16="http://schemas.microsoft.com/office/drawing/2014/main" id="{44537F87-6799-4031-923A-64E2309EFDDA}"/>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Tahapan pengembangan dan evaluasi sistem</a:t>
            </a:r>
            <a:endParaRPr sz="1300"/>
          </a:p>
        </p:txBody>
      </p:sp>
      <p:sp>
        <p:nvSpPr>
          <p:cNvPr id="4" name="Shape 2">
            <a:extLst xmlns:a="http://schemas.openxmlformats.org/drawingml/2006/main">
              <a:ext uri="{FF2B5EF4-FFF2-40B4-BE49-F238E27FC236}">
                <a16:creationId xmlns:a16="http://schemas.microsoft.com/office/drawing/2014/main" id="{3ECF79CB-C1EC-4645-A9E5-D06511A588FE}"/>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BA039CA4-2FFE-4174-A258-CD1EF78CBC43}"/>
              </a:ext>
            </a:extLst>
          </p:cNvPr>
          <p:cNvSpPr>
            <a:spLocks xmlns:a="http://schemas.openxmlformats.org/drawingml/2006/main" noGrp="1"/>
          </p:cNvSpPr>
          <p:nvPr/>
        </p:nvSpPr>
        <p:spPr>
          <a:xfrm xmlns:a="http://schemas.openxmlformats.org/drawingml/2006/main">
            <a:off x="6995160" y="1325880"/>
            <a:ext cx="4297680" cy="4297680"/>
          </a:xfrm>
          <a:prstGeom xmlns:a="http://schemas.openxmlformats.org/drawingml/2006/main" prst="roundRect">
            <a:avLst>
              <a:gd name="adj" fmla="val 1702"/>
            </a:avLst>
          </a:prstGeom>
          <a:solidFill xmlns:a="http://schemas.openxmlformats.org/drawingml/2006/main">
            <a:srgbClr val="FFFFFF"/>
          </a:solidFill>
          <a:ln xmlns:a="http://schemas.openxmlformats.org/drawingml/2006/main" w="12700">
            <a:solidFill>
              <a:srgbClr val="D6E3DF"/>
            </a:solidFill>
            <a:prstDash val="solid"/>
          </a:ln>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2ac68aa69ae64d16"/>
          <a:stretch xmlns:a="http://schemas.openxmlformats.org/drawingml/2006/main">
            <a:fillRect l="0" t="0" r="0" b="0"/>
          </a:stretch>
        </p:blipFill>
        <p:spPr>
          <a:xfrm xmlns:a="http://schemas.openxmlformats.org/drawingml/2006/main">
            <a:off x="7104888" y="1520571"/>
            <a:ext cx="4078224" cy="390829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E63FCFD2-8583-4738-A96E-763EBA596A40}"/>
              </a:ext>
            </a:extLst>
          </p:cNvPr>
          <p:cNvSpPr>
            <a:spLocks xmlns:a="http://schemas.openxmlformats.org/drawingml/2006/main" noGrp="1"/>
          </p:cNvSpPr>
          <p:nvPr/>
        </p:nvSpPr>
        <p:spPr>
          <a:xfrm xmlns:a="http://schemas.openxmlformats.org/drawingml/2006/main">
            <a:off x="777240" y="1353312"/>
            <a:ext cx="5806440" cy="713232"/>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2700">
            <a:solidFill>
              <a:srgbClr val="D6E3DF"/>
            </a:solidFill>
            <a:prstDash val="solid"/>
          </a:ln>
        </p:spPr>
      </p:sp>
      <p:sp>
        <p:nvSpPr>
          <p:cNvPr id="8" name="Shape 5">
            <a:extLst xmlns:a="http://schemas.openxmlformats.org/drawingml/2006/main">
              <a:ext uri="{FF2B5EF4-FFF2-40B4-BE49-F238E27FC236}">
                <a16:creationId xmlns:a16="http://schemas.microsoft.com/office/drawing/2014/main" id="{7E2517EA-A04F-4BEC-8462-7DEC9B322220}"/>
              </a:ext>
            </a:extLst>
          </p:cNvPr>
          <p:cNvSpPr>
            <a:spLocks xmlns:a="http://schemas.openxmlformats.org/drawingml/2006/main" noGrp="1"/>
          </p:cNvSpPr>
          <p:nvPr/>
        </p:nvSpPr>
        <p:spPr>
          <a:xfrm xmlns:a="http://schemas.openxmlformats.org/drawingml/2006/main">
            <a:off x="960120" y="1508760"/>
            <a:ext cx="393192" cy="393192"/>
          </a:xfrm>
          <a:prstGeom xmlns:a="http://schemas.openxmlformats.org/drawingml/2006/main" prst="ellipse">
            <a:avLst/>
          </a:prstGeom>
          <a:solidFill xmlns:a="http://schemas.openxmlformats.org/drawingml/2006/main">
            <a:srgbClr val="1B98A8"/>
          </a:solidFill>
          <a:ln xmlns:a="http://schemas.openxmlformats.org/drawingml/2006/main" w="12700">
            <a:solidFill>
              <a:srgbClr val="1B98A8"/>
            </a:solidFill>
            <a:prstDash val="solid"/>
          </a:ln>
        </p:spPr>
      </p:sp>
      <p:sp>
        <p:nvSpPr>
          <p:cNvPr id="9" name="Text 6">
            <a:extLst xmlns:a="http://schemas.openxmlformats.org/drawingml/2006/main">
              <a:ext uri="{FF2B5EF4-FFF2-40B4-BE49-F238E27FC236}">
                <a16:creationId xmlns:a16="http://schemas.microsoft.com/office/drawing/2014/main" id="{60A0ED75-7A14-42E3-903C-13A23693CC2F}"/>
              </a:ext>
            </a:extLst>
          </p:cNvPr>
          <p:cNvSpPr>
            <a:spLocks xmlns:a="http://schemas.openxmlformats.org/drawingml/2006/main" noGrp="1"/>
          </p:cNvSpPr>
          <p:nvPr/>
        </p:nvSpPr>
        <p:spPr>
          <a:xfrm xmlns:a="http://schemas.openxmlformats.org/drawingml/2006/main">
            <a:off x="960120" y="1577340"/>
            <a:ext cx="39319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FFFFFF"/>
                </a:solidFill>
              </a:rPr>
              <a:t>1</a:t>
            </a:r>
            <a:endParaRPr sz="880"/>
          </a:p>
        </p:txBody>
      </p:sp>
      <p:sp>
        <p:nvSpPr>
          <p:cNvPr id="10" name="Text 7">
            <a:extLst xmlns:a="http://schemas.openxmlformats.org/drawingml/2006/main">
              <a:ext uri="{FF2B5EF4-FFF2-40B4-BE49-F238E27FC236}">
                <a16:creationId xmlns:a16="http://schemas.microsoft.com/office/drawing/2014/main" id="{AE9486D5-00A0-4054-B7A6-02587047E68F}"/>
              </a:ext>
            </a:extLst>
          </p:cNvPr>
          <p:cNvSpPr>
            <a:spLocks xmlns:a="http://schemas.openxmlformats.org/drawingml/2006/main" noGrp="1"/>
          </p:cNvSpPr>
          <p:nvPr/>
        </p:nvSpPr>
        <p:spPr>
          <a:xfrm xmlns:a="http://schemas.openxmlformats.org/drawingml/2006/main">
            <a:off x="1536192" y="1527048"/>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50" b="1">
                <a:solidFill>
                  <a:srgbClr val="1E2D36"/>
                </a:solidFill>
              </a:rPr>
              <a:t>Analisis kebutuhan dan data spasial</a:t>
            </a:r>
            <a:endParaRPr sz="1550"/>
          </a:p>
        </p:txBody>
      </p:sp>
      <p:sp>
        <p:nvSpPr>
          <p:cNvPr id="11" name="Shape 8">
            <a:extLst xmlns:a="http://schemas.openxmlformats.org/drawingml/2006/main">
              <a:ext uri="{FF2B5EF4-FFF2-40B4-BE49-F238E27FC236}">
                <a16:creationId xmlns:a16="http://schemas.microsoft.com/office/drawing/2014/main" id="{9CECADCD-BC57-4A83-AAF8-430DC1924B24}"/>
              </a:ext>
            </a:extLst>
          </p:cNvPr>
          <p:cNvSpPr>
            <a:spLocks xmlns:a="http://schemas.openxmlformats.org/drawingml/2006/main" noGrp="1"/>
          </p:cNvSpPr>
          <p:nvPr/>
        </p:nvSpPr>
        <p:spPr>
          <a:xfrm xmlns:a="http://schemas.openxmlformats.org/drawingml/2006/main">
            <a:off x="777240" y="2176272"/>
            <a:ext cx="5806440" cy="713232"/>
          </a:xfrm>
          <a:prstGeom xmlns:a="http://schemas.openxmlformats.org/drawingml/2006/main" prst="roundRect">
            <a:avLst>
              <a:gd name="adj" fmla="val 12821"/>
            </a:avLst>
          </a:prstGeom>
          <a:solidFill xmlns:a="http://schemas.openxmlformats.org/drawingml/2006/main">
            <a:srgbClr val="F1F7F5"/>
          </a:solidFill>
          <a:ln xmlns:a="http://schemas.openxmlformats.org/drawingml/2006/main" w="12700">
            <a:solidFill>
              <a:srgbClr val="D6E3DF"/>
            </a:solidFill>
            <a:prstDash val="solid"/>
          </a:ln>
        </p:spPr>
      </p:sp>
      <p:sp>
        <p:nvSpPr>
          <p:cNvPr id="12" name="Shape 9">
            <a:extLst xmlns:a="http://schemas.openxmlformats.org/drawingml/2006/main">
              <a:ext uri="{FF2B5EF4-FFF2-40B4-BE49-F238E27FC236}">
                <a16:creationId xmlns:a16="http://schemas.microsoft.com/office/drawing/2014/main" id="{6320B2DC-5006-46B0-B811-CFF1CEF005F4}"/>
              </a:ext>
            </a:extLst>
          </p:cNvPr>
          <p:cNvSpPr>
            <a:spLocks xmlns:a="http://schemas.openxmlformats.org/drawingml/2006/main" noGrp="1"/>
          </p:cNvSpPr>
          <p:nvPr/>
        </p:nvSpPr>
        <p:spPr>
          <a:xfrm xmlns:a="http://schemas.openxmlformats.org/drawingml/2006/main">
            <a:off x="960120" y="2331720"/>
            <a:ext cx="393192" cy="393192"/>
          </a:xfrm>
          <a:prstGeom xmlns:a="http://schemas.openxmlformats.org/drawingml/2006/main" prst="ellipse">
            <a:avLst/>
          </a:prstGeom>
          <a:solidFill xmlns:a="http://schemas.openxmlformats.org/drawingml/2006/main">
            <a:srgbClr val="1B98A8"/>
          </a:solidFill>
          <a:ln xmlns:a="http://schemas.openxmlformats.org/drawingml/2006/main" w="12700">
            <a:solidFill>
              <a:srgbClr val="1B98A8"/>
            </a:solidFill>
            <a:prstDash val="solid"/>
          </a:ln>
        </p:spPr>
      </p:sp>
      <p:sp>
        <p:nvSpPr>
          <p:cNvPr id="13" name="Text 10">
            <a:extLst xmlns:a="http://schemas.openxmlformats.org/drawingml/2006/main">
              <a:ext uri="{FF2B5EF4-FFF2-40B4-BE49-F238E27FC236}">
                <a16:creationId xmlns:a16="http://schemas.microsoft.com/office/drawing/2014/main" id="{EFFDA204-C223-4AB8-9A72-31D47C0FDF8E}"/>
              </a:ext>
            </a:extLst>
          </p:cNvPr>
          <p:cNvSpPr>
            <a:spLocks xmlns:a="http://schemas.openxmlformats.org/drawingml/2006/main" noGrp="1"/>
          </p:cNvSpPr>
          <p:nvPr/>
        </p:nvSpPr>
        <p:spPr>
          <a:xfrm xmlns:a="http://schemas.openxmlformats.org/drawingml/2006/main">
            <a:off x="960120" y="2400300"/>
            <a:ext cx="39319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FFFFFF"/>
                </a:solidFill>
              </a:rPr>
              <a:t>2</a:t>
            </a:r>
            <a:endParaRPr sz="880"/>
          </a:p>
        </p:txBody>
      </p:sp>
      <p:sp>
        <p:nvSpPr>
          <p:cNvPr id="14" name="Text 11">
            <a:extLst xmlns:a="http://schemas.openxmlformats.org/drawingml/2006/main">
              <a:ext uri="{FF2B5EF4-FFF2-40B4-BE49-F238E27FC236}">
                <a16:creationId xmlns:a16="http://schemas.microsoft.com/office/drawing/2014/main" id="{3E3031C1-B552-471A-8EDF-516CCABE9C5C}"/>
              </a:ext>
            </a:extLst>
          </p:cNvPr>
          <p:cNvSpPr>
            <a:spLocks xmlns:a="http://schemas.openxmlformats.org/drawingml/2006/main" noGrp="1"/>
          </p:cNvSpPr>
          <p:nvPr/>
        </p:nvSpPr>
        <p:spPr>
          <a:xfrm xmlns:a="http://schemas.openxmlformats.org/drawingml/2006/main">
            <a:off x="1536192" y="2350008"/>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50" b="1">
                <a:solidFill>
                  <a:srgbClr val="1E2D36"/>
                </a:solidFill>
              </a:rPr>
              <a:t>Perancangan arsitektur, basis data, dan hak akses</a:t>
            </a:r>
            <a:endParaRPr sz="1550"/>
          </a:p>
        </p:txBody>
      </p:sp>
      <p:sp>
        <p:nvSpPr>
          <p:cNvPr id="15" name="Shape 12">
            <a:extLst xmlns:a="http://schemas.openxmlformats.org/drawingml/2006/main">
              <a:ext uri="{FF2B5EF4-FFF2-40B4-BE49-F238E27FC236}">
                <a16:creationId xmlns:a16="http://schemas.microsoft.com/office/drawing/2014/main" id="{05290967-8130-4F34-8CCA-447A7EB31476}"/>
              </a:ext>
            </a:extLst>
          </p:cNvPr>
          <p:cNvSpPr>
            <a:spLocks xmlns:a="http://schemas.openxmlformats.org/drawingml/2006/main" noGrp="1"/>
          </p:cNvSpPr>
          <p:nvPr/>
        </p:nvSpPr>
        <p:spPr>
          <a:xfrm xmlns:a="http://schemas.openxmlformats.org/drawingml/2006/main">
            <a:off x="777240" y="2999232"/>
            <a:ext cx="5806440" cy="713232"/>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2700">
            <a:solidFill>
              <a:srgbClr val="D6E3DF"/>
            </a:solidFill>
            <a:prstDash val="solid"/>
          </a:ln>
        </p:spPr>
      </p:sp>
      <p:sp>
        <p:nvSpPr>
          <p:cNvPr id="16" name="Shape 13">
            <a:extLst xmlns:a="http://schemas.openxmlformats.org/drawingml/2006/main">
              <a:ext uri="{FF2B5EF4-FFF2-40B4-BE49-F238E27FC236}">
                <a16:creationId xmlns:a16="http://schemas.microsoft.com/office/drawing/2014/main" id="{4BDBA5EC-AB6D-4CAF-999F-45719F2B66E4}"/>
              </a:ext>
            </a:extLst>
          </p:cNvPr>
          <p:cNvSpPr>
            <a:spLocks xmlns:a="http://schemas.openxmlformats.org/drawingml/2006/main" noGrp="1"/>
          </p:cNvSpPr>
          <p:nvPr/>
        </p:nvSpPr>
        <p:spPr>
          <a:xfrm xmlns:a="http://schemas.openxmlformats.org/drawingml/2006/main">
            <a:off x="960120" y="3154680"/>
            <a:ext cx="393192" cy="393192"/>
          </a:xfrm>
          <a:prstGeom xmlns:a="http://schemas.openxmlformats.org/drawingml/2006/main" prst="ellipse">
            <a:avLst/>
          </a:prstGeom>
          <a:solidFill xmlns:a="http://schemas.openxmlformats.org/drawingml/2006/main">
            <a:srgbClr val="0F6B72"/>
          </a:solidFill>
          <a:ln xmlns:a="http://schemas.openxmlformats.org/drawingml/2006/main" w="12700">
            <a:solidFill>
              <a:srgbClr val="0F6B72"/>
            </a:solidFill>
            <a:prstDash val="solid"/>
          </a:ln>
        </p:spPr>
      </p:sp>
      <p:sp>
        <p:nvSpPr>
          <p:cNvPr id="17" name="Text 14">
            <a:extLst xmlns:a="http://schemas.openxmlformats.org/drawingml/2006/main">
              <a:ext uri="{FF2B5EF4-FFF2-40B4-BE49-F238E27FC236}">
                <a16:creationId xmlns:a16="http://schemas.microsoft.com/office/drawing/2014/main" id="{54D8682F-4A5B-49DF-A66D-BB0F618EBFBA}"/>
              </a:ext>
            </a:extLst>
          </p:cNvPr>
          <p:cNvSpPr>
            <a:spLocks xmlns:a="http://schemas.openxmlformats.org/drawingml/2006/main" noGrp="1"/>
          </p:cNvSpPr>
          <p:nvPr/>
        </p:nvSpPr>
        <p:spPr>
          <a:xfrm xmlns:a="http://schemas.openxmlformats.org/drawingml/2006/main">
            <a:off x="960120" y="3223260"/>
            <a:ext cx="39319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FFFFFF"/>
                </a:solidFill>
              </a:rPr>
              <a:t>3</a:t>
            </a:r>
            <a:endParaRPr sz="880"/>
          </a:p>
        </p:txBody>
      </p:sp>
      <p:sp>
        <p:nvSpPr>
          <p:cNvPr id="18" name="Text 15">
            <a:extLst xmlns:a="http://schemas.openxmlformats.org/drawingml/2006/main">
              <a:ext uri="{FF2B5EF4-FFF2-40B4-BE49-F238E27FC236}">
                <a16:creationId xmlns:a16="http://schemas.microsoft.com/office/drawing/2014/main" id="{E6B6553E-776D-4236-9C9F-477AAB5C72C1}"/>
              </a:ext>
            </a:extLst>
          </p:cNvPr>
          <p:cNvSpPr>
            <a:spLocks xmlns:a="http://schemas.openxmlformats.org/drawingml/2006/main" noGrp="1"/>
          </p:cNvSpPr>
          <p:nvPr/>
        </p:nvSpPr>
        <p:spPr>
          <a:xfrm xmlns:a="http://schemas.openxmlformats.org/drawingml/2006/main">
            <a:off x="1536192" y="3172968"/>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50" b="1">
                <a:solidFill>
                  <a:srgbClr val="1E2D36"/>
                </a:solidFill>
              </a:rPr>
              <a:t>Implementasi Web GIS, admin, dan layanan publik</a:t>
            </a:r>
            <a:endParaRPr sz="1550"/>
          </a:p>
        </p:txBody>
      </p:sp>
      <p:sp>
        <p:nvSpPr>
          <p:cNvPr id="19" name="Shape 16">
            <a:extLst xmlns:a="http://schemas.openxmlformats.org/drawingml/2006/main">
              <a:ext uri="{FF2B5EF4-FFF2-40B4-BE49-F238E27FC236}">
                <a16:creationId xmlns:a16="http://schemas.microsoft.com/office/drawing/2014/main" id="{411B0D53-B418-492C-A0D7-224C2C05C169}"/>
              </a:ext>
            </a:extLst>
          </p:cNvPr>
          <p:cNvSpPr>
            <a:spLocks xmlns:a="http://schemas.openxmlformats.org/drawingml/2006/main" noGrp="1"/>
          </p:cNvSpPr>
          <p:nvPr/>
        </p:nvSpPr>
        <p:spPr>
          <a:xfrm xmlns:a="http://schemas.openxmlformats.org/drawingml/2006/main">
            <a:off x="777240" y="3822192"/>
            <a:ext cx="5806440" cy="713232"/>
          </a:xfrm>
          <a:prstGeom xmlns:a="http://schemas.openxmlformats.org/drawingml/2006/main" prst="roundRect">
            <a:avLst>
              <a:gd name="adj" fmla="val 12821"/>
            </a:avLst>
          </a:prstGeom>
          <a:solidFill xmlns:a="http://schemas.openxmlformats.org/drawingml/2006/main">
            <a:srgbClr val="F1F7F5"/>
          </a:solidFill>
          <a:ln xmlns:a="http://schemas.openxmlformats.org/drawingml/2006/main" w="12700">
            <a:solidFill>
              <a:srgbClr val="D6E3DF"/>
            </a:solidFill>
            <a:prstDash val="solid"/>
          </a:ln>
        </p:spPr>
      </p:sp>
      <p:sp>
        <p:nvSpPr>
          <p:cNvPr id="20" name="Shape 17">
            <a:extLst xmlns:a="http://schemas.openxmlformats.org/drawingml/2006/main">
              <a:ext uri="{FF2B5EF4-FFF2-40B4-BE49-F238E27FC236}">
                <a16:creationId xmlns:a16="http://schemas.microsoft.com/office/drawing/2014/main" id="{4CB94097-D903-4047-B030-337A18D5A9B1}"/>
              </a:ext>
            </a:extLst>
          </p:cNvPr>
          <p:cNvSpPr>
            <a:spLocks xmlns:a="http://schemas.openxmlformats.org/drawingml/2006/main" noGrp="1"/>
          </p:cNvSpPr>
          <p:nvPr/>
        </p:nvSpPr>
        <p:spPr>
          <a:xfrm xmlns:a="http://schemas.openxmlformats.org/drawingml/2006/main">
            <a:off x="960120" y="3977640"/>
            <a:ext cx="393192" cy="393192"/>
          </a:xfrm>
          <a:prstGeom xmlns:a="http://schemas.openxmlformats.org/drawingml/2006/main" prst="ellipse">
            <a:avLst/>
          </a:prstGeom>
          <a:solidFill xmlns:a="http://schemas.openxmlformats.org/drawingml/2006/main">
            <a:srgbClr val="0F6B72"/>
          </a:solidFill>
          <a:ln xmlns:a="http://schemas.openxmlformats.org/drawingml/2006/main" w="12700">
            <a:solidFill>
              <a:srgbClr val="0F6B72"/>
            </a:solidFill>
            <a:prstDash val="solid"/>
          </a:ln>
        </p:spPr>
      </p:sp>
      <p:sp>
        <p:nvSpPr>
          <p:cNvPr id="21" name="Text 18">
            <a:extLst xmlns:a="http://schemas.openxmlformats.org/drawingml/2006/main">
              <a:ext uri="{FF2B5EF4-FFF2-40B4-BE49-F238E27FC236}">
                <a16:creationId xmlns:a16="http://schemas.microsoft.com/office/drawing/2014/main" id="{ECD513DA-4E49-464A-831E-077D1C5D5772}"/>
              </a:ext>
            </a:extLst>
          </p:cNvPr>
          <p:cNvSpPr>
            <a:spLocks xmlns:a="http://schemas.openxmlformats.org/drawingml/2006/main" noGrp="1"/>
          </p:cNvSpPr>
          <p:nvPr/>
        </p:nvSpPr>
        <p:spPr>
          <a:xfrm xmlns:a="http://schemas.openxmlformats.org/drawingml/2006/main">
            <a:off x="960120" y="4046220"/>
            <a:ext cx="39319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FFFFFF"/>
                </a:solidFill>
              </a:rPr>
              <a:t>4</a:t>
            </a:r>
            <a:endParaRPr sz="880"/>
          </a:p>
        </p:txBody>
      </p:sp>
      <p:sp>
        <p:nvSpPr>
          <p:cNvPr id="22" name="Text 19">
            <a:extLst xmlns:a="http://schemas.openxmlformats.org/drawingml/2006/main">
              <a:ext uri="{FF2B5EF4-FFF2-40B4-BE49-F238E27FC236}">
                <a16:creationId xmlns:a16="http://schemas.microsoft.com/office/drawing/2014/main" id="{4A467B4C-315A-4A6E-B36F-6190FDD2DB51}"/>
              </a:ext>
            </a:extLst>
          </p:cNvPr>
          <p:cNvSpPr>
            <a:spLocks xmlns:a="http://schemas.openxmlformats.org/drawingml/2006/main" noGrp="1"/>
          </p:cNvSpPr>
          <p:nvPr/>
        </p:nvSpPr>
        <p:spPr>
          <a:xfrm xmlns:a="http://schemas.openxmlformats.org/drawingml/2006/main">
            <a:off x="1536192" y="3995928"/>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50" b="1">
                <a:solidFill>
                  <a:srgbClr val="1E2D36"/>
                </a:solidFill>
              </a:rPr>
              <a:t>Verifikasi lokasi dan penerapan K-Means</a:t>
            </a:r>
            <a:endParaRPr sz="1550"/>
          </a:p>
        </p:txBody>
      </p:sp>
      <p:sp>
        <p:nvSpPr>
          <p:cNvPr id="23" name="Shape 20">
            <a:extLst xmlns:a="http://schemas.openxmlformats.org/drawingml/2006/main">
              <a:ext uri="{FF2B5EF4-FFF2-40B4-BE49-F238E27FC236}">
                <a16:creationId xmlns:a16="http://schemas.microsoft.com/office/drawing/2014/main" id="{AD37FAD2-447F-44FF-A297-1CDF21C742E9}"/>
              </a:ext>
            </a:extLst>
          </p:cNvPr>
          <p:cNvSpPr>
            <a:spLocks xmlns:a="http://schemas.openxmlformats.org/drawingml/2006/main" noGrp="1"/>
          </p:cNvSpPr>
          <p:nvPr/>
        </p:nvSpPr>
        <p:spPr>
          <a:xfrm xmlns:a="http://schemas.openxmlformats.org/drawingml/2006/main">
            <a:off x="777240" y="4645152"/>
            <a:ext cx="5806440" cy="713232"/>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2700">
            <a:solidFill>
              <a:srgbClr val="D6E3DF"/>
            </a:solidFill>
            <a:prstDash val="solid"/>
          </a:ln>
        </p:spPr>
      </p:sp>
      <p:sp>
        <p:nvSpPr>
          <p:cNvPr id="24" name="Shape 21">
            <a:extLst xmlns:a="http://schemas.openxmlformats.org/drawingml/2006/main">
              <a:ext uri="{FF2B5EF4-FFF2-40B4-BE49-F238E27FC236}">
                <a16:creationId xmlns:a16="http://schemas.microsoft.com/office/drawing/2014/main" id="{34FC2DEA-561E-4042-955D-3C43B1D1E189}"/>
              </a:ext>
            </a:extLst>
          </p:cNvPr>
          <p:cNvSpPr>
            <a:spLocks xmlns:a="http://schemas.openxmlformats.org/drawingml/2006/main" noGrp="1"/>
          </p:cNvSpPr>
          <p:nvPr/>
        </p:nvSpPr>
        <p:spPr>
          <a:xfrm xmlns:a="http://schemas.openxmlformats.org/drawingml/2006/main">
            <a:off x="960120" y="4800600"/>
            <a:ext cx="393192" cy="393192"/>
          </a:xfrm>
          <a:prstGeom xmlns:a="http://schemas.openxmlformats.org/drawingml/2006/main" prst="ellipse">
            <a:avLst/>
          </a:prstGeom>
          <a:solidFill xmlns:a="http://schemas.openxmlformats.org/drawingml/2006/main">
            <a:srgbClr val="F2C94C"/>
          </a:solidFill>
          <a:ln xmlns:a="http://schemas.openxmlformats.org/drawingml/2006/main" w="12700">
            <a:solidFill>
              <a:srgbClr val="F2C94C"/>
            </a:solidFill>
            <a:prstDash val="solid"/>
          </a:ln>
        </p:spPr>
      </p:sp>
      <p:sp>
        <p:nvSpPr>
          <p:cNvPr id="25" name="Text 22">
            <a:extLst xmlns:a="http://schemas.openxmlformats.org/drawingml/2006/main">
              <a:ext uri="{FF2B5EF4-FFF2-40B4-BE49-F238E27FC236}">
                <a16:creationId xmlns:a16="http://schemas.microsoft.com/office/drawing/2014/main" id="{FDAED89E-DB7F-43E9-9A9B-0A56B4A24ED9}"/>
              </a:ext>
            </a:extLst>
          </p:cNvPr>
          <p:cNvSpPr>
            <a:spLocks xmlns:a="http://schemas.openxmlformats.org/drawingml/2006/main" noGrp="1"/>
          </p:cNvSpPr>
          <p:nvPr/>
        </p:nvSpPr>
        <p:spPr>
          <a:xfrm xmlns:a="http://schemas.openxmlformats.org/drawingml/2006/main">
            <a:off x="960120" y="4869180"/>
            <a:ext cx="39319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FFFFFF"/>
                </a:solidFill>
              </a:rPr>
              <a:t>5</a:t>
            </a:r>
            <a:endParaRPr sz="880"/>
          </a:p>
        </p:txBody>
      </p:sp>
      <p:sp>
        <p:nvSpPr>
          <p:cNvPr id="26" name="Text 23">
            <a:extLst xmlns:a="http://schemas.openxmlformats.org/drawingml/2006/main">
              <a:ext uri="{FF2B5EF4-FFF2-40B4-BE49-F238E27FC236}">
                <a16:creationId xmlns:a16="http://schemas.microsoft.com/office/drawing/2014/main" id="{EAF139E9-5347-4426-AEBC-1A6094BE6F80}"/>
              </a:ext>
            </a:extLst>
          </p:cNvPr>
          <p:cNvSpPr>
            <a:spLocks xmlns:a="http://schemas.openxmlformats.org/drawingml/2006/main" noGrp="1"/>
          </p:cNvSpPr>
          <p:nvPr/>
        </p:nvSpPr>
        <p:spPr>
          <a:xfrm xmlns:a="http://schemas.openxmlformats.org/drawingml/2006/main">
            <a:off x="1536192" y="4818888"/>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50" b="1">
                <a:solidFill>
                  <a:srgbClr val="1E2D36"/>
                </a:solidFill>
              </a:rPr>
              <a:t>Pengujian, evaluasi WCSS, dan dokumentasi hasil</a:t>
            </a:r>
            <a:endParaRPr sz="1550"/>
          </a:p>
        </p:txBody>
      </p:sp>
      <p:sp>
        <p:nvSpPr>
          <p:cNvPr id="27" name="Shape 24">
            <a:extLst xmlns:a="http://schemas.openxmlformats.org/drawingml/2006/main">
              <a:ext uri="{FF2B5EF4-FFF2-40B4-BE49-F238E27FC236}">
                <a16:creationId xmlns:a16="http://schemas.microsoft.com/office/drawing/2014/main" id="{4EF92A7F-0365-4BE2-B072-020E421AE181}"/>
              </a:ext>
            </a:extLst>
          </p:cNvPr>
          <p:cNvSpPr>
            <a:spLocks xmlns:a="http://schemas.openxmlformats.org/drawingml/2006/main" noGrp="1"/>
          </p:cNvSpPr>
          <p:nvPr/>
        </p:nvSpPr>
        <p:spPr>
          <a:xfrm xmlns:a="http://schemas.openxmlformats.org/drawingml/2006/main">
            <a:off x="777240" y="5705856"/>
            <a:ext cx="10515600" cy="320040"/>
          </a:xfrm>
          <a:prstGeom xmlns:a="http://schemas.openxmlformats.org/drawingml/2006/main" prst="roundRect">
            <a:avLst>
              <a:gd name="adj" fmla="val 34286"/>
            </a:avLst>
          </a:prstGeom>
          <a:solidFill xmlns:a="http://schemas.openxmlformats.org/drawingml/2006/main">
            <a:srgbClr val="FFF8E8"/>
          </a:solidFill>
          <a:ln xmlns:a="http://schemas.openxmlformats.org/drawingml/2006/main" w="12700">
            <a:solidFill>
              <a:srgbClr val="F6D778"/>
            </a:solidFill>
            <a:prstDash val="solid"/>
          </a:ln>
        </p:spPr>
      </p:sp>
      <p:sp>
        <p:nvSpPr>
          <p:cNvPr id="28" name="Text 25">
            <a:extLst xmlns:a="http://schemas.openxmlformats.org/drawingml/2006/main">
              <a:ext uri="{FF2B5EF4-FFF2-40B4-BE49-F238E27FC236}">
                <a16:creationId xmlns:a16="http://schemas.microsoft.com/office/drawing/2014/main" id="{05F658A9-9AB4-42FD-8F14-860C6B320109}"/>
              </a:ext>
            </a:extLst>
          </p:cNvPr>
          <p:cNvSpPr>
            <a:spLocks xmlns:a="http://schemas.openxmlformats.org/drawingml/2006/main" noGrp="1"/>
          </p:cNvSpPr>
          <p:nvPr/>
        </p:nvSpPr>
        <p:spPr>
          <a:xfrm xmlns:a="http://schemas.openxmlformats.org/drawingml/2006/main">
            <a:off x="1005840" y="5797296"/>
            <a:ext cx="1001268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50" b="1">
                <a:solidFill>
                  <a:srgbClr val="09212B"/>
                </a:solidFill>
              </a:rPr>
              <a:t>Snapshot lokal: 1.802 record UMKM, 1.743 titik dianalisis, 59 dikecualikan.</a:t>
            </a:r>
            <a:endParaRPr sz="1250"/>
          </a:p>
        </p:txBody>
      </p:sp>
      <p:sp>
        <p:nvSpPr>
          <p:cNvPr id="29" name="Slide Number Placeholder 0">
            <a:extLst xmlns:a="http://schemas.openxmlformats.org/drawingml/2006/main">
              <a:ext uri="{FF2B5EF4-FFF2-40B4-BE49-F238E27FC236}">
                <a16:creationId xmlns:a16="http://schemas.microsoft.com/office/drawing/2014/main" id="{31F5B370-8F4B-4BCE-9EE9-DD95949412B8}"/>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11664933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1B78F2-ABC3-4A43-9590-E98C01DEEC3F}"/>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Arsitektur Sistem</a:t>
            </a:r>
            <a:endParaRPr sz="3000"/>
          </a:p>
        </p:txBody>
      </p:sp>
      <p:sp>
        <p:nvSpPr>
          <p:cNvPr id="3" name="Text 1">
            <a:extLst xmlns:a="http://schemas.openxmlformats.org/drawingml/2006/main">
              <a:ext uri="{FF2B5EF4-FFF2-40B4-BE49-F238E27FC236}">
                <a16:creationId xmlns:a16="http://schemas.microsoft.com/office/drawing/2014/main" id="{5ADE00A7-4036-4BA8-89F3-3C0BF8714E5E}"/>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Aliran data antara pengguna, aplikasi, algoritma, dan backend</a:t>
            </a:r>
            <a:endParaRPr sz="1300"/>
          </a:p>
        </p:txBody>
      </p:sp>
      <p:sp>
        <p:nvSpPr>
          <p:cNvPr id="4" name="Shape 2">
            <a:extLst xmlns:a="http://schemas.openxmlformats.org/drawingml/2006/main">
              <a:ext uri="{FF2B5EF4-FFF2-40B4-BE49-F238E27FC236}">
                <a16:creationId xmlns:a16="http://schemas.microsoft.com/office/drawing/2014/main" id="{5E0212A6-C76E-4DFD-BE4B-BC542B62B91B}"/>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10F0577B-47CD-45C6-9649-17CD1015D48E}"/>
              </a:ext>
            </a:extLst>
          </p:cNvPr>
          <p:cNvSpPr>
            <a:spLocks xmlns:a="http://schemas.openxmlformats.org/drawingml/2006/main" noGrp="1"/>
          </p:cNvSpPr>
          <p:nvPr/>
        </p:nvSpPr>
        <p:spPr>
          <a:xfrm xmlns:a="http://schemas.openxmlformats.org/drawingml/2006/main">
            <a:off x="713232" y="1353312"/>
            <a:ext cx="5943600" cy="4526280"/>
          </a:xfrm>
          <a:prstGeom xmlns:a="http://schemas.openxmlformats.org/drawingml/2006/main" prst="roundRect">
            <a:avLst>
              <a:gd name="adj" fmla="val 1616"/>
            </a:avLst>
          </a:prstGeom>
          <a:solidFill xmlns:a="http://schemas.openxmlformats.org/drawingml/2006/main">
            <a:srgbClr val="FFFFFF"/>
          </a:solidFill>
          <a:ln xmlns:a="http://schemas.openxmlformats.org/drawingml/2006/main" w="12700">
            <a:solidFill>
              <a:srgbClr val="D6E3DF"/>
            </a:solidFill>
            <a:prstDash val="solid"/>
          </a:ln>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2c146077eb7f4f55"/>
          <a:stretch xmlns:a="http://schemas.openxmlformats.org/drawingml/2006/main">
            <a:fillRect l="0" t="0" r="0" b="0"/>
          </a:stretch>
        </p:blipFill>
        <p:spPr>
          <a:xfrm xmlns:a="http://schemas.openxmlformats.org/drawingml/2006/main">
            <a:off x="822960" y="1878765"/>
            <a:ext cx="5724144" cy="3475373"/>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C39C37E6-7795-4484-AFDE-0A9264149EDD}"/>
              </a:ext>
            </a:extLst>
          </p:cNvPr>
          <p:cNvSpPr>
            <a:spLocks xmlns:a="http://schemas.openxmlformats.org/drawingml/2006/main" noGrp="1"/>
          </p:cNvSpPr>
          <p:nvPr/>
        </p:nvSpPr>
        <p:spPr>
          <a:xfrm xmlns:a="http://schemas.openxmlformats.org/drawingml/2006/main">
            <a:off x="6995160" y="1417320"/>
            <a:ext cx="4160520" cy="1078992"/>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2700">
            <a:solidFill>
              <a:srgbClr val="D6E3DF"/>
            </a:solidFill>
            <a:prstDash val="solid"/>
          </a:ln>
        </p:spPr>
      </p:sp>
      <p:sp>
        <p:nvSpPr>
          <p:cNvPr id="8" name="Shape 5">
            <a:extLst xmlns:a="http://schemas.openxmlformats.org/drawingml/2006/main">
              <a:ext uri="{FF2B5EF4-FFF2-40B4-BE49-F238E27FC236}">
                <a16:creationId xmlns:a16="http://schemas.microsoft.com/office/drawing/2014/main" id="{306E134E-B1F2-450A-9178-244BFAF120E1}"/>
              </a:ext>
            </a:extLst>
          </p:cNvPr>
          <p:cNvSpPr>
            <a:spLocks xmlns:a="http://schemas.openxmlformats.org/drawingml/2006/main" noGrp="1"/>
          </p:cNvSpPr>
          <p:nvPr/>
        </p:nvSpPr>
        <p:spPr>
          <a:xfrm xmlns:a="http://schemas.openxmlformats.org/drawingml/2006/main">
            <a:off x="6995160" y="1417320"/>
            <a:ext cx="73152" cy="1078992"/>
          </a:xfrm>
          <a:prstGeom xmlns:a="http://schemas.openxmlformats.org/drawingml/2006/main" prst="rect">
            <a:avLst/>
          </a:prstGeom>
          <a:solidFill xmlns:a="http://schemas.openxmlformats.org/drawingml/2006/main">
            <a:srgbClr val="1B98A8"/>
          </a:solidFill>
          <a:ln xmlns:a="http://schemas.openxmlformats.org/drawingml/2006/main" w="12700">
            <a:solidFill>
              <a:srgbClr val="1B98A8"/>
            </a:solidFill>
            <a:prstDash val="solid"/>
          </a:ln>
        </p:spPr>
      </p:sp>
      <p:sp>
        <p:nvSpPr>
          <p:cNvPr id="9" name="Text 6">
            <a:extLst xmlns:a="http://schemas.openxmlformats.org/drawingml/2006/main">
              <a:ext uri="{FF2B5EF4-FFF2-40B4-BE49-F238E27FC236}">
                <a16:creationId xmlns:a16="http://schemas.microsoft.com/office/drawing/2014/main" id="{ABE55438-B635-4248-939E-968212920FD0}"/>
              </a:ext>
            </a:extLst>
          </p:cNvPr>
          <p:cNvSpPr>
            <a:spLocks xmlns:a="http://schemas.openxmlformats.org/drawingml/2006/main" noGrp="1"/>
          </p:cNvSpPr>
          <p:nvPr/>
        </p:nvSpPr>
        <p:spPr>
          <a:xfrm xmlns:a="http://schemas.openxmlformats.org/drawingml/2006/main">
            <a:off x="7251192" y="1618488"/>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Frontend</a:t>
            </a:r>
            <a:endParaRPr sz="1650"/>
          </a:p>
        </p:txBody>
      </p:sp>
      <p:sp>
        <p:nvSpPr>
          <p:cNvPr id="10" name="Text 7">
            <a:extLst xmlns:a="http://schemas.openxmlformats.org/drawingml/2006/main">
              <a:ext uri="{FF2B5EF4-FFF2-40B4-BE49-F238E27FC236}">
                <a16:creationId xmlns:a16="http://schemas.microsoft.com/office/drawing/2014/main" id="{35D51A07-DF40-4332-9129-BA46AD750A10}"/>
              </a:ext>
            </a:extLst>
          </p:cNvPr>
          <p:cNvSpPr>
            <a:spLocks xmlns:a="http://schemas.openxmlformats.org/drawingml/2006/main" noGrp="1"/>
          </p:cNvSpPr>
          <p:nvPr/>
        </p:nvSpPr>
        <p:spPr>
          <a:xfrm xmlns:a="http://schemas.openxmlformats.org/drawingml/2006/main">
            <a:off x="7251192" y="203911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React 19, Vite 8, Leaflet, React-Leaflet, dan marker cluster.</a:t>
            </a:r>
            <a:endParaRPr sz="1380"/>
          </a:p>
        </p:txBody>
      </p:sp>
      <p:sp>
        <p:nvSpPr>
          <p:cNvPr id="11" name="Shape 8">
            <a:extLst xmlns:a="http://schemas.openxmlformats.org/drawingml/2006/main">
              <a:ext uri="{FF2B5EF4-FFF2-40B4-BE49-F238E27FC236}">
                <a16:creationId xmlns:a16="http://schemas.microsoft.com/office/drawing/2014/main" id="{DDF16048-A6E7-4E5A-8418-C9A98FC03DBA}"/>
              </a:ext>
            </a:extLst>
          </p:cNvPr>
          <p:cNvSpPr>
            <a:spLocks xmlns:a="http://schemas.openxmlformats.org/drawingml/2006/main" noGrp="1"/>
          </p:cNvSpPr>
          <p:nvPr/>
        </p:nvSpPr>
        <p:spPr>
          <a:xfrm xmlns:a="http://schemas.openxmlformats.org/drawingml/2006/main">
            <a:off x="6995160" y="2761488"/>
            <a:ext cx="4160520" cy="1078992"/>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2700">
            <a:solidFill>
              <a:srgbClr val="D6E3DF"/>
            </a:solidFill>
            <a:prstDash val="solid"/>
          </a:ln>
        </p:spPr>
      </p:sp>
      <p:sp>
        <p:nvSpPr>
          <p:cNvPr id="12" name="Shape 9">
            <a:extLst xmlns:a="http://schemas.openxmlformats.org/drawingml/2006/main">
              <a:ext uri="{FF2B5EF4-FFF2-40B4-BE49-F238E27FC236}">
                <a16:creationId xmlns:a16="http://schemas.microsoft.com/office/drawing/2014/main" id="{FFBEDA15-1683-468C-A589-5ECDB0E8A4B7}"/>
              </a:ext>
            </a:extLst>
          </p:cNvPr>
          <p:cNvSpPr>
            <a:spLocks xmlns:a="http://schemas.openxmlformats.org/drawingml/2006/main" noGrp="1"/>
          </p:cNvSpPr>
          <p:nvPr/>
        </p:nvSpPr>
        <p:spPr>
          <a:xfrm xmlns:a="http://schemas.openxmlformats.org/drawingml/2006/main">
            <a:off x="6995160" y="2761488"/>
            <a:ext cx="73152" cy="1078992"/>
          </a:xfrm>
          <a:prstGeom xmlns:a="http://schemas.openxmlformats.org/drawingml/2006/main" prst="rect">
            <a:avLst/>
          </a:prstGeom>
          <a:solidFill xmlns:a="http://schemas.openxmlformats.org/drawingml/2006/main">
            <a:srgbClr val="0F6B72"/>
          </a:solidFill>
          <a:ln xmlns:a="http://schemas.openxmlformats.org/drawingml/2006/main" w="12700">
            <a:solidFill>
              <a:srgbClr val="0F6B72"/>
            </a:solidFill>
            <a:prstDash val="solid"/>
          </a:ln>
        </p:spPr>
      </p:sp>
      <p:sp>
        <p:nvSpPr>
          <p:cNvPr id="13" name="Text 10">
            <a:extLst xmlns:a="http://schemas.openxmlformats.org/drawingml/2006/main">
              <a:ext uri="{FF2B5EF4-FFF2-40B4-BE49-F238E27FC236}">
                <a16:creationId xmlns:a16="http://schemas.microsoft.com/office/drawing/2014/main" id="{8464EBDD-F626-483E-AFC6-91ADF00FEBE5}"/>
              </a:ext>
            </a:extLst>
          </p:cNvPr>
          <p:cNvSpPr>
            <a:spLocks xmlns:a="http://schemas.openxmlformats.org/drawingml/2006/main" noGrp="1"/>
          </p:cNvSpPr>
          <p:nvPr/>
        </p:nvSpPr>
        <p:spPr>
          <a:xfrm xmlns:a="http://schemas.openxmlformats.org/drawingml/2006/main">
            <a:off x="7251192" y="2962656"/>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Backend</a:t>
            </a:r>
            <a:endParaRPr sz="1650"/>
          </a:p>
        </p:txBody>
      </p:sp>
      <p:sp>
        <p:nvSpPr>
          <p:cNvPr id="14" name="Text 11">
            <a:extLst xmlns:a="http://schemas.openxmlformats.org/drawingml/2006/main">
              <a:ext uri="{FF2B5EF4-FFF2-40B4-BE49-F238E27FC236}">
                <a16:creationId xmlns:a16="http://schemas.microsoft.com/office/drawing/2014/main" id="{AC66B47C-7845-40E4-BCAD-17DB6EE9A026}"/>
              </a:ext>
            </a:extLst>
          </p:cNvPr>
          <p:cNvSpPr>
            <a:spLocks xmlns:a="http://schemas.openxmlformats.org/drawingml/2006/main" noGrp="1"/>
          </p:cNvSpPr>
          <p:nvPr/>
        </p:nvSpPr>
        <p:spPr>
          <a:xfrm xmlns:a="http://schemas.openxmlformats.org/drawingml/2006/main">
            <a:off x="7251192" y="3383280"/>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Supabase PostgreSQL, Authentication, RLS, RPC, dan Storage privat.</a:t>
            </a:r>
            <a:endParaRPr sz="1380"/>
          </a:p>
        </p:txBody>
      </p:sp>
      <p:sp>
        <p:nvSpPr>
          <p:cNvPr id="15" name="Shape 12">
            <a:extLst xmlns:a="http://schemas.openxmlformats.org/drawingml/2006/main">
              <a:ext uri="{FF2B5EF4-FFF2-40B4-BE49-F238E27FC236}">
                <a16:creationId xmlns:a16="http://schemas.microsoft.com/office/drawing/2014/main" id="{7A21756D-4072-4413-A86A-D43C8D371867}"/>
              </a:ext>
            </a:extLst>
          </p:cNvPr>
          <p:cNvSpPr>
            <a:spLocks xmlns:a="http://schemas.openxmlformats.org/drawingml/2006/main" noGrp="1"/>
          </p:cNvSpPr>
          <p:nvPr/>
        </p:nvSpPr>
        <p:spPr>
          <a:xfrm xmlns:a="http://schemas.openxmlformats.org/drawingml/2006/main">
            <a:off x="6995160" y="4105656"/>
            <a:ext cx="4160520" cy="1078992"/>
          </a:xfrm>
          <a:prstGeom xmlns:a="http://schemas.openxmlformats.org/drawingml/2006/main" prst="roundRect">
            <a:avLst>
              <a:gd name="adj" fmla="val 8475"/>
            </a:avLst>
          </a:prstGeom>
          <a:solidFill xmlns:a="http://schemas.openxmlformats.org/drawingml/2006/main">
            <a:srgbClr val="FFFDF2"/>
          </a:solidFill>
          <a:ln xmlns:a="http://schemas.openxmlformats.org/drawingml/2006/main" w="12700">
            <a:solidFill>
              <a:srgbClr val="D6E3DF"/>
            </a:solidFill>
            <a:prstDash val="solid"/>
          </a:ln>
        </p:spPr>
      </p:sp>
      <p:sp>
        <p:nvSpPr>
          <p:cNvPr id="16" name="Shape 13">
            <a:extLst xmlns:a="http://schemas.openxmlformats.org/drawingml/2006/main">
              <a:ext uri="{FF2B5EF4-FFF2-40B4-BE49-F238E27FC236}">
                <a16:creationId xmlns:a16="http://schemas.microsoft.com/office/drawing/2014/main" id="{B48F28E8-E2D2-489E-93DD-FB48BF42EC11}"/>
              </a:ext>
            </a:extLst>
          </p:cNvPr>
          <p:cNvSpPr>
            <a:spLocks xmlns:a="http://schemas.openxmlformats.org/drawingml/2006/main" noGrp="1"/>
          </p:cNvSpPr>
          <p:nvPr/>
        </p:nvSpPr>
        <p:spPr>
          <a:xfrm xmlns:a="http://schemas.openxmlformats.org/drawingml/2006/main">
            <a:off x="6995160" y="4105656"/>
            <a:ext cx="73152" cy="1078992"/>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17" name="Text 14">
            <a:extLst xmlns:a="http://schemas.openxmlformats.org/drawingml/2006/main">
              <a:ext uri="{FF2B5EF4-FFF2-40B4-BE49-F238E27FC236}">
                <a16:creationId xmlns:a16="http://schemas.microsoft.com/office/drawing/2014/main" id="{7E8477C6-F7C3-4D7C-AB66-BB896D0688B0}"/>
              </a:ext>
            </a:extLst>
          </p:cNvPr>
          <p:cNvSpPr>
            <a:spLocks xmlns:a="http://schemas.openxmlformats.org/drawingml/2006/main" noGrp="1"/>
          </p:cNvSpPr>
          <p:nvPr/>
        </p:nvSpPr>
        <p:spPr>
          <a:xfrm xmlns:a="http://schemas.openxmlformats.org/drawingml/2006/main">
            <a:off x="7251192" y="4306824"/>
            <a:ext cx="3657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Analisis</a:t>
            </a:r>
            <a:endParaRPr sz="1650"/>
          </a:p>
        </p:txBody>
      </p:sp>
      <p:sp>
        <p:nvSpPr>
          <p:cNvPr id="18" name="Text 15">
            <a:extLst xmlns:a="http://schemas.openxmlformats.org/drawingml/2006/main">
              <a:ext uri="{FF2B5EF4-FFF2-40B4-BE49-F238E27FC236}">
                <a16:creationId xmlns:a16="http://schemas.microsoft.com/office/drawing/2014/main" id="{54A3C318-7863-4E23-957C-D836ED813B4A}"/>
              </a:ext>
            </a:extLst>
          </p:cNvPr>
          <p:cNvSpPr>
            <a:spLocks xmlns:a="http://schemas.openxmlformats.org/drawingml/2006/main" noGrp="1"/>
          </p:cNvSpPr>
          <p:nvPr/>
        </p:nvSpPr>
        <p:spPr>
          <a:xfrm xmlns:a="http://schemas.openxmlformats.org/drawingml/2006/main">
            <a:off x="7251192" y="4727448"/>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K-Means++, Haversine, WCSS, centroid, radius, snapshot, dan hash.</a:t>
            </a:r>
            <a:endParaRPr sz="1380"/>
          </a:p>
        </p:txBody>
      </p:sp>
      <p:sp>
        <p:nvSpPr>
          <p:cNvPr id="25" name="Slide Number Placeholder 0">
            <a:extLst xmlns:a="http://schemas.openxmlformats.org/drawingml/2006/main">
              <a:ext uri="{FF2B5EF4-FFF2-40B4-BE49-F238E27FC236}">
                <a16:creationId xmlns:a16="http://schemas.microsoft.com/office/drawing/2014/main" id="{97F50A16-7484-4597-9F0B-6717875B60D5}"/>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43673422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30850AA-7C4D-4756-BF45-91F7AF9C0BC9}"/>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Kualitas Data Lokasi</a:t>
            </a:r>
            <a:endParaRPr sz="3000"/>
          </a:p>
        </p:txBody>
      </p:sp>
      <p:sp>
        <p:nvSpPr>
          <p:cNvPr id="3" name="Text 1">
            <a:extLst xmlns:a="http://schemas.openxmlformats.org/drawingml/2006/main">
              <a:ext uri="{FF2B5EF4-FFF2-40B4-BE49-F238E27FC236}">
                <a16:creationId xmlns:a16="http://schemas.microsoft.com/office/drawing/2014/main" id="{5A2F0C8D-006E-45D1-8B38-00938424DCA8}"/>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Koordinat diperlakukan sesuai tingkat kepercayaannya</a:t>
            </a:r>
            <a:endParaRPr sz="1300"/>
          </a:p>
        </p:txBody>
      </p:sp>
      <p:sp>
        <p:nvSpPr>
          <p:cNvPr id="4" name="Shape 2">
            <a:extLst xmlns:a="http://schemas.openxmlformats.org/drawingml/2006/main">
              <a:ext uri="{FF2B5EF4-FFF2-40B4-BE49-F238E27FC236}">
                <a16:creationId xmlns:a16="http://schemas.microsoft.com/office/drawing/2014/main" id="{C811A2E8-2F74-48F2-8E1B-A84DB6BE121D}"/>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0E408311-7315-422F-91F3-820CF20A5C7E}"/>
              </a:ext>
            </a:extLst>
          </p:cNvPr>
          <p:cNvSpPr>
            <a:spLocks xmlns:a="http://schemas.openxmlformats.org/drawingml/2006/main" noGrp="1"/>
          </p:cNvSpPr>
          <p:nvPr/>
        </p:nvSpPr>
        <p:spPr>
          <a:xfrm xmlns:a="http://schemas.openxmlformats.org/drawingml/2006/main">
            <a:off x="6327648" y="1325880"/>
            <a:ext cx="4956048" cy="402336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12700">
            <a:solidFill>
              <a:srgbClr val="D6E3DF"/>
            </a:solidFill>
            <a:prstDash val="solid"/>
          </a:ln>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dce69ca3d75543f5"/>
          <a:stretch xmlns:a="http://schemas.openxmlformats.org/drawingml/2006/main">
            <a:fillRect l="0" t="0" r="0" b="0"/>
          </a:stretch>
        </p:blipFill>
        <p:spPr>
          <a:xfrm xmlns:a="http://schemas.openxmlformats.org/drawingml/2006/main">
            <a:off x="6437376" y="2337613"/>
            <a:ext cx="4736592" cy="1999894"/>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EEA96A12-7FAC-4A8E-9C76-24ED3DCF1C9C}"/>
              </a:ext>
            </a:extLst>
          </p:cNvPr>
          <p:cNvSpPr>
            <a:spLocks xmlns:a="http://schemas.openxmlformats.org/drawingml/2006/main" noGrp="1"/>
          </p:cNvSpPr>
          <p:nvPr/>
        </p:nvSpPr>
        <p:spPr>
          <a:xfrm xmlns:a="http://schemas.openxmlformats.org/drawingml/2006/main">
            <a:off x="749808" y="1417320"/>
            <a:ext cx="4937760" cy="1078992"/>
          </a:xfrm>
          <a:prstGeom xmlns:a="http://schemas.openxmlformats.org/drawingml/2006/main" prst="roundRect">
            <a:avLst>
              <a:gd name="adj" fmla="val 8475"/>
            </a:avLst>
          </a:prstGeom>
          <a:solidFill xmlns:a="http://schemas.openxmlformats.org/drawingml/2006/main">
            <a:srgbClr val="EDF8F1"/>
          </a:solidFill>
          <a:ln xmlns:a="http://schemas.openxmlformats.org/drawingml/2006/main" w="12700">
            <a:solidFill>
              <a:srgbClr val="D6E3DF"/>
            </a:solidFill>
            <a:prstDash val="solid"/>
          </a:ln>
        </p:spPr>
      </p:sp>
      <p:sp>
        <p:nvSpPr>
          <p:cNvPr id="8" name="Shape 5">
            <a:extLst xmlns:a="http://schemas.openxmlformats.org/drawingml/2006/main">
              <a:ext uri="{FF2B5EF4-FFF2-40B4-BE49-F238E27FC236}">
                <a16:creationId xmlns:a16="http://schemas.microsoft.com/office/drawing/2014/main" id="{4274EC56-6DB7-447B-81B8-1B3C7203D394}"/>
              </a:ext>
            </a:extLst>
          </p:cNvPr>
          <p:cNvSpPr>
            <a:spLocks xmlns:a="http://schemas.openxmlformats.org/drawingml/2006/main" noGrp="1"/>
          </p:cNvSpPr>
          <p:nvPr/>
        </p:nvSpPr>
        <p:spPr>
          <a:xfrm xmlns:a="http://schemas.openxmlformats.org/drawingml/2006/main">
            <a:off x="749808" y="1417320"/>
            <a:ext cx="73152" cy="1078992"/>
          </a:xfrm>
          <a:prstGeom xmlns:a="http://schemas.openxmlformats.org/drawingml/2006/main" prst="rect">
            <a:avLst/>
          </a:prstGeom>
          <a:solidFill xmlns:a="http://schemas.openxmlformats.org/drawingml/2006/main">
            <a:srgbClr val="2E7D57"/>
          </a:solidFill>
          <a:ln xmlns:a="http://schemas.openxmlformats.org/drawingml/2006/main" w="12700">
            <a:solidFill>
              <a:srgbClr val="2E7D57"/>
            </a:solidFill>
            <a:prstDash val="solid"/>
          </a:ln>
        </p:spPr>
      </p:sp>
      <p:sp>
        <p:nvSpPr>
          <p:cNvPr id="9" name="Text 6">
            <a:extLst xmlns:a="http://schemas.openxmlformats.org/drawingml/2006/main">
              <a:ext uri="{FF2B5EF4-FFF2-40B4-BE49-F238E27FC236}">
                <a16:creationId xmlns:a16="http://schemas.microsoft.com/office/drawing/2014/main" id="{C1438D16-9147-41F0-994B-95D0F9133F9B}"/>
              </a:ext>
            </a:extLst>
          </p:cNvPr>
          <p:cNvSpPr>
            <a:spLocks xmlns:a="http://schemas.openxmlformats.org/drawingml/2006/main" noGrp="1"/>
          </p:cNvSpPr>
          <p:nvPr/>
        </p:nvSpPr>
        <p:spPr>
          <a:xfrm xmlns:a="http://schemas.openxmlformats.org/drawingml/2006/main">
            <a:off x="1005840" y="1618488"/>
            <a:ext cx="4434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Tepat</a:t>
            </a:r>
            <a:endParaRPr sz="1650"/>
          </a:p>
        </p:txBody>
      </p:sp>
      <p:sp>
        <p:nvSpPr>
          <p:cNvPr id="10" name="Text 7">
            <a:extLst xmlns:a="http://schemas.openxmlformats.org/drawingml/2006/main">
              <a:ext uri="{FF2B5EF4-FFF2-40B4-BE49-F238E27FC236}">
                <a16:creationId xmlns:a16="http://schemas.microsoft.com/office/drawing/2014/main" id="{A07FC1D0-875C-4D77-91CA-4A047261841B}"/>
              </a:ext>
            </a:extLst>
          </p:cNvPr>
          <p:cNvSpPr>
            <a:spLocks xmlns:a="http://schemas.openxmlformats.org/drawingml/2006/main" noGrp="1"/>
          </p:cNvSpPr>
          <p:nvPr/>
        </p:nvSpPr>
        <p:spPr>
          <a:xfrm xmlns:a="http://schemas.openxmlformats.org/drawingml/2006/main">
            <a:off x="1005840" y="2039112"/>
            <a:ext cx="4434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Koordinat sudah diperiksa dan memiliki verified_at serta verified_by.</a:t>
            </a:r>
            <a:endParaRPr sz="1380"/>
          </a:p>
        </p:txBody>
      </p:sp>
      <p:sp>
        <p:nvSpPr>
          <p:cNvPr id="11" name="Shape 8">
            <a:extLst xmlns:a="http://schemas.openxmlformats.org/drawingml/2006/main">
              <a:ext uri="{FF2B5EF4-FFF2-40B4-BE49-F238E27FC236}">
                <a16:creationId xmlns:a16="http://schemas.microsoft.com/office/drawing/2014/main" id="{098A4693-1419-4095-ADA8-1D6E645D5930}"/>
              </a:ext>
            </a:extLst>
          </p:cNvPr>
          <p:cNvSpPr>
            <a:spLocks xmlns:a="http://schemas.openxmlformats.org/drawingml/2006/main" noGrp="1"/>
          </p:cNvSpPr>
          <p:nvPr/>
        </p:nvSpPr>
        <p:spPr>
          <a:xfrm xmlns:a="http://schemas.openxmlformats.org/drawingml/2006/main">
            <a:off x="749808" y="2761488"/>
            <a:ext cx="4937760" cy="1078992"/>
          </a:xfrm>
          <a:prstGeom xmlns:a="http://schemas.openxmlformats.org/drawingml/2006/main" prst="roundRect">
            <a:avLst>
              <a:gd name="adj" fmla="val 8475"/>
            </a:avLst>
          </a:prstGeom>
          <a:solidFill xmlns:a="http://schemas.openxmlformats.org/drawingml/2006/main">
            <a:srgbClr val="FFF8E8"/>
          </a:solidFill>
          <a:ln xmlns:a="http://schemas.openxmlformats.org/drawingml/2006/main" w="12700">
            <a:solidFill>
              <a:srgbClr val="D6E3DF"/>
            </a:solidFill>
            <a:prstDash val="solid"/>
          </a:ln>
        </p:spPr>
      </p:sp>
      <p:sp>
        <p:nvSpPr>
          <p:cNvPr id="12" name="Shape 9">
            <a:extLst xmlns:a="http://schemas.openxmlformats.org/drawingml/2006/main">
              <a:ext uri="{FF2B5EF4-FFF2-40B4-BE49-F238E27FC236}">
                <a16:creationId xmlns:a16="http://schemas.microsoft.com/office/drawing/2014/main" id="{EB5F0B01-ACB6-4A6C-B69C-A19D3A17E9DC}"/>
              </a:ext>
            </a:extLst>
          </p:cNvPr>
          <p:cNvSpPr>
            <a:spLocks xmlns:a="http://schemas.openxmlformats.org/drawingml/2006/main" noGrp="1"/>
          </p:cNvSpPr>
          <p:nvPr/>
        </p:nvSpPr>
        <p:spPr>
          <a:xfrm xmlns:a="http://schemas.openxmlformats.org/drawingml/2006/main">
            <a:off x="749808" y="2761488"/>
            <a:ext cx="73152" cy="1078992"/>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13" name="Text 10">
            <a:extLst xmlns:a="http://schemas.openxmlformats.org/drawingml/2006/main">
              <a:ext uri="{FF2B5EF4-FFF2-40B4-BE49-F238E27FC236}">
                <a16:creationId xmlns:a16="http://schemas.microsoft.com/office/drawing/2014/main" id="{C7FE5EBA-E993-4BB9-B3B7-55E2C3CE42A4}"/>
              </a:ext>
            </a:extLst>
          </p:cNvPr>
          <p:cNvSpPr>
            <a:spLocks xmlns:a="http://schemas.openxmlformats.org/drawingml/2006/main" noGrp="1"/>
          </p:cNvSpPr>
          <p:nvPr/>
        </p:nvSpPr>
        <p:spPr>
          <a:xfrm xmlns:a="http://schemas.openxmlformats.org/drawingml/2006/main">
            <a:off x="1005840" y="2962656"/>
            <a:ext cx="4434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Perkiraan kecamatan</a:t>
            </a:r>
            <a:endParaRPr sz="1650"/>
          </a:p>
        </p:txBody>
      </p:sp>
      <p:sp>
        <p:nvSpPr>
          <p:cNvPr id="14" name="Text 11">
            <a:extLst xmlns:a="http://schemas.openxmlformats.org/drawingml/2006/main">
              <a:ext uri="{FF2B5EF4-FFF2-40B4-BE49-F238E27FC236}">
                <a16:creationId xmlns:a16="http://schemas.microsoft.com/office/drawing/2014/main" id="{B8979696-EE0B-4F8F-82BC-31097A85C022}"/>
              </a:ext>
            </a:extLst>
          </p:cNvPr>
          <p:cNvSpPr>
            <a:spLocks xmlns:a="http://schemas.openxmlformats.org/drawingml/2006/main" noGrp="1"/>
          </p:cNvSpPr>
          <p:nvPr/>
        </p:nvSpPr>
        <p:spPr>
          <a:xfrm xmlns:a="http://schemas.openxmlformats.org/drawingml/2006/main">
            <a:off x="1005840" y="3383280"/>
            <a:ext cx="4434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Dapat ditampilkan dan dianalisis secara eksploratif, tetapi bukan GPS usaha.</a:t>
            </a:r>
            <a:endParaRPr sz="1380"/>
          </a:p>
        </p:txBody>
      </p:sp>
      <p:sp>
        <p:nvSpPr>
          <p:cNvPr id="15" name="Shape 12">
            <a:extLst xmlns:a="http://schemas.openxmlformats.org/drawingml/2006/main">
              <a:ext uri="{FF2B5EF4-FFF2-40B4-BE49-F238E27FC236}">
                <a16:creationId xmlns:a16="http://schemas.microsoft.com/office/drawing/2014/main" id="{F06B6180-385F-455B-A1B5-6C45552DE8E5}"/>
              </a:ext>
            </a:extLst>
          </p:cNvPr>
          <p:cNvSpPr>
            <a:spLocks xmlns:a="http://schemas.openxmlformats.org/drawingml/2006/main" noGrp="1"/>
          </p:cNvSpPr>
          <p:nvPr/>
        </p:nvSpPr>
        <p:spPr>
          <a:xfrm xmlns:a="http://schemas.openxmlformats.org/drawingml/2006/main">
            <a:off x="749808" y="4105656"/>
            <a:ext cx="4937760" cy="1078992"/>
          </a:xfrm>
          <a:prstGeom xmlns:a="http://schemas.openxmlformats.org/drawingml/2006/main" prst="roundRect">
            <a:avLst>
              <a:gd name="adj" fmla="val 8475"/>
            </a:avLst>
          </a:prstGeom>
          <a:solidFill xmlns:a="http://schemas.openxmlformats.org/drawingml/2006/main">
            <a:srgbClr val="FDEDEC"/>
          </a:solidFill>
          <a:ln xmlns:a="http://schemas.openxmlformats.org/drawingml/2006/main" w="12700">
            <a:solidFill>
              <a:srgbClr val="D6E3DF"/>
            </a:solidFill>
            <a:prstDash val="solid"/>
          </a:ln>
        </p:spPr>
      </p:sp>
      <p:sp>
        <p:nvSpPr>
          <p:cNvPr id="16" name="Shape 13">
            <a:extLst xmlns:a="http://schemas.openxmlformats.org/drawingml/2006/main">
              <a:ext uri="{FF2B5EF4-FFF2-40B4-BE49-F238E27FC236}">
                <a16:creationId xmlns:a16="http://schemas.microsoft.com/office/drawing/2014/main" id="{10C5AC26-9B9A-4B15-9BDF-CC2DF15EF2F9}"/>
              </a:ext>
            </a:extLst>
          </p:cNvPr>
          <p:cNvSpPr>
            <a:spLocks xmlns:a="http://schemas.openxmlformats.org/drawingml/2006/main" noGrp="1"/>
          </p:cNvSpPr>
          <p:nvPr/>
        </p:nvSpPr>
        <p:spPr>
          <a:xfrm xmlns:a="http://schemas.openxmlformats.org/drawingml/2006/main">
            <a:off x="749808" y="4105656"/>
            <a:ext cx="73152" cy="1078992"/>
          </a:xfrm>
          <a:prstGeom xmlns:a="http://schemas.openxmlformats.org/drawingml/2006/main" prst="rect">
            <a:avLst/>
          </a:prstGeom>
          <a:solidFill xmlns:a="http://schemas.openxmlformats.org/drawingml/2006/main">
            <a:srgbClr val="D94841"/>
          </a:solidFill>
          <a:ln xmlns:a="http://schemas.openxmlformats.org/drawingml/2006/main" w="12700">
            <a:solidFill>
              <a:srgbClr val="D94841"/>
            </a:solidFill>
            <a:prstDash val="solid"/>
          </a:ln>
        </p:spPr>
      </p:sp>
      <p:sp>
        <p:nvSpPr>
          <p:cNvPr id="17" name="Text 14">
            <a:extLst xmlns:a="http://schemas.openxmlformats.org/drawingml/2006/main">
              <a:ext uri="{FF2B5EF4-FFF2-40B4-BE49-F238E27FC236}">
                <a16:creationId xmlns:a16="http://schemas.microsoft.com/office/drawing/2014/main" id="{44A49166-158E-4068-AF74-364F9E1036BD}"/>
              </a:ext>
            </a:extLst>
          </p:cNvPr>
          <p:cNvSpPr>
            <a:spLocks xmlns:a="http://schemas.openxmlformats.org/drawingml/2006/main" noGrp="1"/>
          </p:cNvSpPr>
          <p:nvPr/>
        </p:nvSpPr>
        <p:spPr>
          <a:xfrm xmlns:a="http://schemas.openxmlformats.org/drawingml/2006/main">
            <a:off x="1005840" y="4306824"/>
            <a:ext cx="4434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Belum terverifikasi</a:t>
            </a:r>
            <a:endParaRPr sz="1650"/>
          </a:p>
        </p:txBody>
      </p:sp>
      <p:sp>
        <p:nvSpPr>
          <p:cNvPr id="18" name="Text 15">
            <a:extLst xmlns:a="http://schemas.openxmlformats.org/drawingml/2006/main">
              <a:ext uri="{FF2B5EF4-FFF2-40B4-BE49-F238E27FC236}">
                <a16:creationId xmlns:a16="http://schemas.microsoft.com/office/drawing/2014/main" id="{8F0312FE-9F13-48DE-9B5D-A3A6412EDF1F}"/>
              </a:ext>
            </a:extLst>
          </p:cNvPr>
          <p:cNvSpPr>
            <a:spLocks xmlns:a="http://schemas.openxmlformats.org/drawingml/2006/main" noGrp="1"/>
          </p:cNvSpPr>
          <p:nvPr/>
        </p:nvSpPr>
        <p:spPr>
          <a:xfrm xmlns:a="http://schemas.openxmlformats.org/drawingml/2006/main">
            <a:off x="1005840" y="4727448"/>
            <a:ext cx="4434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Dikecualikan dari input K-Means karena belum cukup dipercaya.</a:t>
            </a:r>
            <a:endParaRPr sz="1380"/>
          </a:p>
        </p:txBody>
      </p:sp>
      <p:sp>
        <p:nvSpPr>
          <p:cNvPr id="19" name="Shape 16">
            <a:extLst xmlns:a="http://schemas.openxmlformats.org/drawingml/2006/main">
              <a:ext uri="{FF2B5EF4-FFF2-40B4-BE49-F238E27FC236}">
                <a16:creationId xmlns:a16="http://schemas.microsoft.com/office/drawing/2014/main" id="{FB86A9E6-15F5-47BE-9B0A-E9A8D5710DE2}"/>
              </a:ext>
            </a:extLst>
          </p:cNvPr>
          <p:cNvSpPr>
            <a:spLocks xmlns:a="http://schemas.openxmlformats.org/drawingml/2006/main" noGrp="1"/>
          </p:cNvSpPr>
          <p:nvPr/>
        </p:nvSpPr>
        <p:spPr>
          <a:xfrm xmlns:a="http://schemas.openxmlformats.org/drawingml/2006/main">
            <a:off x="749808" y="5605272"/>
            <a:ext cx="10533888" cy="438912"/>
          </a:xfrm>
          <a:prstGeom xmlns:a="http://schemas.openxmlformats.org/drawingml/2006/main" prst="roundRect">
            <a:avLst>
              <a:gd name="adj" fmla="val 25000"/>
            </a:avLst>
          </a:prstGeom>
          <a:solidFill xmlns:a="http://schemas.openxmlformats.org/drawingml/2006/main">
            <a:srgbClr val="DDF4EA"/>
          </a:solidFill>
          <a:ln xmlns:a="http://schemas.openxmlformats.org/drawingml/2006/main" w="12700">
            <a:solidFill>
              <a:srgbClr val="B8E5D7"/>
            </a:solidFill>
            <a:prstDash val="solid"/>
          </a:ln>
        </p:spPr>
      </p:sp>
      <p:sp>
        <p:nvSpPr>
          <p:cNvPr id="20" name="Text 17">
            <a:extLst xmlns:a="http://schemas.openxmlformats.org/drawingml/2006/main">
              <a:ext uri="{FF2B5EF4-FFF2-40B4-BE49-F238E27FC236}">
                <a16:creationId xmlns:a16="http://schemas.microsoft.com/office/drawing/2014/main" id="{7C4EA854-D79B-4124-A22A-3131F95C066A}"/>
              </a:ext>
            </a:extLst>
          </p:cNvPr>
          <p:cNvSpPr>
            <a:spLocks xmlns:a="http://schemas.openxmlformats.org/drawingml/2006/main" noGrp="1"/>
          </p:cNvSpPr>
          <p:nvPr/>
        </p:nvSpPr>
        <p:spPr>
          <a:xfrm xmlns:a="http://schemas.openxmlformats.org/drawingml/2006/main">
            <a:off x="960120" y="5733288"/>
            <a:ext cx="1010412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30" b="1">
                <a:solidFill>
                  <a:srgbClr val="0F6B72"/>
                </a:solidFill>
              </a:rPr>
              <a:t>Pemisahan analysis_lat/lng dan display_lat/lng mencegah tampilan peta memengaruhi hasil clustering.</a:t>
            </a:r>
            <a:endParaRPr sz="1230"/>
          </a:p>
        </p:txBody>
      </p:sp>
      <p:sp>
        <p:nvSpPr>
          <p:cNvPr id="25" name="Slide Number Placeholder 0">
            <a:extLst xmlns:a="http://schemas.openxmlformats.org/drawingml/2006/main">
              <a:ext uri="{FF2B5EF4-FFF2-40B4-BE49-F238E27FC236}">
                <a16:creationId xmlns:a16="http://schemas.microsoft.com/office/drawing/2014/main" id="{771857D1-9E3C-42BE-93EA-68E856DB0895}"/>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5325282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47A70A-ED8D-4C83-91B7-862FDD70D21F}"/>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Proses K-Means Spasial</a:t>
            </a:r>
            <a:endParaRPr sz="3000"/>
          </a:p>
        </p:txBody>
      </p:sp>
      <p:sp>
        <p:nvSpPr>
          <p:cNvPr id="3" name="Text 1">
            <a:extLst xmlns:a="http://schemas.openxmlformats.org/drawingml/2006/main">
              <a:ext uri="{FF2B5EF4-FFF2-40B4-BE49-F238E27FC236}">
                <a16:creationId xmlns:a16="http://schemas.microsoft.com/office/drawing/2014/main" id="{ED7BDB4A-C3FC-4FCE-8930-806A45CD183D}"/>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Dari titik UMKM menjadi zona berbasis kedekatan</a:t>
            </a:r>
            <a:endParaRPr sz="1300"/>
          </a:p>
        </p:txBody>
      </p:sp>
      <p:sp>
        <p:nvSpPr>
          <p:cNvPr id="4" name="Shape 2">
            <a:extLst xmlns:a="http://schemas.openxmlformats.org/drawingml/2006/main">
              <a:ext uri="{FF2B5EF4-FFF2-40B4-BE49-F238E27FC236}">
                <a16:creationId xmlns:a16="http://schemas.microsoft.com/office/drawing/2014/main" id="{E0351DB9-AD36-43C5-A937-17C1EDBE8AEC}"/>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96F57AB0-0DDC-45CE-BA59-F17F5B4F0278}"/>
              </a:ext>
            </a:extLst>
          </p:cNvPr>
          <p:cNvSpPr>
            <a:spLocks xmlns:a="http://schemas.openxmlformats.org/drawingml/2006/main" noGrp="1"/>
          </p:cNvSpPr>
          <p:nvPr/>
        </p:nvSpPr>
        <p:spPr>
          <a:xfrm xmlns:a="http://schemas.openxmlformats.org/drawingml/2006/main">
            <a:off x="777240" y="1298448"/>
            <a:ext cx="4572000" cy="4526280"/>
          </a:xfrm>
          <a:prstGeom xmlns:a="http://schemas.openxmlformats.org/drawingml/2006/main" prst="roundRect">
            <a:avLst>
              <a:gd name="adj" fmla="val 1616"/>
            </a:avLst>
          </a:prstGeom>
          <a:solidFill xmlns:a="http://schemas.openxmlformats.org/drawingml/2006/main">
            <a:srgbClr val="FFFFFF"/>
          </a:solidFill>
          <a:ln xmlns:a="http://schemas.openxmlformats.org/drawingml/2006/main" w="12700">
            <a:solidFill>
              <a:srgbClr val="D6E3DF"/>
            </a:solidFill>
            <a:prstDash val="solid"/>
          </a:ln>
        </p:spPr>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915482afff794bd3"/>
          <a:stretch xmlns:a="http://schemas.openxmlformats.org/drawingml/2006/main">
            <a:fillRect l="0" t="0" r="0" b="0"/>
          </a:stretch>
        </p:blipFill>
        <p:spPr>
          <a:xfrm xmlns:a="http://schemas.openxmlformats.org/drawingml/2006/main">
            <a:off x="886968" y="1472367"/>
            <a:ext cx="4352544" cy="4178442"/>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70453272-E5C2-4B8B-B55C-E3529B671049}"/>
              </a:ext>
            </a:extLst>
          </p:cNvPr>
          <p:cNvSpPr>
            <a:spLocks xmlns:a="http://schemas.openxmlformats.org/drawingml/2006/main" noGrp="1"/>
          </p:cNvSpPr>
          <p:nvPr/>
        </p:nvSpPr>
        <p:spPr>
          <a:xfrm xmlns:a="http://schemas.openxmlformats.org/drawingml/2006/main">
            <a:off x="5806440" y="1389888"/>
            <a:ext cx="5321808" cy="3401568"/>
          </a:xfrm>
          <a:prstGeom xmlns:a="http://schemas.openxmlformats.org/drawingml/2006/main" prst="roundRect">
            <a:avLst>
              <a:gd name="adj" fmla="val 2688"/>
            </a:avLst>
          </a:prstGeom>
          <a:solidFill xmlns:a="http://schemas.openxmlformats.org/drawingml/2006/main">
            <a:srgbClr val="FFFFFF"/>
          </a:solidFill>
          <a:ln xmlns:a="http://schemas.openxmlformats.org/drawingml/2006/main" w="12700">
            <a:solidFill>
              <a:srgbClr val="D6E3DF"/>
            </a:solidFill>
            <a:prstDash val="solid"/>
          </a:ln>
        </p:spPr>
      </p:sp>
      <p:sp>
        <p:nvSpPr>
          <p:cNvPr id="8" name="Shape 5">
            <a:extLst xmlns:a="http://schemas.openxmlformats.org/drawingml/2006/main">
              <a:ext uri="{FF2B5EF4-FFF2-40B4-BE49-F238E27FC236}">
                <a16:creationId xmlns:a16="http://schemas.microsoft.com/office/drawing/2014/main" id="{FEA266F4-A021-4C85-91AA-EF2897043133}"/>
              </a:ext>
            </a:extLst>
          </p:cNvPr>
          <p:cNvSpPr>
            <a:spLocks xmlns:a="http://schemas.openxmlformats.org/drawingml/2006/main" noGrp="1"/>
          </p:cNvSpPr>
          <p:nvPr/>
        </p:nvSpPr>
        <p:spPr>
          <a:xfrm xmlns:a="http://schemas.openxmlformats.org/drawingml/2006/main">
            <a:off x="5806440" y="1389888"/>
            <a:ext cx="73152" cy="3401568"/>
          </a:xfrm>
          <a:prstGeom xmlns:a="http://schemas.openxmlformats.org/drawingml/2006/main" prst="rect">
            <a:avLst/>
          </a:prstGeom>
          <a:solidFill xmlns:a="http://schemas.openxmlformats.org/drawingml/2006/main">
            <a:srgbClr val="0F6B72"/>
          </a:solidFill>
          <a:ln xmlns:a="http://schemas.openxmlformats.org/drawingml/2006/main" w="12700">
            <a:solidFill>
              <a:srgbClr val="0F6B72"/>
            </a:solidFill>
            <a:prstDash val="solid"/>
          </a:ln>
        </p:spPr>
      </p:sp>
      <p:sp>
        <p:nvSpPr>
          <p:cNvPr id="9" name="Text 6">
            <a:extLst xmlns:a="http://schemas.openxmlformats.org/drawingml/2006/main">
              <a:ext uri="{FF2B5EF4-FFF2-40B4-BE49-F238E27FC236}">
                <a16:creationId xmlns:a16="http://schemas.microsoft.com/office/drawing/2014/main" id="{01BE84B0-6BAC-417F-85F5-454339E2F143}"/>
              </a:ext>
            </a:extLst>
          </p:cNvPr>
          <p:cNvSpPr>
            <a:spLocks xmlns:a="http://schemas.openxmlformats.org/drawingml/2006/main" noGrp="1"/>
          </p:cNvSpPr>
          <p:nvPr/>
        </p:nvSpPr>
        <p:spPr>
          <a:xfrm xmlns:a="http://schemas.openxmlformats.org/drawingml/2006/main">
            <a:off x="6062472" y="1591056"/>
            <a:ext cx="48188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Langkah inti algoritma</a:t>
            </a:r>
            <a:endParaRPr sz="1650"/>
          </a:p>
        </p:txBody>
      </p:sp>
      <p:sp>
        <p:nvSpPr>
          <p:cNvPr id="10" name="Text 7">
            <a:extLst xmlns:a="http://schemas.openxmlformats.org/drawingml/2006/main">
              <a:ext uri="{FF2B5EF4-FFF2-40B4-BE49-F238E27FC236}">
                <a16:creationId xmlns:a16="http://schemas.microsoft.com/office/drawing/2014/main" id="{66B99B76-C190-4E7C-A48E-1C2E74B7007C}"/>
              </a:ext>
            </a:extLst>
          </p:cNvPr>
          <p:cNvSpPr>
            <a:spLocks xmlns:a="http://schemas.openxmlformats.org/drawingml/2006/main" noGrp="1"/>
          </p:cNvSpPr>
          <p:nvPr/>
        </p:nvSpPr>
        <p:spPr>
          <a:xfrm xmlns:a="http://schemas.openxmlformats.org/drawingml/2006/main">
            <a:off x="6062472" y="2011680"/>
            <a:ext cx="4818888" cy="25786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1. Mengambil UMKM aktif, published, dan mappable.</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2. Membentuk snapshot id–lat–lng yang terurut.</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3. Menentukan K dan seed deterministik.</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4. Memilih centroid awal dengan K-Means++.</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5. Menghitung jarak Haversine, cluster, WCSS, dan radius.</a:t>
            </a:r>
            <a:endParaRPr sz="1380"/>
          </a:p>
        </p:txBody>
      </p:sp>
      <p:sp>
        <p:nvSpPr>
          <p:cNvPr id="11" name="Shape 8">
            <a:extLst xmlns:a="http://schemas.openxmlformats.org/drawingml/2006/main">
              <a:ext uri="{FF2B5EF4-FFF2-40B4-BE49-F238E27FC236}">
                <a16:creationId xmlns:a16="http://schemas.microsoft.com/office/drawing/2014/main" id="{2B8DE421-2DAC-41A1-A8B3-80E25D47C700}"/>
              </a:ext>
            </a:extLst>
          </p:cNvPr>
          <p:cNvSpPr>
            <a:spLocks xmlns:a="http://schemas.openxmlformats.org/drawingml/2006/main" noGrp="1"/>
          </p:cNvSpPr>
          <p:nvPr/>
        </p:nvSpPr>
        <p:spPr>
          <a:xfrm xmlns:a="http://schemas.openxmlformats.org/drawingml/2006/main">
            <a:off x="5806440" y="5230368"/>
            <a:ext cx="5321808" cy="475488"/>
          </a:xfrm>
          <a:prstGeom xmlns:a="http://schemas.openxmlformats.org/drawingml/2006/main" prst="roundRect">
            <a:avLst>
              <a:gd name="adj" fmla="val 26923"/>
            </a:avLst>
          </a:prstGeom>
          <a:solidFill xmlns:a="http://schemas.openxmlformats.org/drawingml/2006/main">
            <a:srgbClr val="0B2F3A"/>
          </a:solidFill>
          <a:ln xmlns:a="http://schemas.openxmlformats.org/drawingml/2006/main" w="12700">
            <a:solidFill>
              <a:srgbClr val="0B2F3A"/>
            </a:solidFill>
            <a:prstDash val="solid"/>
          </a:ln>
        </p:spPr>
      </p:sp>
      <p:sp>
        <p:nvSpPr>
          <p:cNvPr id="12" name="Text 9">
            <a:extLst xmlns:a="http://schemas.openxmlformats.org/drawingml/2006/main">
              <a:ext uri="{FF2B5EF4-FFF2-40B4-BE49-F238E27FC236}">
                <a16:creationId xmlns:a16="http://schemas.microsoft.com/office/drawing/2014/main" id="{58D242C8-92E8-4A8E-BF6E-FD9EBBA3DACF}"/>
              </a:ext>
            </a:extLst>
          </p:cNvPr>
          <p:cNvSpPr>
            <a:spLocks xmlns:a="http://schemas.openxmlformats.org/drawingml/2006/main" noGrp="1"/>
          </p:cNvSpPr>
          <p:nvPr/>
        </p:nvSpPr>
        <p:spPr>
          <a:xfrm xmlns:a="http://schemas.openxmlformats.org/drawingml/2006/main">
            <a:off x="6144768" y="5385816"/>
            <a:ext cx="46634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10" b="1">
                <a:solidFill>
                  <a:srgbClr val="FFFFFF"/>
                </a:solidFill>
              </a:rPr>
              <a:t>Output: centroid, anggota cluster, radius, WCSS, snapshot, dan hash dataset.</a:t>
            </a:r>
            <a:endParaRPr sz="1210"/>
          </a:p>
        </p:txBody>
      </p:sp>
      <p:sp>
        <p:nvSpPr>
          <p:cNvPr id="25" name="Slide Number Placeholder 0">
            <a:extLst xmlns:a="http://schemas.openxmlformats.org/drawingml/2006/main">
              <a:ext uri="{FF2B5EF4-FFF2-40B4-BE49-F238E27FC236}">
                <a16:creationId xmlns:a16="http://schemas.microsoft.com/office/drawing/2014/main" id="{C3AFE14C-1944-4F61-A89D-040D0C26BA73}"/>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7334321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CE7882-006C-40A1-9123-375A88E0A90B}"/>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Hasil Implementasi dan Pengujian</a:t>
            </a:r>
            <a:endParaRPr sz="3000"/>
          </a:p>
        </p:txBody>
      </p:sp>
      <p:sp>
        <p:nvSpPr>
          <p:cNvPr id="3" name="Text 1">
            <a:extLst xmlns:a="http://schemas.openxmlformats.org/drawingml/2006/main">
              <a:ext uri="{FF2B5EF4-FFF2-40B4-BE49-F238E27FC236}">
                <a16:creationId xmlns:a16="http://schemas.microsoft.com/office/drawing/2014/main" id="{83FF0D0C-6F0D-4527-9015-0CF9271E0C70}"/>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Apa yang sudah tersedia dan sudah diuji</a:t>
            </a:r>
            <a:endParaRPr sz="1300"/>
          </a:p>
        </p:txBody>
      </p:sp>
      <p:sp>
        <p:nvSpPr>
          <p:cNvPr id="4" name="Shape 2">
            <a:extLst xmlns:a="http://schemas.openxmlformats.org/drawingml/2006/main">
              <a:ext uri="{FF2B5EF4-FFF2-40B4-BE49-F238E27FC236}">
                <a16:creationId xmlns:a16="http://schemas.microsoft.com/office/drawing/2014/main" id="{84D509A2-2F9D-4CEB-B476-6E129E7C76C2}"/>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5" name="Shape 3">
            <a:extLst xmlns:a="http://schemas.openxmlformats.org/drawingml/2006/main">
              <a:ext uri="{FF2B5EF4-FFF2-40B4-BE49-F238E27FC236}">
                <a16:creationId xmlns:a16="http://schemas.microsoft.com/office/drawing/2014/main" id="{39460E5B-2363-4577-AB40-D702F891A0B1}"/>
              </a:ext>
            </a:extLst>
          </p:cNvPr>
          <p:cNvSpPr>
            <a:spLocks xmlns:a="http://schemas.openxmlformats.org/drawingml/2006/main" noGrp="1"/>
          </p:cNvSpPr>
          <p:nvPr/>
        </p:nvSpPr>
        <p:spPr>
          <a:xfrm xmlns:a="http://schemas.openxmlformats.org/drawingml/2006/main">
            <a:off x="841248" y="1417320"/>
            <a:ext cx="214884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700">
            <a:solidFill>
              <a:srgbClr val="D6E3DF"/>
            </a:solidFill>
            <a:prstDash val="solid"/>
          </a:ln>
        </p:spPr>
      </p:sp>
      <p:sp>
        <p:nvSpPr>
          <p:cNvPr id="6" name="Text 4">
            <a:extLst xmlns:a="http://schemas.openxmlformats.org/drawingml/2006/main">
              <a:ext uri="{FF2B5EF4-FFF2-40B4-BE49-F238E27FC236}">
                <a16:creationId xmlns:a16="http://schemas.microsoft.com/office/drawing/2014/main" id="{CA2D02FC-C025-432A-BAA4-A029BD27CF7D}"/>
              </a:ext>
            </a:extLst>
          </p:cNvPr>
          <p:cNvSpPr>
            <a:spLocks xmlns:a="http://schemas.openxmlformats.org/drawingml/2006/main" noGrp="1"/>
          </p:cNvSpPr>
          <p:nvPr/>
        </p:nvSpPr>
        <p:spPr>
          <a:xfrm xmlns:a="http://schemas.openxmlformats.org/drawingml/2006/main">
            <a:off x="1005840" y="1554480"/>
            <a:ext cx="181965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0F6B72"/>
                </a:solidFill>
              </a:rPr>
              <a:t>1.802</a:t>
            </a:r>
            <a:endParaRPr sz="2400"/>
          </a:p>
        </p:txBody>
      </p:sp>
      <p:sp>
        <p:nvSpPr>
          <p:cNvPr id="7" name="Text 5">
            <a:extLst xmlns:a="http://schemas.openxmlformats.org/drawingml/2006/main">
              <a:ext uri="{FF2B5EF4-FFF2-40B4-BE49-F238E27FC236}">
                <a16:creationId xmlns:a16="http://schemas.microsoft.com/office/drawing/2014/main" id="{563C210F-CE30-4AE1-87DC-8C1E5AAFAF1A}"/>
              </a:ext>
            </a:extLst>
          </p:cNvPr>
          <p:cNvSpPr>
            <a:spLocks xmlns:a="http://schemas.openxmlformats.org/drawingml/2006/main" noGrp="1"/>
          </p:cNvSpPr>
          <p:nvPr/>
        </p:nvSpPr>
        <p:spPr>
          <a:xfrm xmlns:a="http://schemas.openxmlformats.org/drawingml/2006/main">
            <a:off x="978408" y="2002536"/>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5E7178"/>
                </a:solidFill>
              </a:rPr>
              <a:t>Record UMKM</a:t>
            </a:r>
            <a:endParaRPr sz="1050"/>
          </a:p>
        </p:txBody>
      </p:sp>
      <p:sp>
        <p:nvSpPr>
          <p:cNvPr id="8" name="Shape 6">
            <a:extLst xmlns:a="http://schemas.openxmlformats.org/drawingml/2006/main">
              <a:ext uri="{FF2B5EF4-FFF2-40B4-BE49-F238E27FC236}">
                <a16:creationId xmlns:a16="http://schemas.microsoft.com/office/drawing/2014/main" id="{D1C967A8-2F60-476F-B6BB-7CFB02616F0F}"/>
              </a:ext>
            </a:extLst>
          </p:cNvPr>
          <p:cNvSpPr>
            <a:spLocks xmlns:a="http://schemas.openxmlformats.org/drawingml/2006/main" noGrp="1"/>
          </p:cNvSpPr>
          <p:nvPr/>
        </p:nvSpPr>
        <p:spPr>
          <a:xfrm xmlns:a="http://schemas.openxmlformats.org/drawingml/2006/main">
            <a:off x="3218688" y="1417320"/>
            <a:ext cx="214884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700">
            <a:solidFill>
              <a:srgbClr val="D6E3DF"/>
            </a:solidFill>
            <a:prstDash val="solid"/>
          </a:ln>
        </p:spPr>
      </p:sp>
      <p:sp>
        <p:nvSpPr>
          <p:cNvPr id="9" name="Text 7">
            <a:extLst xmlns:a="http://schemas.openxmlformats.org/drawingml/2006/main">
              <a:ext uri="{FF2B5EF4-FFF2-40B4-BE49-F238E27FC236}">
                <a16:creationId xmlns:a16="http://schemas.microsoft.com/office/drawing/2014/main" id="{A129302E-BEDC-4E94-BD2B-83F2B867EF1B}"/>
              </a:ext>
            </a:extLst>
          </p:cNvPr>
          <p:cNvSpPr>
            <a:spLocks xmlns:a="http://schemas.openxmlformats.org/drawingml/2006/main" noGrp="1"/>
          </p:cNvSpPr>
          <p:nvPr/>
        </p:nvSpPr>
        <p:spPr>
          <a:xfrm xmlns:a="http://schemas.openxmlformats.org/drawingml/2006/main">
            <a:off x="3383280" y="1554480"/>
            <a:ext cx="181965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2E7D57"/>
                </a:solidFill>
              </a:rPr>
              <a:t>1.743</a:t>
            </a:r>
            <a:endParaRPr sz="2400"/>
          </a:p>
        </p:txBody>
      </p:sp>
      <p:sp>
        <p:nvSpPr>
          <p:cNvPr id="10" name="Text 8">
            <a:extLst xmlns:a="http://schemas.openxmlformats.org/drawingml/2006/main">
              <a:ext uri="{FF2B5EF4-FFF2-40B4-BE49-F238E27FC236}">
                <a16:creationId xmlns:a16="http://schemas.microsoft.com/office/drawing/2014/main" id="{8646650C-FED2-4DDE-8CCD-5CCEE4422D46}"/>
              </a:ext>
            </a:extLst>
          </p:cNvPr>
          <p:cNvSpPr>
            <a:spLocks xmlns:a="http://schemas.openxmlformats.org/drawingml/2006/main" noGrp="1"/>
          </p:cNvSpPr>
          <p:nvPr/>
        </p:nvSpPr>
        <p:spPr>
          <a:xfrm xmlns:a="http://schemas.openxmlformats.org/drawingml/2006/main">
            <a:off x="3355848" y="2002536"/>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5E7178"/>
                </a:solidFill>
              </a:rPr>
              <a:t>Titik dianalisis</a:t>
            </a:r>
            <a:endParaRPr sz="1050"/>
          </a:p>
        </p:txBody>
      </p:sp>
      <p:sp>
        <p:nvSpPr>
          <p:cNvPr id="11" name="Shape 9">
            <a:extLst xmlns:a="http://schemas.openxmlformats.org/drawingml/2006/main">
              <a:ext uri="{FF2B5EF4-FFF2-40B4-BE49-F238E27FC236}">
                <a16:creationId xmlns:a16="http://schemas.microsoft.com/office/drawing/2014/main" id="{164ACABF-5E16-4884-A73F-237E4E458C5D}"/>
              </a:ext>
            </a:extLst>
          </p:cNvPr>
          <p:cNvSpPr>
            <a:spLocks xmlns:a="http://schemas.openxmlformats.org/drawingml/2006/main" noGrp="1"/>
          </p:cNvSpPr>
          <p:nvPr/>
        </p:nvSpPr>
        <p:spPr>
          <a:xfrm xmlns:a="http://schemas.openxmlformats.org/drawingml/2006/main">
            <a:off x="5596128" y="1417320"/>
            <a:ext cx="214884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700">
            <a:solidFill>
              <a:srgbClr val="D6E3DF"/>
            </a:solidFill>
            <a:prstDash val="solid"/>
          </a:ln>
        </p:spPr>
      </p:sp>
      <p:sp>
        <p:nvSpPr>
          <p:cNvPr id="12" name="Text 10">
            <a:extLst xmlns:a="http://schemas.openxmlformats.org/drawingml/2006/main">
              <a:ext uri="{FF2B5EF4-FFF2-40B4-BE49-F238E27FC236}">
                <a16:creationId xmlns:a16="http://schemas.microsoft.com/office/drawing/2014/main" id="{630DE2CF-525C-4FA5-8FEA-FF466E5213CD}"/>
              </a:ext>
            </a:extLst>
          </p:cNvPr>
          <p:cNvSpPr>
            <a:spLocks xmlns:a="http://schemas.openxmlformats.org/drawingml/2006/main" noGrp="1"/>
          </p:cNvSpPr>
          <p:nvPr/>
        </p:nvSpPr>
        <p:spPr>
          <a:xfrm xmlns:a="http://schemas.openxmlformats.org/drawingml/2006/main">
            <a:off x="5760720" y="1554480"/>
            <a:ext cx="181965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F2994A"/>
                </a:solidFill>
              </a:rPr>
              <a:t>2–10</a:t>
            </a:r>
            <a:endParaRPr sz="2400"/>
          </a:p>
        </p:txBody>
      </p:sp>
      <p:sp>
        <p:nvSpPr>
          <p:cNvPr id="13" name="Text 11">
            <a:extLst xmlns:a="http://schemas.openxmlformats.org/drawingml/2006/main">
              <a:ext uri="{FF2B5EF4-FFF2-40B4-BE49-F238E27FC236}">
                <a16:creationId xmlns:a16="http://schemas.microsoft.com/office/drawing/2014/main" id="{B2FA8EEE-179F-4F7B-9141-E7B00E8BFF11}"/>
              </a:ext>
            </a:extLst>
          </p:cNvPr>
          <p:cNvSpPr>
            <a:spLocks xmlns:a="http://schemas.openxmlformats.org/drawingml/2006/main" noGrp="1"/>
          </p:cNvSpPr>
          <p:nvPr/>
        </p:nvSpPr>
        <p:spPr>
          <a:xfrm xmlns:a="http://schemas.openxmlformats.org/drawingml/2006/main">
            <a:off x="5733288" y="2002536"/>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5E7178"/>
                </a:solidFill>
              </a:rPr>
              <a:t>K diuji</a:t>
            </a:r>
            <a:endParaRPr sz="1050"/>
          </a:p>
        </p:txBody>
      </p:sp>
      <p:sp>
        <p:nvSpPr>
          <p:cNvPr id="14" name="Shape 12">
            <a:extLst xmlns:a="http://schemas.openxmlformats.org/drawingml/2006/main">
              <a:ext uri="{FF2B5EF4-FFF2-40B4-BE49-F238E27FC236}">
                <a16:creationId xmlns:a16="http://schemas.microsoft.com/office/drawing/2014/main" id="{E4CFE53D-68A1-485A-8EA7-93045C8D03BC}"/>
              </a:ext>
            </a:extLst>
          </p:cNvPr>
          <p:cNvSpPr>
            <a:spLocks xmlns:a="http://schemas.openxmlformats.org/drawingml/2006/main" noGrp="1"/>
          </p:cNvSpPr>
          <p:nvPr/>
        </p:nvSpPr>
        <p:spPr>
          <a:xfrm xmlns:a="http://schemas.openxmlformats.org/drawingml/2006/main">
            <a:off x="7973568" y="1417320"/>
            <a:ext cx="214884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2700">
            <a:solidFill>
              <a:srgbClr val="D6E3DF"/>
            </a:solidFill>
            <a:prstDash val="solid"/>
          </a:ln>
        </p:spPr>
      </p:sp>
      <p:sp>
        <p:nvSpPr>
          <p:cNvPr id="15" name="Text 13">
            <a:extLst xmlns:a="http://schemas.openxmlformats.org/drawingml/2006/main">
              <a:ext uri="{FF2B5EF4-FFF2-40B4-BE49-F238E27FC236}">
                <a16:creationId xmlns:a16="http://schemas.microsoft.com/office/drawing/2014/main" id="{6C8A5416-1434-43FC-8349-13B3566413D4}"/>
              </a:ext>
            </a:extLst>
          </p:cNvPr>
          <p:cNvSpPr>
            <a:spLocks xmlns:a="http://schemas.openxmlformats.org/drawingml/2006/main" noGrp="1"/>
          </p:cNvSpPr>
          <p:nvPr/>
        </p:nvSpPr>
        <p:spPr>
          <a:xfrm xmlns:a="http://schemas.openxmlformats.org/drawingml/2006/main">
            <a:off x="8138160" y="1554480"/>
            <a:ext cx="181965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0F6B72"/>
                </a:solidFill>
              </a:rPr>
              <a:t>Lulus</a:t>
            </a:r>
            <a:endParaRPr sz="2400"/>
          </a:p>
        </p:txBody>
      </p:sp>
      <p:sp>
        <p:nvSpPr>
          <p:cNvPr id="16" name="Text 14">
            <a:extLst xmlns:a="http://schemas.openxmlformats.org/drawingml/2006/main">
              <a:ext uri="{FF2B5EF4-FFF2-40B4-BE49-F238E27FC236}">
                <a16:creationId xmlns:a16="http://schemas.microsoft.com/office/drawing/2014/main" id="{B62E9495-1817-486B-8109-8BCED504953A}"/>
              </a:ext>
            </a:extLst>
          </p:cNvPr>
          <p:cNvSpPr>
            <a:spLocks xmlns:a="http://schemas.openxmlformats.org/drawingml/2006/main" noGrp="1"/>
          </p:cNvSpPr>
          <p:nvPr/>
        </p:nvSpPr>
        <p:spPr>
          <a:xfrm xmlns:a="http://schemas.openxmlformats.org/drawingml/2006/main">
            <a:off x="8110728" y="2002536"/>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50">
                <a:solidFill>
                  <a:srgbClr val="5E7178"/>
                </a:solidFill>
              </a:rPr>
              <a:t>Lint &amp; build</a:t>
            </a:r>
            <a:endParaRPr sz="1050"/>
          </a:p>
        </p:txBody>
      </p:sp>
      <p:sp>
        <p:nvSpPr>
          <p:cNvPr id="17" name="Shape 15">
            <a:extLst xmlns:a="http://schemas.openxmlformats.org/drawingml/2006/main">
              <a:ext uri="{FF2B5EF4-FFF2-40B4-BE49-F238E27FC236}">
                <a16:creationId xmlns:a16="http://schemas.microsoft.com/office/drawing/2014/main" id="{8FC3FC66-DCFB-4A21-8398-709B84212FF9}"/>
              </a:ext>
            </a:extLst>
          </p:cNvPr>
          <p:cNvSpPr>
            <a:spLocks xmlns:a="http://schemas.openxmlformats.org/drawingml/2006/main" noGrp="1"/>
          </p:cNvSpPr>
          <p:nvPr/>
        </p:nvSpPr>
        <p:spPr>
          <a:xfrm xmlns:a="http://schemas.openxmlformats.org/drawingml/2006/main">
            <a:off x="7333488" y="2779776"/>
            <a:ext cx="3886200" cy="2816352"/>
          </a:xfrm>
          <a:prstGeom xmlns:a="http://schemas.openxmlformats.org/drawingml/2006/main" prst="roundRect">
            <a:avLst>
              <a:gd name="adj" fmla="val 2597"/>
            </a:avLst>
          </a:prstGeom>
          <a:solidFill xmlns:a="http://schemas.openxmlformats.org/drawingml/2006/main">
            <a:srgbClr val="FFFFFF"/>
          </a:solidFill>
          <a:ln xmlns:a="http://schemas.openxmlformats.org/drawingml/2006/main" w="12700">
            <a:solidFill>
              <a:srgbClr val="D6E3DF"/>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f4745579cff244e4"/>
          <a:stretch xmlns:a="http://schemas.openxmlformats.org/drawingml/2006/main">
            <a:fillRect l="0" t="0" r="0" b="0"/>
          </a:stretch>
        </p:blipFill>
        <p:spPr>
          <a:xfrm xmlns:a="http://schemas.openxmlformats.org/drawingml/2006/main">
            <a:off x="8095691" y="2889504"/>
            <a:ext cx="2361795" cy="2596896"/>
          </a:xfrm>
          <a:prstGeom xmlns:a="http://schemas.openxmlformats.org/drawingml/2006/main" prst="rect">
            <a:avLst/>
          </a:prstGeom>
        </p:spPr>
      </p:pic>
      <p:sp>
        <p:nvSpPr>
          <p:cNvPr id="19" name="Shape 16">
            <a:extLst xmlns:a="http://schemas.openxmlformats.org/drawingml/2006/main">
              <a:ext uri="{FF2B5EF4-FFF2-40B4-BE49-F238E27FC236}">
                <a16:creationId xmlns:a16="http://schemas.microsoft.com/office/drawing/2014/main" id="{E7AB4DBC-0CF6-4850-8F85-E3CD6F8834CE}"/>
              </a:ext>
            </a:extLst>
          </p:cNvPr>
          <p:cNvSpPr>
            <a:spLocks xmlns:a="http://schemas.openxmlformats.org/drawingml/2006/main" noGrp="1"/>
          </p:cNvSpPr>
          <p:nvPr/>
        </p:nvSpPr>
        <p:spPr>
          <a:xfrm xmlns:a="http://schemas.openxmlformats.org/drawingml/2006/main">
            <a:off x="841248" y="2834640"/>
            <a:ext cx="5806440" cy="269748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12700">
            <a:solidFill>
              <a:srgbClr val="D6E3DF"/>
            </a:solidFill>
            <a:prstDash val="solid"/>
          </a:ln>
        </p:spPr>
      </p:sp>
      <p:sp>
        <p:nvSpPr>
          <p:cNvPr id="20" name="Shape 17">
            <a:extLst xmlns:a="http://schemas.openxmlformats.org/drawingml/2006/main">
              <a:ext uri="{FF2B5EF4-FFF2-40B4-BE49-F238E27FC236}">
                <a16:creationId xmlns:a16="http://schemas.microsoft.com/office/drawing/2014/main" id="{53859E51-20A1-4459-8356-901A37C44470}"/>
              </a:ext>
            </a:extLst>
          </p:cNvPr>
          <p:cNvSpPr>
            <a:spLocks xmlns:a="http://schemas.openxmlformats.org/drawingml/2006/main" noGrp="1"/>
          </p:cNvSpPr>
          <p:nvPr/>
        </p:nvSpPr>
        <p:spPr>
          <a:xfrm xmlns:a="http://schemas.openxmlformats.org/drawingml/2006/main">
            <a:off x="841248" y="2834640"/>
            <a:ext cx="73152" cy="2697480"/>
          </a:xfrm>
          <a:prstGeom xmlns:a="http://schemas.openxmlformats.org/drawingml/2006/main" prst="rect">
            <a:avLst/>
          </a:prstGeom>
          <a:solidFill xmlns:a="http://schemas.openxmlformats.org/drawingml/2006/main">
            <a:srgbClr val="0F6B72"/>
          </a:solidFill>
          <a:ln xmlns:a="http://schemas.openxmlformats.org/drawingml/2006/main" w="12700">
            <a:solidFill>
              <a:srgbClr val="0F6B72"/>
            </a:solidFill>
            <a:prstDash val="solid"/>
          </a:ln>
        </p:spPr>
      </p:sp>
      <p:sp>
        <p:nvSpPr>
          <p:cNvPr id="21" name="Text 18">
            <a:extLst xmlns:a="http://schemas.openxmlformats.org/drawingml/2006/main">
              <a:ext uri="{FF2B5EF4-FFF2-40B4-BE49-F238E27FC236}">
                <a16:creationId xmlns:a16="http://schemas.microsoft.com/office/drawing/2014/main" id="{CB7C0594-6872-4637-B68F-2F0FBD39A5DD}"/>
              </a:ext>
            </a:extLst>
          </p:cNvPr>
          <p:cNvSpPr>
            <a:spLocks xmlns:a="http://schemas.openxmlformats.org/drawingml/2006/main" noGrp="1"/>
          </p:cNvSpPr>
          <p:nvPr/>
        </p:nvSpPr>
        <p:spPr>
          <a:xfrm xmlns:a="http://schemas.openxmlformats.org/drawingml/2006/main">
            <a:off x="1097280" y="3035808"/>
            <a:ext cx="53035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Ringkasan hasil</a:t>
            </a:r>
            <a:endParaRPr sz="1650"/>
          </a:p>
        </p:txBody>
      </p:sp>
      <p:sp>
        <p:nvSpPr>
          <p:cNvPr id="22" name="Text 19">
            <a:extLst xmlns:a="http://schemas.openxmlformats.org/drawingml/2006/main">
              <a:ext uri="{FF2B5EF4-FFF2-40B4-BE49-F238E27FC236}">
                <a16:creationId xmlns:a16="http://schemas.microsoft.com/office/drawing/2014/main" id="{C9317672-D42D-4F5C-9141-20C10E6229D9}"/>
              </a:ext>
            </a:extLst>
          </p:cNvPr>
          <p:cNvSpPr>
            <a:spLocks xmlns:a="http://schemas.openxmlformats.org/drawingml/2006/main" noGrp="1"/>
          </p:cNvSpPr>
          <p:nvPr/>
        </p:nvSpPr>
        <p:spPr>
          <a:xfrm xmlns:a="http://schemas.openxmlformats.org/drawingml/2006/main">
            <a:off x="1097280" y="3456432"/>
            <a:ext cx="530352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Sistem sudah menyediakan peta publik, pencarian, filter, UMKM terdekat, rute, share, pengajuan, pelacakan, panel admin, verifikasi lokasi, K-Means, import/export, dan audit.</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ESLint dan build produksi berhasil pada 10 September 2026. Pengujian integrasi dan black-box lintas perangkat masih perlu dilengkapi.</a:t>
            </a:r>
            <a:endParaRPr sz="1380"/>
          </a:p>
        </p:txBody>
      </p:sp>
      <p:sp>
        <p:nvSpPr>
          <p:cNvPr id="25" name="Slide Number Placeholder 0">
            <a:extLst xmlns:a="http://schemas.openxmlformats.org/drawingml/2006/main">
              <a:ext uri="{FF2B5EF4-FFF2-40B4-BE49-F238E27FC236}">
                <a16:creationId xmlns:a16="http://schemas.microsoft.com/office/drawing/2014/main" id="{41E83B50-52AA-4F87-82D2-7ECE54B65322}"/>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209668929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4940046-984D-4D0E-9CE7-91A873D17502}"/>
              </a:ext>
            </a:extLst>
          </p:cNvPr>
          <p:cNvSpPr>
            <a:spLocks xmlns:a="http://schemas.openxmlformats.org/drawingml/2006/main" noGrp="1"/>
          </p:cNvSpPr>
          <p:nvPr/>
        </p:nvSpPr>
        <p:spPr>
          <a:xfrm xmlns:a="http://schemas.openxmlformats.org/drawingml/2006/main">
            <a:off x="658368" y="393192"/>
            <a:ext cx="107899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000" b="1">
                <a:solidFill>
                  <a:srgbClr val="09212B"/>
                </a:solidFill>
                <a:latin typeface="Aptos Display"/>
                <a:ea typeface="Aptos Display"/>
                <a:cs typeface="Aptos Display"/>
              </a:rPr>
              <a:t>Evaluasi Nilai K</a:t>
            </a:r>
            <a:endParaRPr sz="3000"/>
          </a:p>
        </p:txBody>
      </p:sp>
      <p:sp>
        <p:nvSpPr>
          <p:cNvPr id="3" name="Text 1">
            <a:extLst xmlns:a="http://schemas.openxmlformats.org/drawingml/2006/main">
              <a:ext uri="{FF2B5EF4-FFF2-40B4-BE49-F238E27FC236}">
                <a16:creationId xmlns:a16="http://schemas.microsoft.com/office/drawing/2014/main" id="{FF033561-81BC-4B3F-9C05-5FED3234C672}"/>
              </a:ext>
            </a:extLst>
          </p:cNvPr>
          <p:cNvSpPr>
            <a:spLocks xmlns:a="http://schemas.openxmlformats.org/drawingml/2006/main" noGrp="1"/>
          </p:cNvSpPr>
          <p:nvPr/>
        </p:nvSpPr>
        <p:spPr>
          <a:xfrm xmlns:a="http://schemas.openxmlformats.org/drawingml/2006/main">
            <a:off x="685800" y="886968"/>
            <a:ext cx="9966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00">
                <a:solidFill>
                  <a:srgbClr val="5E7178"/>
                </a:solidFill>
              </a:rPr>
              <a:t>WCSS turun secara umum, tetapi belum cukup untuk memilih K optimal</a:t>
            </a:r>
            <a:endParaRPr sz="1300"/>
          </a:p>
        </p:txBody>
      </p:sp>
      <p:sp>
        <p:nvSpPr>
          <p:cNvPr id="4" name="Shape 2">
            <a:extLst xmlns:a="http://schemas.openxmlformats.org/drawingml/2006/main">
              <a:ext uri="{FF2B5EF4-FFF2-40B4-BE49-F238E27FC236}">
                <a16:creationId xmlns:a16="http://schemas.microsoft.com/office/drawing/2014/main" id="{009311D5-90B6-411D-87CD-D2CEF43A1258}"/>
              </a:ext>
            </a:extLst>
          </p:cNvPr>
          <p:cNvSpPr>
            <a:spLocks xmlns:a="http://schemas.openxmlformats.org/drawingml/2006/main" noGrp="1"/>
          </p:cNvSpPr>
          <p:nvPr/>
        </p:nvSpPr>
        <p:spPr>
          <a:xfrm xmlns:a="http://schemas.openxmlformats.org/drawingml/2006/main">
            <a:off x="658368" y="1188720"/>
            <a:ext cx="868680" cy="64008"/>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6" name="Shape 3">
            <a:extLst xmlns:a="http://schemas.openxmlformats.org/drawingml/2006/main">
              <a:ext uri="{FF2B5EF4-FFF2-40B4-BE49-F238E27FC236}">
                <a16:creationId xmlns:a16="http://schemas.microsoft.com/office/drawing/2014/main" id="{BF60EB57-E5CC-4E4E-AFB4-370E4CBEEFDB}"/>
              </a:ext>
            </a:extLst>
          </p:cNvPr>
          <p:cNvSpPr>
            <a:spLocks xmlns:a="http://schemas.openxmlformats.org/drawingml/2006/main" noGrp="1"/>
          </p:cNvSpPr>
          <p:nvPr/>
        </p:nvSpPr>
        <p:spPr>
          <a:xfrm xmlns:a="http://schemas.openxmlformats.org/drawingml/2006/main">
            <a:off x="7635240" y="1417320"/>
            <a:ext cx="3611880" cy="3703320"/>
          </a:xfrm>
          <a:prstGeom xmlns:a="http://schemas.openxmlformats.org/drawingml/2006/main" prst="roundRect">
            <a:avLst>
              <a:gd name="adj" fmla="val 2532"/>
            </a:avLst>
          </a:prstGeom>
          <a:solidFill xmlns:a="http://schemas.openxmlformats.org/drawingml/2006/main">
            <a:srgbClr val="FFFDF2"/>
          </a:solidFill>
          <a:ln xmlns:a="http://schemas.openxmlformats.org/drawingml/2006/main" w="12700">
            <a:solidFill>
              <a:srgbClr val="D6E3DF"/>
            </a:solidFill>
            <a:prstDash val="solid"/>
          </a:ln>
        </p:spPr>
      </p:sp>
      <p:sp>
        <p:nvSpPr>
          <p:cNvPr id="7" name="Shape 4">
            <a:extLst xmlns:a="http://schemas.openxmlformats.org/drawingml/2006/main">
              <a:ext uri="{FF2B5EF4-FFF2-40B4-BE49-F238E27FC236}">
                <a16:creationId xmlns:a16="http://schemas.microsoft.com/office/drawing/2014/main" id="{12B262D0-3F60-4670-B57A-A3E9F6C60517}"/>
              </a:ext>
            </a:extLst>
          </p:cNvPr>
          <p:cNvSpPr>
            <a:spLocks xmlns:a="http://schemas.openxmlformats.org/drawingml/2006/main" noGrp="1"/>
          </p:cNvSpPr>
          <p:nvPr/>
        </p:nvSpPr>
        <p:spPr>
          <a:xfrm xmlns:a="http://schemas.openxmlformats.org/drawingml/2006/main">
            <a:off x="7635240" y="1417320"/>
            <a:ext cx="73152" cy="3703320"/>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8" name="Text 5">
            <a:extLst xmlns:a="http://schemas.openxmlformats.org/drawingml/2006/main">
              <a:ext uri="{FF2B5EF4-FFF2-40B4-BE49-F238E27FC236}">
                <a16:creationId xmlns:a16="http://schemas.microsoft.com/office/drawing/2014/main" id="{E287E1A9-859C-42F0-A088-574BF234EF5C}"/>
              </a:ext>
            </a:extLst>
          </p:cNvPr>
          <p:cNvSpPr>
            <a:spLocks xmlns:a="http://schemas.openxmlformats.org/drawingml/2006/main" noGrp="1"/>
          </p:cNvSpPr>
          <p:nvPr/>
        </p:nvSpPr>
        <p:spPr>
          <a:xfrm xmlns:a="http://schemas.openxmlformats.org/drawingml/2006/main">
            <a:off x="7891272" y="1618488"/>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Catatan evaluasi</a:t>
            </a:r>
            <a:endParaRPr sz="1650"/>
          </a:p>
        </p:txBody>
      </p:sp>
      <p:sp>
        <p:nvSpPr>
          <p:cNvPr id="9" name="Text 6">
            <a:extLst xmlns:a="http://schemas.openxmlformats.org/drawingml/2006/main">
              <a:ext uri="{FF2B5EF4-FFF2-40B4-BE49-F238E27FC236}">
                <a16:creationId xmlns:a16="http://schemas.microsoft.com/office/drawing/2014/main" id="{C5F4DD32-E988-4D59-988B-B4E62223675B}"/>
              </a:ext>
            </a:extLst>
          </p:cNvPr>
          <p:cNvSpPr>
            <a:spLocks xmlns:a="http://schemas.openxmlformats.org/drawingml/2006/main" noGrp="1"/>
          </p:cNvSpPr>
          <p:nvPr/>
        </p:nvSpPr>
        <p:spPr>
          <a:xfrm xmlns:a="http://schemas.openxmlformats.org/drawingml/2006/main">
            <a:off x="7891272" y="2039112"/>
            <a:ext cx="3108960" cy="28803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 K=3 turun 66,85% dari K=2.</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 K=5 turun 60,12% dari K=4.</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 K=9 naik 10,53% dari K=8.</a:t>
            </a:r>
            <a:endParaRPr sz="1380"/>
          </a:p>
          <a:p xmlns:a="http://schemas.openxmlformats.org/drawingml/2006/main">
            <a:pPr marL="0" indent="0">
              <a:buNone/>
            </a:pPr>
            <a:endParaRPr sz="1380"/>
          </a:p>
          <a:p xmlns:a="http://schemas.openxmlformats.org/drawingml/2006/main">
            <a:pPr marL="0" indent="0">
              <a:buNone/>
            </a:pPr>
            <a:r>
              <a:rPr sz="1380">
                <a:solidFill>
                  <a:srgbClr val="1E2D36"/>
                </a:solidFill>
              </a:rPr>
              <a:t>• Karena kurva tidak monoton, nilai K optimal belum ditetapkan hanya dari satu run per K.</a:t>
            </a:r>
            <a:endParaRPr sz="1380"/>
          </a:p>
        </p:txBody>
      </p:sp>
      <p:sp>
        <p:nvSpPr>
          <p:cNvPr id="10" name="Shape 7">
            <a:extLst xmlns:a="http://schemas.openxmlformats.org/drawingml/2006/main">
              <a:ext uri="{FF2B5EF4-FFF2-40B4-BE49-F238E27FC236}">
                <a16:creationId xmlns:a16="http://schemas.microsoft.com/office/drawing/2014/main" id="{1022B920-142D-4F21-9B92-0494E59E625F}"/>
              </a:ext>
            </a:extLst>
          </p:cNvPr>
          <p:cNvSpPr>
            <a:spLocks xmlns:a="http://schemas.openxmlformats.org/drawingml/2006/main" noGrp="1"/>
          </p:cNvSpPr>
          <p:nvPr/>
        </p:nvSpPr>
        <p:spPr>
          <a:xfrm xmlns:a="http://schemas.openxmlformats.org/drawingml/2006/main">
            <a:off x="777240" y="5568696"/>
            <a:ext cx="10469880" cy="457200"/>
          </a:xfrm>
          <a:prstGeom xmlns:a="http://schemas.openxmlformats.org/drawingml/2006/main" prst="roundRect">
            <a:avLst>
              <a:gd name="adj" fmla="val 24000"/>
            </a:avLst>
          </a:prstGeom>
          <a:solidFill xmlns:a="http://schemas.openxmlformats.org/drawingml/2006/main">
            <a:srgbClr val="FDEDEC"/>
          </a:solidFill>
          <a:ln xmlns:a="http://schemas.openxmlformats.org/drawingml/2006/main" w="12700">
            <a:solidFill>
              <a:srgbClr val="F2C1BD"/>
            </a:solidFill>
            <a:prstDash val="solid"/>
          </a:ln>
        </p:spPr>
      </p:sp>
      <p:sp>
        <p:nvSpPr>
          <p:cNvPr id="11" name="Text 8">
            <a:extLst xmlns:a="http://schemas.openxmlformats.org/drawingml/2006/main">
              <a:ext uri="{FF2B5EF4-FFF2-40B4-BE49-F238E27FC236}">
                <a16:creationId xmlns:a16="http://schemas.microsoft.com/office/drawing/2014/main" id="{DEEED7B9-8B7A-456E-93F0-E9E98E204A64}"/>
              </a:ext>
            </a:extLst>
          </p:cNvPr>
          <p:cNvSpPr>
            <a:spLocks xmlns:a="http://schemas.openxmlformats.org/drawingml/2006/main" noGrp="1"/>
          </p:cNvSpPr>
          <p:nvPr/>
        </p:nvSpPr>
        <p:spPr>
          <a:xfrm xmlns:a="http://schemas.openxmlformats.org/drawingml/2006/main">
            <a:off x="1005840" y="5705856"/>
            <a:ext cx="1001268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50" b="1">
                <a:solidFill>
                  <a:srgbClr val="D94841"/>
                </a:solidFill>
              </a:rPr>
              <a:t>Kesimpulan: perlu multi-start atau metode evaluasi tambahan sebelum memilih elbow final.</a:t>
            </a:r>
            <a:endParaRPr sz="1250"/>
          </a:p>
        </p:txBody>
      </p:sp>
      <p:sp>
        <p:nvSpPr>
          <p:cNvPr id="25" name="Slide Number Placeholder 0">
            <a:extLst xmlns:a="http://schemas.openxmlformats.org/drawingml/2006/main">
              <a:ext uri="{FF2B5EF4-FFF2-40B4-BE49-F238E27FC236}">
                <a16:creationId xmlns:a16="http://schemas.microsoft.com/office/drawing/2014/main" id="{3FC39FBE-810A-4083-95A1-12CCFE5BED0E}"/>
              </a:ext>
            </a:extLst>
          </p:cNvPr>
          <p:cNvSpPr>
            <a:spLocks xmlns:a="http://schemas.openxmlformats.org/drawingml/2006/main" noGrp="1"/>
          </p:cNvSpPr>
          <p:nvPr>
            <p:ph type="sldNum" idx="4294967295"/>
          </p:nvPr>
        </p:nvSpPr>
        <p:spPr>
          <a:xfrm xmlns:a="http://schemas.openxmlformats.org/drawingml/2006/main">
            <a:off x="11045952" y="6510528"/>
            <a:ext cx="502920" cy="219456"/>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6B7B84"/>
                </a:solidFill>
                <a:latin typeface="Aptos"/>
                <a:ea typeface="Aptos"/>
                <a:cs typeface="Aptos"/>
              </a:defRPr>
            </a:lvl1pPr>
          </a:lstStyle>
          <a:p xmlns:a="http://schemas.openxmlformats.org/drawingml/2006/main">
            <a:pPr algn="r">
              <a:buNone/>
            </a:pPr>
            <a:fld id="{F7021451-1387-4CA6-816F-3879F97B5CBC}" type="slidenum">
              <a:rPr b="0"/>
              <a:t>11</a:t>
            </a:fld>
            <a:endParaRP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7c364315b414ffd"/>
          <a:srcRect xmlns:a="http://schemas.openxmlformats.org/drawingml/2006/main" l="0" t="33" r="0" b="33"/>
          <a:stretch xmlns:a="http://schemas.openxmlformats.org/drawingml/2006/main">
            <a:fillRect l="0" t="0" r="0" b="0"/>
          </a:stretch>
        </p:blipFill>
        <p:spPr>
          <a:xfrm xmlns:a="http://schemas.openxmlformats.org/drawingml/2006/main">
            <a:off x="777240" y="1325880"/>
            <a:ext cx="6446520" cy="3977640"/>
          </a:xfrm>
          <a:prstGeom xmlns:a="http://schemas.openxmlformats.org/drawingml/2006/main" prst="rect">
            <a:avLst/>
          </a:prstGeom>
        </p:spPr>
      </p:pic>
    </p:spTree>
    <p:extLst>
      <p:ext uri="{BB962C8B-B14F-4D97-AF65-F5344CB8AC3E}">
        <p14:creationId xmlns:p14="http://schemas.microsoft.com/office/powerpoint/2010/main" val="1836052595"/>
      </p:ext>
    </p:extLst>
  </p:cSld>
</p:sld>
</file>

<file path=ppt/slides/slide12.xml><?xml version="1.0" encoding="utf-8"?>
<p:sld xmlns:p="http://schemas.openxmlformats.org/presentationml/2006/main">
  <p:cSld>
    <p:bg>
      <p:bgPr>
        <a:solidFill xmlns:a="http://schemas.openxmlformats.org/drawingml/2006/main">
          <a:srgbClr val="0B2F3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D907728-EAB4-41E1-926B-E842DBEA6BBB}"/>
              </a:ext>
            </a:extLst>
          </p:cNvPr>
          <p:cNvSpPr>
            <a:spLocks xmlns:a="http://schemas.openxmlformats.org/drawingml/2006/main" noGrp="1"/>
          </p:cNvSpPr>
          <p:nvPr/>
        </p:nvSpPr>
        <p:spPr>
          <a:xfrm xmlns:a="http://schemas.openxmlformats.org/drawingml/2006/main">
            <a:off x="713232" y="566928"/>
            <a:ext cx="2148840" cy="329184"/>
          </a:xfrm>
          <a:prstGeom xmlns:a="http://schemas.openxmlformats.org/drawingml/2006/main" prst="roundRect">
            <a:avLst>
              <a:gd name="adj" fmla="val 33333"/>
            </a:avLst>
          </a:prstGeom>
          <a:solidFill xmlns:a="http://schemas.openxmlformats.org/drawingml/2006/main">
            <a:srgbClr val="E6F4F1"/>
          </a:solidFill>
          <a:ln xmlns:a="http://schemas.openxmlformats.org/drawingml/2006/main" w="12700">
            <a:solidFill>
              <a:srgbClr val="CFE6DF"/>
            </a:solidFill>
            <a:prstDash val="solid"/>
          </a:ln>
        </p:spPr>
      </p:sp>
      <p:sp>
        <p:nvSpPr>
          <p:cNvPr id="3" name="Text 1">
            <a:extLst xmlns:a="http://schemas.openxmlformats.org/drawingml/2006/main">
              <a:ext uri="{FF2B5EF4-FFF2-40B4-BE49-F238E27FC236}">
                <a16:creationId xmlns:a16="http://schemas.microsoft.com/office/drawing/2014/main" id="{4A38C3AC-03FE-43BF-B1DB-A6B7CC8BDD85}"/>
              </a:ext>
            </a:extLst>
          </p:cNvPr>
          <p:cNvSpPr>
            <a:spLocks xmlns:a="http://schemas.openxmlformats.org/drawingml/2006/main" noGrp="1"/>
          </p:cNvSpPr>
          <p:nvPr/>
        </p:nvSpPr>
        <p:spPr>
          <a:xfrm xmlns:a="http://schemas.openxmlformats.org/drawingml/2006/main">
            <a:off x="713232" y="640080"/>
            <a:ext cx="214884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80" b="1">
                <a:solidFill>
                  <a:srgbClr val="0F6B72"/>
                </a:solidFill>
              </a:rPr>
              <a:t>KESIMPULAN</a:t>
            </a:r>
            <a:endParaRPr sz="980"/>
          </a:p>
        </p:txBody>
      </p:sp>
      <p:sp>
        <p:nvSpPr>
          <p:cNvPr id="4" name="Text 2">
            <a:extLst xmlns:a="http://schemas.openxmlformats.org/drawingml/2006/main">
              <a:ext uri="{FF2B5EF4-FFF2-40B4-BE49-F238E27FC236}">
                <a16:creationId xmlns:a16="http://schemas.microsoft.com/office/drawing/2014/main" id="{D0CEF610-5E73-4ED0-A3E5-07C21FB66A23}"/>
              </a:ext>
            </a:extLst>
          </p:cNvPr>
          <p:cNvSpPr>
            <a:spLocks xmlns:a="http://schemas.openxmlformats.org/drawingml/2006/main" noGrp="1"/>
          </p:cNvSpPr>
          <p:nvPr/>
        </p:nvSpPr>
        <p:spPr>
          <a:xfrm xmlns:a="http://schemas.openxmlformats.org/drawingml/2006/main">
            <a:off x="713232" y="1143000"/>
            <a:ext cx="507492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600" b="1">
                <a:solidFill>
                  <a:srgbClr val="FFFFFF"/>
                </a:solidFill>
                <a:latin typeface="Aptos Display"/>
                <a:ea typeface="Aptos Display"/>
                <a:cs typeface="Aptos Display"/>
              </a:rPr>
              <a:t>Kesimpulan dan Saran</a:t>
            </a:r>
            <a:endParaRPr sz="3600"/>
          </a:p>
        </p:txBody>
      </p:sp>
      <p:sp>
        <p:nvSpPr>
          <p:cNvPr id="5" name="Shape 3">
            <a:extLst xmlns:a="http://schemas.openxmlformats.org/drawingml/2006/main">
              <a:ext uri="{FF2B5EF4-FFF2-40B4-BE49-F238E27FC236}">
                <a16:creationId xmlns:a16="http://schemas.microsoft.com/office/drawing/2014/main" id="{464D302C-6E1A-42F4-AF69-2AA1ACE98285}"/>
              </a:ext>
            </a:extLst>
          </p:cNvPr>
          <p:cNvSpPr>
            <a:spLocks xmlns:a="http://schemas.openxmlformats.org/drawingml/2006/main" noGrp="1"/>
          </p:cNvSpPr>
          <p:nvPr/>
        </p:nvSpPr>
        <p:spPr>
          <a:xfrm xmlns:a="http://schemas.openxmlformats.org/drawingml/2006/main">
            <a:off x="749808" y="2148840"/>
            <a:ext cx="4846320" cy="301752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2700">
            <a:solidFill>
              <a:srgbClr val="D6E3DF"/>
            </a:solidFill>
            <a:prstDash val="solid"/>
          </a:ln>
        </p:spPr>
      </p:sp>
      <p:sp>
        <p:nvSpPr>
          <p:cNvPr id="6" name="Shape 4">
            <a:extLst xmlns:a="http://schemas.openxmlformats.org/drawingml/2006/main">
              <a:ext uri="{FF2B5EF4-FFF2-40B4-BE49-F238E27FC236}">
                <a16:creationId xmlns:a16="http://schemas.microsoft.com/office/drawing/2014/main" id="{C5771E3F-D799-45E6-9ACE-60E6D1456C6E}"/>
              </a:ext>
            </a:extLst>
          </p:cNvPr>
          <p:cNvSpPr>
            <a:spLocks xmlns:a="http://schemas.openxmlformats.org/drawingml/2006/main" noGrp="1"/>
          </p:cNvSpPr>
          <p:nvPr/>
        </p:nvSpPr>
        <p:spPr>
          <a:xfrm xmlns:a="http://schemas.openxmlformats.org/drawingml/2006/main">
            <a:off x="749808" y="2148840"/>
            <a:ext cx="73152" cy="3017520"/>
          </a:xfrm>
          <a:prstGeom xmlns:a="http://schemas.openxmlformats.org/drawingml/2006/main" prst="rect">
            <a:avLst/>
          </a:prstGeom>
          <a:solidFill xmlns:a="http://schemas.openxmlformats.org/drawingml/2006/main">
            <a:srgbClr val="0F6B72"/>
          </a:solidFill>
          <a:ln xmlns:a="http://schemas.openxmlformats.org/drawingml/2006/main" w="12700">
            <a:solidFill>
              <a:srgbClr val="0F6B72"/>
            </a:solidFill>
            <a:prstDash val="solid"/>
          </a:ln>
        </p:spPr>
      </p:sp>
      <p:sp>
        <p:nvSpPr>
          <p:cNvPr id="7" name="Text 5">
            <a:extLst xmlns:a="http://schemas.openxmlformats.org/drawingml/2006/main">
              <a:ext uri="{FF2B5EF4-FFF2-40B4-BE49-F238E27FC236}">
                <a16:creationId xmlns:a16="http://schemas.microsoft.com/office/drawing/2014/main" id="{D3F2AE83-B325-497E-984B-6F7A7B3DDB4E}"/>
              </a:ext>
            </a:extLst>
          </p:cNvPr>
          <p:cNvSpPr>
            <a:spLocks xmlns:a="http://schemas.openxmlformats.org/drawingml/2006/main" noGrp="1"/>
          </p:cNvSpPr>
          <p:nvPr/>
        </p:nvSpPr>
        <p:spPr>
          <a:xfrm xmlns:a="http://schemas.openxmlformats.org/drawingml/2006/main">
            <a:off x="1005840" y="2350008"/>
            <a:ext cx="4343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Kesimpulan</a:t>
            </a:r>
            <a:endParaRPr sz="1650"/>
          </a:p>
        </p:txBody>
      </p:sp>
      <p:sp>
        <p:nvSpPr>
          <p:cNvPr id="8" name="Text 6">
            <a:extLst xmlns:a="http://schemas.openxmlformats.org/drawingml/2006/main">
              <a:ext uri="{FF2B5EF4-FFF2-40B4-BE49-F238E27FC236}">
                <a16:creationId xmlns:a16="http://schemas.microsoft.com/office/drawing/2014/main" id="{CD2A56E3-D24F-4E74-BC51-D436C483DEA1}"/>
              </a:ext>
            </a:extLst>
          </p:cNvPr>
          <p:cNvSpPr>
            <a:spLocks xmlns:a="http://schemas.openxmlformats.org/drawingml/2006/main" noGrp="1"/>
          </p:cNvSpPr>
          <p:nvPr/>
        </p:nvSpPr>
        <p:spPr>
          <a:xfrm xmlns:a="http://schemas.openxmlformats.org/drawingml/2006/main">
            <a:off x="1005840" y="2770632"/>
            <a:ext cx="434340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Sistem Web GIS berhasil mengintegrasikan pemetaan UMKM, layanan publik, panel admin, kualitas lokasi, dan K-Means. Hasil analisis dapat ditelusuri melalui snapshot, hash, parameter, WCSS, centroid, dan radius.</a:t>
            </a:r>
            <a:endParaRPr sz="1380"/>
          </a:p>
        </p:txBody>
      </p:sp>
      <p:sp>
        <p:nvSpPr>
          <p:cNvPr id="9" name="Shape 7">
            <a:extLst xmlns:a="http://schemas.openxmlformats.org/drawingml/2006/main">
              <a:ext uri="{FF2B5EF4-FFF2-40B4-BE49-F238E27FC236}">
                <a16:creationId xmlns:a16="http://schemas.microsoft.com/office/drawing/2014/main" id="{29BFE928-7E46-4556-A0BA-5C0378F553F8}"/>
              </a:ext>
            </a:extLst>
          </p:cNvPr>
          <p:cNvSpPr>
            <a:spLocks xmlns:a="http://schemas.openxmlformats.org/drawingml/2006/main" noGrp="1"/>
          </p:cNvSpPr>
          <p:nvPr/>
        </p:nvSpPr>
        <p:spPr>
          <a:xfrm xmlns:a="http://schemas.openxmlformats.org/drawingml/2006/main">
            <a:off x="5961888" y="2148840"/>
            <a:ext cx="4846320" cy="3017520"/>
          </a:xfrm>
          <a:prstGeom xmlns:a="http://schemas.openxmlformats.org/drawingml/2006/main" prst="roundRect">
            <a:avLst>
              <a:gd name="adj" fmla="val 3030"/>
            </a:avLst>
          </a:prstGeom>
          <a:solidFill xmlns:a="http://schemas.openxmlformats.org/drawingml/2006/main">
            <a:srgbClr val="FFFDF2"/>
          </a:solidFill>
          <a:ln xmlns:a="http://schemas.openxmlformats.org/drawingml/2006/main" w="12700">
            <a:solidFill>
              <a:srgbClr val="D6E3DF"/>
            </a:solidFill>
            <a:prstDash val="solid"/>
          </a:ln>
        </p:spPr>
      </p:sp>
      <p:sp>
        <p:nvSpPr>
          <p:cNvPr id="10" name="Shape 8">
            <a:extLst xmlns:a="http://schemas.openxmlformats.org/drawingml/2006/main">
              <a:ext uri="{FF2B5EF4-FFF2-40B4-BE49-F238E27FC236}">
                <a16:creationId xmlns:a16="http://schemas.microsoft.com/office/drawing/2014/main" id="{259CA332-54BA-46D1-9ADA-E12089C86F80}"/>
              </a:ext>
            </a:extLst>
          </p:cNvPr>
          <p:cNvSpPr>
            <a:spLocks xmlns:a="http://schemas.openxmlformats.org/drawingml/2006/main" noGrp="1"/>
          </p:cNvSpPr>
          <p:nvPr/>
        </p:nvSpPr>
        <p:spPr>
          <a:xfrm xmlns:a="http://schemas.openxmlformats.org/drawingml/2006/main">
            <a:off x="5961888" y="2148840"/>
            <a:ext cx="73152" cy="3017520"/>
          </a:xfrm>
          <a:prstGeom xmlns:a="http://schemas.openxmlformats.org/drawingml/2006/main" prst="rect">
            <a:avLst/>
          </a:prstGeom>
          <a:solidFill xmlns:a="http://schemas.openxmlformats.org/drawingml/2006/main">
            <a:srgbClr val="F2C94C"/>
          </a:solidFill>
          <a:ln xmlns:a="http://schemas.openxmlformats.org/drawingml/2006/main" w="12700">
            <a:solidFill>
              <a:srgbClr val="F2C94C"/>
            </a:solidFill>
            <a:prstDash val="solid"/>
          </a:ln>
        </p:spPr>
      </p:sp>
      <p:sp>
        <p:nvSpPr>
          <p:cNvPr id="11" name="Text 9">
            <a:extLst xmlns:a="http://schemas.openxmlformats.org/drawingml/2006/main">
              <a:ext uri="{FF2B5EF4-FFF2-40B4-BE49-F238E27FC236}">
                <a16:creationId xmlns:a16="http://schemas.microsoft.com/office/drawing/2014/main" id="{DE9368C8-B318-4598-A659-4B501EDA6667}"/>
              </a:ext>
            </a:extLst>
          </p:cNvPr>
          <p:cNvSpPr>
            <a:spLocks xmlns:a="http://schemas.openxmlformats.org/drawingml/2006/main" noGrp="1"/>
          </p:cNvSpPr>
          <p:nvPr/>
        </p:nvSpPr>
        <p:spPr>
          <a:xfrm xmlns:a="http://schemas.openxmlformats.org/drawingml/2006/main">
            <a:off x="6217920" y="2350008"/>
            <a:ext cx="4343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50" b="1">
                <a:solidFill>
                  <a:srgbClr val="09212B"/>
                </a:solidFill>
              </a:rPr>
              <a:t>Saran</a:t>
            </a:r>
            <a:endParaRPr sz="1650"/>
          </a:p>
        </p:txBody>
      </p:sp>
      <p:sp>
        <p:nvSpPr>
          <p:cNvPr id="12" name="Text 10">
            <a:extLst xmlns:a="http://schemas.openxmlformats.org/drawingml/2006/main">
              <a:ext uri="{FF2B5EF4-FFF2-40B4-BE49-F238E27FC236}">
                <a16:creationId xmlns:a16="http://schemas.microsoft.com/office/drawing/2014/main" id="{2697369E-5A2D-4CE9-A664-BBCC5A8D7BB0}"/>
              </a:ext>
            </a:extLst>
          </p:cNvPr>
          <p:cNvSpPr>
            <a:spLocks xmlns:a="http://schemas.openxmlformats.org/drawingml/2006/main" noGrp="1"/>
          </p:cNvSpPr>
          <p:nvPr/>
        </p:nvSpPr>
        <p:spPr>
          <a:xfrm xmlns:a="http://schemas.openxmlformats.org/drawingml/2006/main">
            <a:off x="6217920" y="2770632"/>
            <a:ext cx="434340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1380">
                <a:solidFill>
                  <a:srgbClr val="1E2D36"/>
                </a:solidFill>
              </a:rPr>
              <a:t>Tingkatkan verifikasi koordinat, jalankan K-Means dengan beberapa inisialisasi, lengkapi pengujian integrasi dan black-box, serta tambahkan evaluasi cluster seperti Silhouette Score atau metode pembanding.</a:t>
            </a:r>
            <a:endParaRPr sz="1380"/>
          </a:p>
        </p:txBody>
      </p:sp>
      <p:sp>
        <p:nvSpPr>
          <p:cNvPr id="13" name="Text 11">
            <a:extLst xmlns:a="http://schemas.openxmlformats.org/drawingml/2006/main">
              <a:ext uri="{FF2B5EF4-FFF2-40B4-BE49-F238E27FC236}">
                <a16:creationId xmlns:a16="http://schemas.microsoft.com/office/drawing/2014/main" id="{524F2CD5-A45C-431D-A8E4-A57D6F8F6317}"/>
              </a:ext>
            </a:extLst>
          </p:cNvPr>
          <p:cNvSpPr>
            <a:spLocks xmlns:a="http://schemas.openxmlformats.org/drawingml/2006/main" noGrp="1"/>
          </p:cNvSpPr>
          <p:nvPr/>
        </p:nvSpPr>
        <p:spPr>
          <a:xfrm xmlns:a="http://schemas.openxmlformats.org/drawingml/2006/main">
            <a:off x="749808" y="5815584"/>
            <a:ext cx="32004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F2C94C"/>
                </a:solidFill>
              </a:rPr>
              <a:t>Terima kasih</a:t>
            </a:r>
            <a:endParaRPr sz="2400"/>
          </a:p>
        </p:txBody>
      </p:sp>
      <p:sp>
        <p:nvSpPr>
          <p:cNvPr id="14" name="Text 12">
            <a:extLst xmlns:a="http://schemas.openxmlformats.org/drawingml/2006/main">
              <a:ext uri="{FF2B5EF4-FFF2-40B4-BE49-F238E27FC236}">
                <a16:creationId xmlns:a16="http://schemas.microsoft.com/office/drawing/2014/main" id="{C426C0AA-37B3-4ED4-A63D-777FABE3719F}"/>
              </a:ext>
            </a:extLst>
          </p:cNvPr>
          <p:cNvSpPr>
            <a:spLocks xmlns:a="http://schemas.openxmlformats.org/drawingml/2006/main" noGrp="1"/>
          </p:cNvSpPr>
          <p:nvPr/>
        </p:nvSpPr>
        <p:spPr>
          <a:xfrm xmlns:a="http://schemas.openxmlformats.org/drawingml/2006/main">
            <a:off x="3977640" y="5879592"/>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D9F3EF"/>
                </a:solidFill>
              </a:rPr>
              <a:t>Pertanyaan dan diskusi</a:t>
            </a:r>
            <a:endParaRPr sz="1200"/>
          </a:p>
        </p:txBody>
      </p:sp>
    </p:spTree>
    <p:extLst>
      <p:ext uri="{BB962C8B-B14F-4D97-AF65-F5344CB8AC3E}">
        <p14:creationId xmlns:p14="http://schemas.microsoft.com/office/powerpoint/2010/main" val="446397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2026-09-11T00:05:56.2410000Z</dcterms:created>
  <dcterms:modified xsi:type="dcterms:W3CDTF">2026-09-11T00:05:56.2410000Z</dcterms:modified>
</coreProperties>
</file>