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8" d="100"/>
          <a:sy n="98" d="100"/>
        </p:scale>
        <p:origin x="8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WCSS</c:v>
                </c:pt>
              </c:strCache>
            </c:strRef>
          </c:tx>
          <c:spPr>
            <a:ln w="31750" cap="flat">
              <a:solidFill>
                <a:srgbClr val="0F6B72"/>
              </a:solidFill>
              <a:prstDash val="solid"/>
              <a:round/>
            </a:ln>
            <a:effectLst/>
          </c:spPr>
          <c:marker>
            <c:symbol val="circle"/>
            <c:size val="6"/>
            <c:spPr>
              <a:solidFill>
                <a:srgbClr val="0F6B72"/>
              </a:solidFill>
              <a:ln w="9525" cap="flat">
                <a:solidFill>
                  <a:srgbClr val="0F6B72"/>
                </a:solidFill>
                <a:prstDash val="solid"/>
                <a:round/>
              </a:ln>
              <a:effectLst/>
            </c:spPr>
          </c:marker>
          <c:cat>
            <c:strRef>
              <c:f>Sheet1!$A$2:$A$10</c:f>
              <c:strCache>
                <c:ptCount val="9"/>
                <c:pt idx="0">
                  <c:v>2</c:v>
                </c:pt>
                <c:pt idx="1">
                  <c:v>3</c:v>
                </c:pt>
                <c:pt idx="2">
                  <c:v>4</c:v>
                </c:pt>
                <c:pt idx="3">
                  <c:v>5</c:v>
                </c:pt>
                <c:pt idx="4">
                  <c:v>6</c:v>
                </c:pt>
                <c:pt idx="5">
                  <c:v>7</c:v>
                </c:pt>
                <c:pt idx="6">
                  <c:v>8</c:v>
                </c:pt>
                <c:pt idx="7">
                  <c:v>9</c:v>
                </c:pt>
                <c:pt idx="8">
                  <c:v>10</c:v>
                </c:pt>
              </c:strCache>
            </c:strRef>
          </c:cat>
          <c:val>
            <c:numRef>
              <c:f>Sheet1!$B$2:$B$10</c:f>
              <c:numCache>
                <c:formatCode>General</c:formatCode>
                <c:ptCount val="9"/>
                <c:pt idx="0">
                  <c:v>3678351.83</c:v>
                </c:pt>
                <c:pt idx="1">
                  <c:v>1219410.6299999999</c:v>
                </c:pt>
                <c:pt idx="2">
                  <c:v>1044680.59</c:v>
                </c:pt>
                <c:pt idx="3">
                  <c:v>416619.6</c:v>
                </c:pt>
                <c:pt idx="4">
                  <c:v>253603.88</c:v>
                </c:pt>
                <c:pt idx="5">
                  <c:v>226310.51</c:v>
                </c:pt>
                <c:pt idx="6">
                  <c:v>142468.24</c:v>
                </c:pt>
                <c:pt idx="7">
                  <c:v>157472.06</c:v>
                </c:pt>
                <c:pt idx="8">
                  <c:v>114319.76</c:v>
                </c:pt>
              </c:numCache>
            </c:numRef>
          </c:val>
          <c:smooth val="0"/>
          <c:extLst>
            <c:ext xmlns:c16="http://schemas.microsoft.com/office/drawing/2014/chart" uri="{C3380CC4-5D6E-409C-BE32-E72D297353CC}">
              <c16:uniqueId val="{00000000-FEE8-497E-9BE5-F29C24D080F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170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Assalamualaikum/selamat pagi. Saya Putra Febrian akan mempresentasikan skripsi tentang Web GIS untuk pemetaan dan analisis zonasi UMKM di Sulawesi Utara menggunakan K-Means.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Mitra penelitian saya adalah Yayasan Bina Lentera Insan atau YBLI. YBLI bergerak di bidang pendidikan, kesehatan, ekonomi, dan sosial keagamaan. Karena penelitian ini membahas pemetaan UMKM, YBLI menjadi konteks yang relevan untuk pemberdayaan masyarakat dan UMKM.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Masalahnya adalah data UMKM banyak, tersebar, dan jika hanya dibaca sebagai tabel, pola wilayahnya sulit terlihat. Web GIS digunakan agar lokasi bisa dilihat langsung di peta. Namun koordinat harus dijelaskan kualitasnya karena tidak semua titik merupakan lokasi GPS yang tepat.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Rumusan masalah saya tidak hanya tentang membuat peta. Penelitian juga membahas alur pengajuan, kualitas koordinat, proses K-Means, dan pengujian. Tujuannya agar sistem bukan hanya tampil, tetapi juga bisa dievaluasi.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Solusi yang saya bangun terdiri dari halaman publik, panel admin, dan modul analisis. Publik bisa mencari dan mengajukan UMKM. Admin mengelola dan memverifikasi data. Setelah data siap, sistem menjalankan analisis zonasi dengan K-Means.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Metode penelitian dimulai dari analisis kebutuhan, dilanjutkan perancangan sistem dan basis data, implementasi, verifikasi lokasi, penerapan K-Means, lalu pengujian. Dataset lokal berisi 1.802 record dan 1.743 titik yang bisa dianalisis.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Arsitektur sistem memisahkan antarmuka publik, panel admin, dan backend. React dan Leaflet menangani tampilan peta. Supabase menjaga data, hak akses, dan penyimpanan. K-Means dijalankan pada data yang memenuhi syarat.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Pada penelitian ini, koordinat tidak langsung dianggap sama akurat. Ada lokasi tepat, perkiraan kecamatan, dan belum terverifikasi. Data yang belum terverifikasi tidak dimasukkan ke K-Means. Sistem juga memisahkan koordinat analisis dan koordinat tampilan.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Proses K-Means dimulai dari pemilihan data yang layak dianalisis. Data dibuat menjadi snapshot, kemudian centroid awal dipilih dengan K-Means++. Jarak antar titik dihitung menggunakan Haversine, lalu sistem menghasilkan cluster, WCSS, radius, dan menyimpan hasilnya.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Hasil implementasi menunjukkan fitur utama sudah tersedia. Algoritma K-Means diuji dari K=2 sampai K=10 pada 1.743 titik. ESLint dan build produksi berhasil. Namun pengujian integrasi Supabase serta black-box pada perangkat nyata masih perlu dilengkapi.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Pada evaluasi WCSS, nilai umumnya menurun ketika K bertambah. Namun pada K=9 terjadi kenaikan, sehingga kurva tidak monoton. Karena itu saya tidak menetapkan K optimal hanya dari satu run per K. Evaluasi lanjutan perlu multi-start atau metode tambahan.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Bacaan singkat:
Kesimpulannya, sistem berhasil menggabungkan pemetaan, layanan publik, pengelolaan data, dan analisis clustering. Namun hasil K-Means masih perlu dibaca secara hati-hati karena kualitas koordinat masih didominasi perkiraan. Pengembangan berikutnya adalah verifikasi koordinat, multi-start, dan pengujian lengkap.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ODERN">
    <p:bg>
      <p:bgPr>
        <a:solidFill>
          <a:srgbClr val="F8FA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8"/>
          </a:solidFill>
          <a:ln w="12700">
            <a:solidFill>
              <a:srgbClr val="F8FAF8"/>
            </a:solidFill>
            <a:prstDash val="solid"/>
          </a:ln>
        </p:spPr>
      </p:sp>
      <p:sp>
        <p:nvSpPr>
          <p:cNvPr id="3" name="Shape 1"/>
          <p:cNvSpPr/>
          <p:nvPr/>
        </p:nvSpPr>
        <p:spPr>
          <a:xfrm>
            <a:off x="0" y="0"/>
            <a:ext cx="118872" cy="6858000"/>
          </a:xfrm>
          <a:prstGeom prst="rect">
            <a:avLst/>
          </a:prstGeom>
          <a:solidFill>
            <a:srgbClr val="0F4C5C"/>
          </a:solidFill>
          <a:ln w="12700">
            <a:solidFill>
              <a:srgbClr val="0F4C5C"/>
            </a:solidFill>
            <a:prstDash val="solid"/>
          </a:ln>
        </p:spPr>
      </p:sp>
      <p:sp>
        <p:nvSpPr>
          <p:cNvPr id="4" name="Shape 2"/>
          <p:cNvSpPr/>
          <p:nvPr/>
        </p:nvSpPr>
        <p:spPr>
          <a:xfrm>
            <a:off x="594360" y="6446520"/>
            <a:ext cx="10972800" cy="0"/>
          </a:xfrm>
          <a:prstGeom prst="line">
            <a:avLst/>
          </a:prstGeom>
          <a:noFill/>
          <a:ln w="12700">
            <a:solidFill>
              <a:srgbClr val="D7E5DF"/>
            </a:solidFill>
            <a:prstDash val="solid"/>
          </a:ln>
        </p:spPr>
      </p:sp>
      <p:sp>
        <p:nvSpPr>
          <p:cNvPr id="5" name="Text 3"/>
          <p:cNvSpPr/>
          <p:nvPr/>
        </p:nvSpPr>
        <p:spPr>
          <a:xfrm>
            <a:off x="594360" y="6528816"/>
            <a:ext cx="7772400" cy="201168"/>
          </a:xfrm>
          <a:prstGeom prst="rect">
            <a:avLst/>
          </a:prstGeom>
          <a:noFill/>
          <a:ln/>
        </p:spPr>
        <p:txBody>
          <a:bodyPr wrap="square" lIns="0" tIns="0" rIns="0" bIns="0" rtlCol="0" anchor="ctr"/>
          <a:lstStyle/>
          <a:p>
            <a:pPr marL="0" indent="0">
              <a:buNone/>
            </a:pPr>
            <a:r>
              <a:rPr lang="en-US" sz="870" dirty="0">
                <a:solidFill>
                  <a:srgbClr val="6B7B84"/>
                </a:solidFill>
                <a:latin typeface="Aptos" pitchFamily="34" charset="0"/>
                <a:ea typeface="Aptos" pitchFamily="34" charset="-122"/>
                <a:cs typeface="Aptos" pitchFamily="34" charset="-120"/>
              </a:rPr>
              <a:t>Putra Febrian • D-IV Teknik Informatika • Politeknik Negeri Manado</a:t>
            </a:r>
            <a:endParaRPr lang="en-US" sz="870" dirty="0"/>
          </a:p>
        </p:txBody>
      </p:sp>
      <p:sp>
        <p:nvSpPr>
          <p:cNvPr id="25"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F3A"/>
        </a:solidFill>
        <a:effectLst/>
      </p:bgPr>
    </p:bg>
    <p:spTree>
      <p:nvGrpSpPr>
        <p:cNvPr id="1" name=""/>
        <p:cNvGrpSpPr/>
        <p:nvPr/>
      </p:nvGrpSpPr>
      <p:grpSpPr>
        <a:xfrm>
          <a:off x="0" y="0"/>
          <a:ext cx="0" cy="0"/>
          <a:chOff x="0" y="0"/>
          <a:chExt cx="0" cy="0"/>
        </a:xfrm>
      </p:grpSpPr>
      <p:pic>
        <p:nvPicPr>
          <p:cNvPr id="2" name="Image 0" descr="/mnt/data/a_wide_cinematic_high_resolution_digital_illustr.png"/>
          <p:cNvPicPr>
            <a:picLocks noChangeAspect="1"/>
          </p:cNvPicPr>
          <p:nvPr/>
        </p:nvPicPr>
        <p:blipFill>
          <a:blip r:embed="rId3"/>
          <a:stretch>
            <a:fillRect/>
          </a:stretch>
        </p:blipFill>
        <p:spPr>
          <a:xfrm>
            <a:off x="6748272" y="0"/>
            <a:ext cx="5443423" cy="6858000"/>
          </a:xfrm>
          <a:prstGeom prst="rect">
            <a:avLst/>
          </a:prstGeom>
        </p:spPr>
      </p:pic>
      <p:sp>
        <p:nvSpPr>
          <p:cNvPr id="3" name="Shape 0"/>
          <p:cNvSpPr/>
          <p:nvPr/>
        </p:nvSpPr>
        <p:spPr>
          <a:xfrm>
            <a:off x="658368" y="566928"/>
            <a:ext cx="2057400" cy="329184"/>
          </a:xfrm>
          <a:prstGeom prst="roundRect">
            <a:avLst>
              <a:gd name="adj" fmla="val 33333"/>
            </a:avLst>
          </a:prstGeom>
          <a:solidFill>
            <a:srgbClr val="F2C94C"/>
          </a:solidFill>
          <a:ln w="12700">
            <a:solidFill>
              <a:srgbClr val="F2C94C"/>
            </a:solidFill>
            <a:prstDash val="solid"/>
          </a:ln>
        </p:spPr>
      </p:sp>
      <p:sp>
        <p:nvSpPr>
          <p:cNvPr id="4" name="Text 1"/>
          <p:cNvSpPr/>
          <p:nvPr/>
        </p:nvSpPr>
        <p:spPr>
          <a:xfrm>
            <a:off x="658368" y="640080"/>
            <a:ext cx="2057400" cy="164592"/>
          </a:xfrm>
          <a:prstGeom prst="rect">
            <a:avLst/>
          </a:prstGeom>
          <a:noFill/>
          <a:ln/>
        </p:spPr>
        <p:txBody>
          <a:bodyPr wrap="square" lIns="0" tIns="0" rIns="0" bIns="0" rtlCol="0" anchor="ctr"/>
          <a:lstStyle/>
          <a:p>
            <a:pPr marL="0" indent="0" algn="ctr">
              <a:buNone/>
            </a:pPr>
            <a:r>
              <a:rPr lang="en-US" sz="950" b="1" dirty="0">
                <a:solidFill>
                  <a:srgbClr val="09212B"/>
                </a:solidFill>
              </a:rPr>
              <a:t>PRESENTASI SKRIPSI</a:t>
            </a:r>
            <a:endParaRPr lang="en-US" sz="950" dirty="0"/>
          </a:p>
        </p:txBody>
      </p:sp>
      <p:sp>
        <p:nvSpPr>
          <p:cNvPr id="5" name="Text 2"/>
          <p:cNvSpPr/>
          <p:nvPr/>
        </p:nvSpPr>
        <p:spPr>
          <a:xfrm>
            <a:off x="658368" y="1170432"/>
            <a:ext cx="5989320" cy="1051560"/>
          </a:xfrm>
          <a:prstGeom prst="rect">
            <a:avLst/>
          </a:prstGeom>
          <a:noFill/>
          <a:ln/>
        </p:spPr>
        <p:txBody>
          <a:bodyPr wrap="square" lIns="0" tIns="0" rIns="0" bIns="0" rtlCol="0" anchor="ctr">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Implementasi Algoritma K-Means Clustering pada Web GIS</a:t>
            </a:r>
            <a:endParaRPr lang="en-US" sz="3400" dirty="0"/>
          </a:p>
        </p:txBody>
      </p:sp>
      <p:sp>
        <p:nvSpPr>
          <p:cNvPr id="6" name="Text 3"/>
          <p:cNvSpPr/>
          <p:nvPr/>
        </p:nvSpPr>
        <p:spPr>
          <a:xfrm>
            <a:off x="676656" y="2331720"/>
            <a:ext cx="5577840" cy="566928"/>
          </a:xfrm>
          <a:prstGeom prst="rect">
            <a:avLst/>
          </a:prstGeom>
          <a:noFill/>
          <a:ln/>
        </p:spPr>
        <p:txBody>
          <a:bodyPr wrap="square" lIns="0" tIns="0" rIns="0" bIns="0" rtlCol="0" anchor="ctr">
            <a:normAutofit/>
          </a:bodyPr>
          <a:lstStyle/>
          <a:p>
            <a:pPr marL="0" indent="0">
              <a:buNone/>
            </a:pPr>
            <a:r>
              <a:rPr lang="en-US" sz="1700" dirty="0">
                <a:solidFill>
                  <a:srgbClr val="D9F3EF"/>
                </a:solidFill>
              </a:rPr>
              <a:t>untuk Pemetaan dan Analisis Zonasi Persebaran UMKM di Sulawesi Utara</a:t>
            </a:r>
            <a:endParaRPr lang="en-US" sz="1700" dirty="0"/>
          </a:p>
        </p:txBody>
      </p:sp>
      <p:sp>
        <p:nvSpPr>
          <p:cNvPr id="7" name="Shape 4"/>
          <p:cNvSpPr/>
          <p:nvPr/>
        </p:nvSpPr>
        <p:spPr>
          <a:xfrm>
            <a:off x="658368" y="3200400"/>
            <a:ext cx="3931920" cy="0"/>
          </a:xfrm>
          <a:prstGeom prst="line">
            <a:avLst/>
          </a:prstGeom>
          <a:noFill/>
          <a:ln w="25400">
            <a:solidFill>
              <a:srgbClr val="F2C94C"/>
            </a:solidFill>
            <a:prstDash val="solid"/>
          </a:ln>
        </p:spPr>
      </p:sp>
      <p:sp>
        <p:nvSpPr>
          <p:cNvPr id="8" name="Text 5"/>
          <p:cNvSpPr/>
          <p:nvPr/>
        </p:nvSpPr>
        <p:spPr>
          <a:xfrm>
            <a:off x="676656" y="3511296"/>
            <a:ext cx="3794760" cy="685800"/>
          </a:xfrm>
          <a:prstGeom prst="rect">
            <a:avLst/>
          </a:prstGeom>
          <a:noFill/>
          <a:ln/>
        </p:spPr>
        <p:txBody>
          <a:bodyPr wrap="square" lIns="0" tIns="0" rIns="0" bIns="0" rtlCol="0" anchor="ctr"/>
          <a:lstStyle/>
          <a:p>
            <a:pPr marL="0" indent="0">
              <a:buNone/>
            </a:pPr>
            <a:r>
              <a:rPr lang="en-US" sz="1800" b="1" dirty="0">
                <a:solidFill>
                  <a:srgbClr val="FFFFFF"/>
                </a:solidFill>
              </a:rPr>
              <a:t>Putra Febrian</a:t>
            </a:r>
            <a:endParaRPr lang="en-US" sz="1800" dirty="0"/>
          </a:p>
          <a:p>
            <a:pPr marL="0" indent="0">
              <a:buNone/>
            </a:pPr>
            <a:r>
              <a:rPr lang="en-US" sz="1800" b="1" dirty="0">
                <a:solidFill>
                  <a:srgbClr val="FFFFFF"/>
                </a:solidFill>
              </a:rPr>
              <a:t>NIM 22024129</a:t>
            </a:r>
            <a:endParaRPr lang="en-US" sz="1800" dirty="0"/>
          </a:p>
        </p:txBody>
      </p:sp>
      <p:sp>
        <p:nvSpPr>
          <p:cNvPr id="9" name="Text 6"/>
          <p:cNvSpPr/>
          <p:nvPr/>
        </p:nvSpPr>
        <p:spPr>
          <a:xfrm>
            <a:off x="676656" y="4370832"/>
            <a:ext cx="4754880" cy="594360"/>
          </a:xfrm>
          <a:prstGeom prst="rect">
            <a:avLst/>
          </a:prstGeom>
          <a:noFill/>
          <a:ln/>
        </p:spPr>
        <p:txBody>
          <a:bodyPr wrap="square" lIns="0" tIns="0" rIns="0" bIns="0" rtlCol="0" anchor="ctr"/>
          <a:lstStyle/>
          <a:p>
            <a:pPr marL="0" indent="0">
              <a:buNone/>
            </a:pPr>
            <a:r>
              <a:rPr lang="en-US" sz="1350" dirty="0">
                <a:solidFill>
                  <a:srgbClr val="BFE8E4"/>
                </a:solidFill>
              </a:rPr>
              <a:t>Program Studi D-IV Teknik Informatika</a:t>
            </a:r>
            <a:endParaRPr lang="en-US" sz="1350" dirty="0"/>
          </a:p>
          <a:p>
            <a:pPr marL="0" indent="0">
              <a:buNone/>
            </a:pPr>
            <a:r>
              <a:rPr lang="en-US" sz="1350" dirty="0">
                <a:solidFill>
                  <a:srgbClr val="BFE8E4"/>
                </a:solidFill>
              </a:rPr>
              <a:t>Politeknik Negeri Manado • 2026</a:t>
            </a:r>
            <a:endParaRPr lang="en-US" sz="1350" dirty="0"/>
          </a:p>
        </p:txBody>
      </p:sp>
      <p:sp>
        <p:nvSpPr>
          <p:cNvPr id="10" name="Shape 7"/>
          <p:cNvSpPr/>
          <p:nvPr/>
        </p:nvSpPr>
        <p:spPr>
          <a:xfrm>
            <a:off x="658368" y="5687568"/>
            <a:ext cx="5212080" cy="530352"/>
          </a:xfrm>
          <a:prstGeom prst="roundRect">
            <a:avLst>
              <a:gd name="adj" fmla="val 27586"/>
            </a:avLst>
          </a:prstGeom>
          <a:solidFill>
            <a:srgbClr val="0A2630">
              <a:alpha val="92000"/>
            </a:srgbClr>
          </a:solidFill>
          <a:ln w="12700">
            <a:solidFill>
              <a:srgbClr val="3CA4A0"/>
            </a:solidFill>
            <a:prstDash val="solid"/>
          </a:ln>
        </p:spPr>
      </p:sp>
      <p:sp>
        <p:nvSpPr>
          <p:cNvPr id="11" name="Text 8"/>
          <p:cNvSpPr/>
          <p:nvPr/>
        </p:nvSpPr>
        <p:spPr>
          <a:xfrm>
            <a:off x="822960" y="5833872"/>
            <a:ext cx="4892040" cy="164592"/>
          </a:xfrm>
          <a:prstGeom prst="rect">
            <a:avLst/>
          </a:prstGeom>
          <a:noFill/>
          <a:ln/>
        </p:spPr>
        <p:txBody>
          <a:bodyPr wrap="square" lIns="0" tIns="0" rIns="0" bIns="0" rtlCol="0" anchor="ctr">
            <a:normAutofit/>
          </a:bodyPr>
          <a:lstStyle/>
          <a:p>
            <a:pPr marL="0" indent="0">
              <a:buNone/>
            </a:pPr>
            <a:r>
              <a:rPr lang="en-US" sz="1050" b="1" dirty="0">
                <a:solidFill>
                  <a:srgbClr val="EFFFFC"/>
                </a:solidFill>
              </a:rPr>
              <a:t>Web GIS • K-Means++ • Haversine • Kualitas Data Spasial</a:t>
            </a:r>
            <a:endParaRPr lang="en-US" sz="1050" dirty="0"/>
          </a:p>
        </p:txBody>
      </p:sp>
      <p:pic>
        <p:nvPicPr>
          <p:cNvPr id="12" name="Image 1" descr="/mnt/data/thesis_imgs/image1.png"/>
          <p:cNvPicPr>
            <a:picLocks noChangeAspect="1"/>
          </p:cNvPicPr>
          <p:nvPr/>
        </p:nvPicPr>
        <p:blipFill>
          <a:blip r:embed="rId4"/>
          <a:stretch>
            <a:fillRect/>
          </a:stretch>
        </p:blipFill>
        <p:spPr>
          <a:xfrm>
            <a:off x="9985248" y="438912"/>
            <a:ext cx="1325880" cy="13258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393192"/>
            <a:ext cx="10789920" cy="438912"/>
          </a:xfrm>
          <a:prstGeom prst="rect">
            <a:avLst/>
          </a:prstGeom>
          <a:noFill/>
          <a:ln/>
        </p:spPr>
        <p:txBody>
          <a:bodyPr wrap="square" lIns="0" tIns="0" rIns="0" bIns="0" rtlCol="0" anchor="ctr">
            <a:normAutofit/>
          </a:bodyPr>
          <a:lstStyle/>
          <a:p>
            <a:pPr marL="0" indent="0">
              <a:buNone/>
            </a:pPr>
            <a:r>
              <a:rPr lang="en-US" sz="3000" b="1" dirty="0">
                <a:solidFill>
                  <a:srgbClr val="09212B"/>
                </a:solidFill>
                <a:latin typeface="Aptos Display" pitchFamily="34" charset="0"/>
                <a:ea typeface="Aptos Display" pitchFamily="34" charset="-122"/>
                <a:cs typeface="Aptos Display" pitchFamily="34" charset="-120"/>
              </a:rPr>
              <a:t>Latar Belakang Mitra: YBLI</a:t>
            </a:r>
            <a:endParaRPr lang="en-US" sz="3000" dirty="0"/>
          </a:p>
        </p:txBody>
      </p:sp>
      <p:sp>
        <p:nvSpPr>
          <p:cNvPr id="3" name="Text 1"/>
          <p:cNvSpPr/>
          <p:nvPr/>
        </p:nvSpPr>
        <p:spPr>
          <a:xfrm>
            <a:off x="685800" y="886968"/>
            <a:ext cx="9966960" cy="274320"/>
          </a:xfrm>
          <a:prstGeom prst="rect">
            <a:avLst/>
          </a:prstGeom>
          <a:noFill/>
          <a:ln/>
        </p:spPr>
        <p:txBody>
          <a:bodyPr wrap="square" lIns="0" tIns="0" rIns="0" bIns="0" rtlCol="0" anchor="ctr">
            <a:normAutofit/>
          </a:bodyPr>
          <a:lstStyle/>
          <a:p>
            <a:pPr marL="0" indent="0">
              <a:buNone/>
            </a:pPr>
            <a:r>
              <a:rPr lang="en-US" sz="1300" dirty="0">
                <a:solidFill>
                  <a:srgbClr val="5E7178"/>
                </a:solidFill>
              </a:rPr>
              <a:t>Yayasan Bina Lentera Insan sebagai mitra penelitian</a:t>
            </a:r>
            <a:endParaRPr lang="en-US" sz="1300" dirty="0"/>
          </a:p>
        </p:txBody>
      </p:sp>
      <p:sp>
        <p:nvSpPr>
          <p:cNvPr id="4" name="Shape 2"/>
          <p:cNvSpPr/>
          <p:nvPr/>
        </p:nvSpPr>
        <p:spPr>
          <a:xfrm>
            <a:off x="658368" y="1188720"/>
            <a:ext cx="868680" cy="64008"/>
          </a:xfrm>
          <a:prstGeom prst="rect">
            <a:avLst/>
          </a:prstGeom>
          <a:solidFill>
            <a:srgbClr val="F2C94C"/>
          </a:solidFill>
          <a:ln w="12700">
            <a:solidFill>
              <a:srgbClr val="F2C94C"/>
            </a:solidFill>
            <a:prstDash val="solid"/>
          </a:ln>
        </p:spPr>
      </p:sp>
      <p:sp>
        <p:nvSpPr>
          <p:cNvPr id="5" name="Shape 3"/>
          <p:cNvSpPr/>
          <p:nvPr/>
        </p:nvSpPr>
        <p:spPr>
          <a:xfrm>
            <a:off x="713232" y="1417320"/>
            <a:ext cx="2834640" cy="4434840"/>
          </a:xfrm>
          <a:prstGeom prst="roundRect">
            <a:avLst>
              <a:gd name="adj" fmla="val 5161"/>
            </a:avLst>
          </a:prstGeom>
          <a:solidFill>
            <a:srgbClr val="0B2F3A"/>
          </a:solidFill>
          <a:ln w="12700">
            <a:solidFill>
              <a:srgbClr val="0B2F3A"/>
            </a:solidFill>
            <a:prstDash val="solid"/>
          </a:ln>
        </p:spPr>
      </p:sp>
      <p:sp>
        <p:nvSpPr>
          <p:cNvPr id="6" name="Text 4"/>
          <p:cNvSpPr/>
          <p:nvPr/>
        </p:nvSpPr>
        <p:spPr>
          <a:xfrm>
            <a:off x="978408" y="1828800"/>
            <a:ext cx="2304288" cy="658368"/>
          </a:xfrm>
          <a:prstGeom prst="rect">
            <a:avLst/>
          </a:prstGeom>
          <a:noFill/>
          <a:ln/>
        </p:spPr>
        <p:txBody>
          <a:bodyPr wrap="square" lIns="0" tIns="0" rIns="0" bIns="0" rtlCol="0" anchor="ctr"/>
          <a:lstStyle/>
          <a:p>
            <a:pPr marL="0" indent="0" algn="ctr">
              <a:buNone/>
            </a:pPr>
            <a:r>
              <a:rPr lang="en-US" sz="4000" b="1" dirty="0">
                <a:solidFill>
                  <a:srgbClr val="F2C94C"/>
                </a:solidFill>
                <a:latin typeface="Aptos Display" pitchFamily="34" charset="0"/>
                <a:ea typeface="Aptos Display" pitchFamily="34" charset="-122"/>
                <a:cs typeface="Aptos Display" pitchFamily="34" charset="-120"/>
              </a:rPr>
              <a:t>YBLI</a:t>
            </a:r>
            <a:endParaRPr lang="en-US" sz="4000" dirty="0"/>
          </a:p>
        </p:txBody>
      </p:sp>
      <p:sp>
        <p:nvSpPr>
          <p:cNvPr id="7" name="Text 5"/>
          <p:cNvSpPr/>
          <p:nvPr/>
        </p:nvSpPr>
        <p:spPr>
          <a:xfrm>
            <a:off x="932688" y="2670048"/>
            <a:ext cx="2395728" cy="512064"/>
          </a:xfrm>
          <a:prstGeom prst="rect">
            <a:avLst/>
          </a:prstGeom>
          <a:noFill/>
          <a:ln/>
        </p:spPr>
        <p:txBody>
          <a:bodyPr wrap="square" lIns="0" tIns="0" rIns="0" bIns="0" rtlCol="0" anchor="ctr"/>
          <a:lstStyle/>
          <a:p>
            <a:pPr marL="0" indent="0" algn="ctr">
              <a:buNone/>
            </a:pPr>
            <a:r>
              <a:rPr lang="en-US" sz="1700" b="1" dirty="0">
                <a:solidFill>
                  <a:srgbClr val="FFFFFF"/>
                </a:solidFill>
              </a:rPr>
              <a:t>Jadilah lentera</a:t>
            </a:r>
            <a:endParaRPr lang="en-US" sz="1700" dirty="0"/>
          </a:p>
          <a:p>
            <a:pPr marL="0" indent="0" algn="ctr">
              <a:buNone/>
            </a:pPr>
            <a:r>
              <a:rPr lang="en-US" sz="1700" b="1" dirty="0">
                <a:solidFill>
                  <a:srgbClr val="FFFFFF"/>
                </a:solidFill>
              </a:rPr>
              <a:t>yang menerangi</a:t>
            </a:r>
            <a:endParaRPr lang="en-US" sz="1700" dirty="0"/>
          </a:p>
        </p:txBody>
      </p:sp>
      <p:sp>
        <p:nvSpPr>
          <p:cNvPr id="8" name="Shape 6"/>
          <p:cNvSpPr/>
          <p:nvPr/>
        </p:nvSpPr>
        <p:spPr>
          <a:xfrm>
            <a:off x="1078992" y="3429000"/>
            <a:ext cx="2011680" cy="0"/>
          </a:xfrm>
          <a:prstGeom prst="line">
            <a:avLst/>
          </a:prstGeom>
          <a:noFill/>
          <a:ln w="25400">
            <a:solidFill>
              <a:srgbClr val="F2C94C"/>
            </a:solidFill>
            <a:prstDash val="solid"/>
          </a:ln>
        </p:spPr>
      </p:sp>
      <p:sp>
        <p:nvSpPr>
          <p:cNvPr id="9" name="Text 7"/>
          <p:cNvSpPr/>
          <p:nvPr/>
        </p:nvSpPr>
        <p:spPr>
          <a:xfrm>
            <a:off x="987552" y="3721608"/>
            <a:ext cx="2331720" cy="713232"/>
          </a:xfrm>
          <a:prstGeom prst="rect">
            <a:avLst/>
          </a:prstGeom>
          <a:noFill/>
          <a:ln/>
        </p:spPr>
        <p:txBody>
          <a:bodyPr wrap="square" lIns="0" tIns="0" rIns="0" bIns="0" rtlCol="0" anchor="ctr">
            <a:normAutofit/>
          </a:bodyPr>
          <a:lstStyle/>
          <a:p>
            <a:pPr marL="0" indent="0" algn="ctr">
              <a:buNone/>
            </a:pPr>
            <a:r>
              <a:rPr lang="en-US" sz="1260" dirty="0">
                <a:solidFill>
                  <a:srgbClr val="DDF4EA"/>
                </a:solidFill>
              </a:rPr>
              <a:t>Mitra penelitian yang berfokus pada penguatan kapasitas masyarakat.</a:t>
            </a:r>
            <a:endParaRPr lang="en-US" sz="1260" dirty="0"/>
          </a:p>
        </p:txBody>
      </p:sp>
      <p:sp>
        <p:nvSpPr>
          <p:cNvPr id="10" name="Text 8"/>
          <p:cNvSpPr/>
          <p:nvPr/>
        </p:nvSpPr>
        <p:spPr>
          <a:xfrm>
            <a:off x="960120" y="5065776"/>
            <a:ext cx="2423160" cy="201168"/>
          </a:xfrm>
          <a:prstGeom prst="rect">
            <a:avLst/>
          </a:prstGeom>
          <a:noFill/>
          <a:ln/>
        </p:spPr>
        <p:txBody>
          <a:bodyPr wrap="square" lIns="0" tIns="0" rIns="0" bIns="0" rtlCol="0" anchor="ctr"/>
          <a:lstStyle/>
          <a:p>
            <a:pPr marL="0" indent="0" algn="ctr">
              <a:buNone/>
            </a:pPr>
            <a:r>
              <a:rPr lang="en-US" sz="1060" dirty="0">
                <a:solidFill>
                  <a:srgbClr val="BFE8E4"/>
                </a:solidFill>
              </a:rPr>
              <a:t>Manado, Sulawesi Utara</a:t>
            </a:r>
            <a:endParaRPr lang="en-US" sz="1060" dirty="0"/>
          </a:p>
        </p:txBody>
      </p:sp>
      <p:sp>
        <p:nvSpPr>
          <p:cNvPr id="11" name="Shape 9"/>
          <p:cNvSpPr/>
          <p:nvPr/>
        </p:nvSpPr>
        <p:spPr>
          <a:xfrm>
            <a:off x="3913632" y="1481328"/>
            <a:ext cx="2057400" cy="960120"/>
          </a:xfrm>
          <a:prstGeom prst="roundRect">
            <a:avLst>
              <a:gd name="adj" fmla="val 9524"/>
            </a:avLst>
          </a:prstGeom>
          <a:solidFill>
            <a:srgbClr val="FFFFFF"/>
          </a:solidFill>
          <a:ln w="12700">
            <a:solidFill>
              <a:srgbClr val="D6E3DF"/>
            </a:solidFill>
            <a:prstDash val="solid"/>
          </a:ln>
        </p:spPr>
      </p:sp>
      <p:sp>
        <p:nvSpPr>
          <p:cNvPr id="12" name="Text 10"/>
          <p:cNvSpPr/>
          <p:nvPr/>
        </p:nvSpPr>
        <p:spPr>
          <a:xfrm>
            <a:off x="4078224" y="1618488"/>
            <a:ext cx="1728216" cy="384048"/>
          </a:xfrm>
          <a:prstGeom prst="rect">
            <a:avLst/>
          </a:prstGeom>
          <a:noFill/>
          <a:ln/>
        </p:spPr>
        <p:txBody>
          <a:bodyPr wrap="square" lIns="0" tIns="0" rIns="0" bIns="0" rtlCol="0" anchor="ctr">
            <a:normAutofit/>
          </a:bodyPr>
          <a:lstStyle/>
          <a:p>
            <a:pPr marL="0" indent="0" algn="ctr">
              <a:buNone/>
            </a:pPr>
            <a:r>
              <a:rPr lang="en-US" sz="2400" b="1" dirty="0">
                <a:solidFill>
                  <a:srgbClr val="0F6B72"/>
                </a:solidFill>
              </a:rPr>
              <a:t>2013</a:t>
            </a:r>
            <a:endParaRPr lang="en-US" sz="2400" dirty="0"/>
          </a:p>
        </p:txBody>
      </p:sp>
      <p:sp>
        <p:nvSpPr>
          <p:cNvPr id="13" name="Text 11"/>
          <p:cNvSpPr/>
          <p:nvPr/>
        </p:nvSpPr>
        <p:spPr>
          <a:xfrm>
            <a:off x="4050792" y="2066544"/>
            <a:ext cx="1783080" cy="228600"/>
          </a:xfrm>
          <a:prstGeom prst="rect">
            <a:avLst/>
          </a:prstGeom>
          <a:noFill/>
          <a:ln/>
        </p:spPr>
        <p:txBody>
          <a:bodyPr wrap="square" lIns="0" tIns="0" rIns="0" bIns="0" rtlCol="0" anchor="ctr">
            <a:normAutofit/>
          </a:bodyPr>
          <a:lstStyle/>
          <a:p>
            <a:pPr marL="0" indent="0" algn="ctr">
              <a:buNone/>
            </a:pPr>
            <a:r>
              <a:rPr lang="en-US" sz="1050" dirty="0">
                <a:solidFill>
                  <a:srgbClr val="5E7178"/>
                </a:solidFill>
              </a:rPr>
              <a:t>Berdiri sejak</a:t>
            </a:r>
            <a:endParaRPr lang="en-US" sz="1050" dirty="0"/>
          </a:p>
        </p:txBody>
      </p:sp>
      <p:sp>
        <p:nvSpPr>
          <p:cNvPr id="14" name="Shape 12"/>
          <p:cNvSpPr/>
          <p:nvPr/>
        </p:nvSpPr>
        <p:spPr>
          <a:xfrm>
            <a:off x="6181344" y="1481328"/>
            <a:ext cx="2057400" cy="960120"/>
          </a:xfrm>
          <a:prstGeom prst="roundRect">
            <a:avLst>
              <a:gd name="adj" fmla="val 9524"/>
            </a:avLst>
          </a:prstGeom>
          <a:solidFill>
            <a:srgbClr val="FFFFFF"/>
          </a:solidFill>
          <a:ln w="12700">
            <a:solidFill>
              <a:srgbClr val="D6E3DF"/>
            </a:solidFill>
            <a:prstDash val="solid"/>
          </a:ln>
        </p:spPr>
      </p:sp>
      <p:sp>
        <p:nvSpPr>
          <p:cNvPr id="15" name="Text 13"/>
          <p:cNvSpPr/>
          <p:nvPr/>
        </p:nvSpPr>
        <p:spPr>
          <a:xfrm>
            <a:off x="6345936" y="1618488"/>
            <a:ext cx="1728216" cy="384048"/>
          </a:xfrm>
          <a:prstGeom prst="rect">
            <a:avLst/>
          </a:prstGeom>
          <a:noFill/>
          <a:ln/>
        </p:spPr>
        <p:txBody>
          <a:bodyPr wrap="square" lIns="0" tIns="0" rIns="0" bIns="0" rtlCol="0" anchor="ctr">
            <a:normAutofit/>
          </a:bodyPr>
          <a:lstStyle/>
          <a:p>
            <a:pPr marL="0" indent="0" algn="ctr">
              <a:buNone/>
            </a:pPr>
            <a:r>
              <a:rPr lang="en-US" sz="2400" b="1" dirty="0">
                <a:solidFill>
                  <a:srgbClr val="2E7D57"/>
                </a:solidFill>
              </a:rPr>
              <a:t>3</a:t>
            </a:r>
            <a:endParaRPr lang="en-US" sz="2400" dirty="0"/>
          </a:p>
        </p:txBody>
      </p:sp>
      <p:sp>
        <p:nvSpPr>
          <p:cNvPr id="16" name="Text 14"/>
          <p:cNvSpPr/>
          <p:nvPr/>
        </p:nvSpPr>
        <p:spPr>
          <a:xfrm>
            <a:off x="6318504" y="2066544"/>
            <a:ext cx="1783080" cy="228600"/>
          </a:xfrm>
          <a:prstGeom prst="rect">
            <a:avLst/>
          </a:prstGeom>
          <a:noFill/>
          <a:ln/>
        </p:spPr>
        <p:txBody>
          <a:bodyPr wrap="square" lIns="0" tIns="0" rIns="0" bIns="0" rtlCol="0" anchor="ctr">
            <a:normAutofit/>
          </a:bodyPr>
          <a:lstStyle/>
          <a:p>
            <a:pPr marL="0" indent="0" algn="ctr">
              <a:buNone/>
            </a:pPr>
            <a:r>
              <a:rPr lang="en-US" sz="1050" dirty="0">
                <a:solidFill>
                  <a:srgbClr val="5E7178"/>
                </a:solidFill>
              </a:rPr>
              <a:t>Bidang utama</a:t>
            </a:r>
            <a:endParaRPr lang="en-US" sz="1050" dirty="0"/>
          </a:p>
        </p:txBody>
      </p:sp>
      <p:sp>
        <p:nvSpPr>
          <p:cNvPr id="17" name="Shape 15"/>
          <p:cNvSpPr/>
          <p:nvPr/>
        </p:nvSpPr>
        <p:spPr>
          <a:xfrm>
            <a:off x="8449056" y="1481328"/>
            <a:ext cx="2057400" cy="960120"/>
          </a:xfrm>
          <a:prstGeom prst="roundRect">
            <a:avLst>
              <a:gd name="adj" fmla="val 9524"/>
            </a:avLst>
          </a:prstGeom>
          <a:solidFill>
            <a:srgbClr val="FFFFFF"/>
          </a:solidFill>
          <a:ln w="12700">
            <a:solidFill>
              <a:srgbClr val="D6E3DF"/>
            </a:solidFill>
            <a:prstDash val="solid"/>
          </a:ln>
        </p:spPr>
      </p:sp>
      <p:sp>
        <p:nvSpPr>
          <p:cNvPr id="18" name="Text 16"/>
          <p:cNvSpPr/>
          <p:nvPr/>
        </p:nvSpPr>
        <p:spPr>
          <a:xfrm>
            <a:off x="8613648" y="1618488"/>
            <a:ext cx="1728216" cy="384048"/>
          </a:xfrm>
          <a:prstGeom prst="rect">
            <a:avLst/>
          </a:prstGeom>
          <a:noFill/>
          <a:ln/>
        </p:spPr>
        <p:txBody>
          <a:bodyPr wrap="square" lIns="0" tIns="0" rIns="0" bIns="0" rtlCol="0" anchor="ctr">
            <a:normAutofit/>
          </a:bodyPr>
          <a:lstStyle/>
          <a:p>
            <a:pPr marL="0" indent="0" algn="ctr">
              <a:buNone/>
            </a:pPr>
            <a:r>
              <a:rPr lang="en-US" sz="2400" b="1" dirty="0">
                <a:solidFill>
                  <a:srgbClr val="F2994A"/>
                </a:solidFill>
              </a:rPr>
              <a:t>5</a:t>
            </a:r>
            <a:endParaRPr lang="en-US" sz="2400" dirty="0"/>
          </a:p>
        </p:txBody>
      </p:sp>
      <p:sp>
        <p:nvSpPr>
          <p:cNvPr id="19" name="Text 17"/>
          <p:cNvSpPr/>
          <p:nvPr/>
        </p:nvSpPr>
        <p:spPr>
          <a:xfrm>
            <a:off x="8586216" y="2066544"/>
            <a:ext cx="1783080" cy="228600"/>
          </a:xfrm>
          <a:prstGeom prst="rect">
            <a:avLst/>
          </a:prstGeom>
          <a:noFill/>
          <a:ln/>
        </p:spPr>
        <p:txBody>
          <a:bodyPr wrap="square" lIns="0" tIns="0" rIns="0" bIns="0" rtlCol="0" anchor="ctr">
            <a:normAutofit/>
          </a:bodyPr>
          <a:lstStyle/>
          <a:p>
            <a:pPr marL="0" indent="0" algn="ctr">
              <a:buNone/>
            </a:pPr>
            <a:r>
              <a:rPr lang="en-US" sz="1050" dirty="0">
                <a:solidFill>
                  <a:srgbClr val="5E7178"/>
                </a:solidFill>
              </a:rPr>
              <a:t>Unit kegiatan</a:t>
            </a:r>
            <a:endParaRPr lang="en-US" sz="1050" dirty="0"/>
          </a:p>
        </p:txBody>
      </p:sp>
      <p:sp>
        <p:nvSpPr>
          <p:cNvPr id="20" name="Shape 18"/>
          <p:cNvSpPr/>
          <p:nvPr/>
        </p:nvSpPr>
        <p:spPr>
          <a:xfrm>
            <a:off x="3913632" y="2743200"/>
            <a:ext cx="3063240" cy="2514600"/>
          </a:xfrm>
          <a:prstGeom prst="roundRect">
            <a:avLst>
              <a:gd name="adj" fmla="val 3636"/>
            </a:avLst>
          </a:prstGeom>
          <a:solidFill>
            <a:srgbClr val="FFFFFF"/>
          </a:solidFill>
          <a:ln w="12700">
            <a:solidFill>
              <a:srgbClr val="D6E3DF"/>
            </a:solidFill>
            <a:prstDash val="solid"/>
          </a:ln>
        </p:spPr>
      </p:sp>
      <p:sp>
        <p:nvSpPr>
          <p:cNvPr id="21" name="Shape 19"/>
          <p:cNvSpPr/>
          <p:nvPr/>
        </p:nvSpPr>
        <p:spPr>
          <a:xfrm>
            <a:off x="3913632" y="2743200"/>
            <a:ext cx="73152" cy="2514600"/>
          </a:xfrm>
          <a:prstGeom prst="rect">
            <a:avLst/>
          </a:prstGeom>
          <a:solidFill>
            <a:srgbClr val="0F6B72"/>
          </a:solidFill>
          <a:ln w="12700">
            <a:solidFill>
              <a:srgbClr val="0F6B72"/>
            </a:solidFill>
            <a:prstDash val="solid"/>
          </a:ln>
        </p:spPr>
      </p:sp>
      <p:sp>
        <p:nvSpPr>
          <p:cNvPr id="22" name="Text 20"/>
          <p:cNvSpPr/>
          <p:nvPr/>
        </p:nvSpPr>
        <p:spPr>
          <a:xfrm>
            <a:off x="4169664" y="2944368"/>
            <a:ext cx="256032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Profil singkat</a:t>
            </a:r>
            <a:endParaRPr lang="en-US" sz="1650" dirty="0"/>
          </a:p>
        </p:txBody>
      </p:sp>
      <p:sp>
        <p:nvSpPr>
          <p:cNvPr id="23" name="Text 21"/>
          <p:cNvSpPr/>
          <p:nvPr/>
        </p:nvSpPr>
        <p:spPr>
          <a:xfrm>
            <a:off x="4169664" y="3364992"/>
            <a:ext cx="2560320" cy="1691640"/>
          </a:xfrm>
          <a:prstGeom prst="rect">
            <a:avLst/>
          </a:prstGeom>
          <a:noFill/>
          <a:ln/>
        </p:spPr>
        <p:txBody>
          <a:bodyPr wrap="square" lIns="0" tIns="0" rIns="0" bIns="0" rtlCol="0" anchor="t">
            <a:normAutofit/>
          </a:bodyPr>
          <a:lstStyle/>
          <a:p>
            <a:pPr marL="0" indent="0">
              <a:buNone/>
            </a:pPr>
            <a:r>
              <a:rPr lang="en-US" sz="1380" dirty="0">
                <a:solidFill>
                  <a:srgbClr val="1E2D36"/>
                </a:solidFill>
              </a:rPr>
              <a:t>YBLI adalah LSM yang bergerak dalam penguatan kapasitas masyarakat melalui pendidikan, kesehatan, ekonomi, dan sosial keagamaan. Berdiri pada 21 Januari 2013 di Kota Manado.</a:t>
            </a:r>
            <a:endParaRPr lang="en-US" sz="1380" dirty="0"/>
          </a:p>
        </p:txBody>
      </p:sp>
      <p:sp>
        <p:nvSpPr>
          <p:cNvPr id="24" name="Shape 22"/>
          <p:cNvSpPr/>
          <p:nvPr/>
        </p:nvSpPr>
        <p:spPr>
          <a:xfrm>
            <a:off x="7269480" y="2743200"/>
            <a:ext cx="3246120" cy="2514600"/>
          </a:xfrm>
          <a:prstGeom prst="roundRect">
            <a:avLst>
              <a:gd name="adj" fmla="val 3636"/>
            </a:avLst>
          </a:prstGeom>
          <a:solidFill>
            <a:srgbClr val="FFFFFF"/>
          </a:solidFill>
          <a:ln w="12700">
            <a:solidFill>
              <a:srgbClr val="D6E3DF"/>
            </a:solidFill>
            <a:prstDash val="solid"/>
          </a:ln>
        </p:spPr>
      </p:sp>
      <p:sp>
        <p:nvSpPr>
          <p:cNvPr id="25" name="Shape 23"/>
          <p:cNvSpPr/>
          <p:nvPr/>
        </p:nvSpPr>
        <p:spPr>
          <a:xfrm>
            <a:off x="7269480" y="2743200"/>
            <a:ext cx="73152" cy="2514600"/>
          </a:xfrm>
          <a:prstGeom prst="rect">
            <a:avLst/>
          </a:prstGeom>
          <a:solidFill>
            <a:srgbClr val="F2C94C"/>
          </a:solidFill>
          <a:ln w="12700">
            <a:solidFill>
              <a:srgbClr val="F2C94C"/>
            </a:solidFill>
            <a:prstDash val="solid"/>
          </a:ln>
        </p:spPr>
      </p:sp>
      <p:sp>
        <p:nvSpPr>
          <p:cNvPr id="26" name="Text 24"/>
          <p:cNvSpPr/>
          <p:nvPr/>
        </p:nvSpPr>
        <p:spPr>
          <a:xfrm>
            <a:off x="7525512" y="2944368"/>
            <a:ext cx="274320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Kaitan dengan penelitian</a:t>
            </a:r>
            <a:endParaRPr lang="en-US" sz="1650" dirty="0"/>
          </a:p>
        </p:txBody>
      </p:sp>
      <p:sp>
        <p:nvSpPr>
          <p:cNvPr id="27" name="Text 25"/>
          <p:cNvSpPr/>
          <p:nvPr/>
        </p:nvSpPr>
        <p:spPr>
          <a:xfrm>
            <a:off x="7525512" y="3364992"/>
            <a:ext cx="2743200" cy="1691640"/>
          </a:xfrm>
          <a:prstGeom prst="rect">
            <a:avLst/>
          </a:prstGeom>
          <a:noFill/>
          <a:ln/>
        </p:spPr>
        <p:txBody>
          <a:bodyPr wrap="square" lIns="0" tIns="0" rIns="0" bIns="0" rtlCol="0" anchor="t">
            <a:normAutofit/>
          </a:bodyPr>
          <a:lstStyle/>
          <a:p>
            <a:pPr marL="0" indent="0">
              <a:buNone/>
            </a:pPr>
            <a:r>
              <a:rPr lang="en-US" sz="1380" dirty="0">
                <a:solidFill>
                  <a:srgbClr val="1E2D36"/>
                </a:solidFill>
              </a:rPr>
              <a:t>Mitra ini relevan karena penelitian membantu pengelolaan dan pemetaan data UMKM, termasuk penemuan lokasi, kualitas data, pengajuan publik, serta analisis zonasi.</a:t>
            </a:r>
            <a:endParaRPr lang="en-US" sz="1380" dirty="0"/>
          </a:p>
        </p:txBody>
      </p:sp>
      <p:sp>
        <p:nvSpPr>
          <p:cNvPr id="28" name="Text 26"/>
          <p:cNvSpPr/>
          <p:nvPr/>
        </p:nvSpPr>
        <p:spPr>
          <a:xfrm>
            <a:off x="8458200" y="6528816"/>
            <a:ext cx="2788920" cy="201168"/>
          </a:xfrm>
          <a:prstGeom prst="rect">
            <a:avLst/>
          </a:prstGeom>
          <a:noFill/>
          <a:ln/>
        </p:spPr>
        <p:txBody>
          <a:bodyPr wrap="square" lIns="0" tIns="0" rIns="0" bIns="0" rtlCol="0" anchor="ctr">
            <a:normAutofit/>
          </a:bodyPr>
          <a:lstStyle/>
          <a:p>
            <a:pPr marL="0" indent="0" algn="r">
              <a:buNone/>
            </a:pPr>
            <a:r>
              <a:rPr lang="en-US" sz="750" dirty="0">
                <a:solidFill>
                  <a:srgbClr val="7A8D93"/>
                </a:solidFill>
              </a:rPr>
              <a:t>Sumber: ybli.or.id/tentang-kami</a:t>
            </a:r>
            <a:endParaRPr lang="en-US" sz="750" dirty="0"/>
          </a:p>
        </p:txBody>
      </p:sp>
      <p:sp>
        <p:nvSpPr>
          <p:cNvPr id="29"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393192"/>
            <a:ext cx="10789920" cy="438912"/>
          </a:xfrm>
          <a:prstGeom prst="rect">
            <a:avLst/>
          </a:prstGeom>
          <a:noFill/>
          <a:ln/>
        </p:spPr>
        <p:txBody>
          <a:bodyPr wrap="square" lIns="0" tIns="0" rIns="0" bIns="0" rtlCol="0" anchor="ctr">
            <a:normAutofit/>
          </a:bodyPr>
          <a:lstStyle/>
          <a:p>
            <a:pPr marL="0" indent="0">
              <a:buNone/>
            </a:pPr>
            <a:r>
              <a:rPr lang="en-US" sz="3000" b="1" dirty="0">
                <a:solidFill>
                  <a:srgbClr val="09212B"/>
                </a:solidFill>
                <a:latin typeface="Aptos Display" pitchFamily="34" charset="0"/>
                <a:ea typeface="Aptos Display" pitchFamily="34" charset="-122"/>
                <a:cs typeface="Aptos Display" pitchFamily="34" charset="-120"/>
              </a:rPr>
              <a:t>Latar Belakang Masalah</a:t>
            </a:r>
            <a:endParaRPr lang="en-US" sz="3000" dirty="0"/>
          </a:p>
        </p:txBody>
      </p:sp>
      <p:sp>
        <p:nvSpPr>
          <p:cNvPr id="3" name="Text 1"/>
          <p:cNvSpPr/>
          <p:nvPr/>
        </p:nvSpPr>
        <p:spPr>
          <a:xfrm>
            <a:off x="685800" y="886968"/>
            <a:ext cx="9966960" cy="274320"/>
          </a:xfrm>
          <a:prstGeom prst="rect">
            <a:avLst/>
          </a:prstGeom>
          <a:noFill/>
          <a:ln/>
        </p:spPr>
        <p:txBody>
          <a:bodyPr wrap="square" lIns="0" tIns="0" rIns="0" bIns="0" rtlCol="0" anchor="ctr">
            <a:normAutofit/>
          </a:bodyPr>
          <a:lstStyle/>
          <a:p>
            <a:pPr marL="0" indent="0">
              <a:buNone/>
            </a:pPr>
            <a:r>
              <a:rPr lang="en-US" sz="1300" dirty="0">
                <a:solidFill>
                  <a:srgbClr val="5E7178"/>
                </a:solidFill>
              </a:rPr>
              <a:t>Dari data tabel menjadi informasi wilayah</a:t>
            </a:r>
            <a:endParaRPr lang="en-US" sz="1300" dirty="0"/>
          </a:p>
        </p:txBody>
      </p:sp>
      <p:sp>
        <p:nvSpPr>
          <p:cNvPr id="4" name="Shape 2"/>
          <p:cNvSpPr/>
          <p:nvPr/>
        </p:nvSpPr>
        <p:spPr>
          <a:xfrm>
            <a:off x="658368" y="1188720"/>
            <a:ext cx="868680" cy="64008"/>
          </a:xfrm>
          <a:prstGeom prst="rect">
            <a:avLst/>
          </a:prstGeom>
          <a:solidFill>
            <a:srgbClr val="F2C94C"/>
          </a:solidFill>
          <a:ln w="12700">
            <a:solidFill>
              <a:srgbClr val="F2C94C"/>
            </a:solidFill>
            <a:prstDash val="solid"/>
          </a:ln>
        </p:spPr>
      </p:sp>
      <p:sp>
        <p:nvSpPr>
          <p:cNvPr id="5" name="Shape 3"/>
          <p:cNvSpPr/>
          <p:nvPr/>
        </p:nvSpPr>
        <p:spPr>
          <a:xfrm>
            <a:off x="7406640" y="1298448"/>
            <a:ext cx="3977640" cy="3886200"/>
          </a:xfrm>
          <a:prstGeom prst="roundRect">
            <a:avLst>
              <a:gd name="adj" fmla="val 1882"/>
            </a:avLst>
          </a:prstGeom>
          <a:solidFill>
            <a:srgbClr val="FFFFFF"/>
          </a:solidFill>
          <a:ln w="12700">
            <a:solidFill>
              <a:srgbClr val="D6E3DF"/>
            </a:solidFill>
            <a:prstDash val="solid"/>
          </a:ln>
        </p:spPr>
      </p:sp>
      <p:pic>
        <p:nvPicPr>
          <p:cNvPr id="6" name="Image 0" descr="/mnt/data/thesis_imgs/image6.png"/>
          <p:cNvPicPr>
            <a:picLocks noChangeAspect="1"/>
          </p:cNvPicPr>
          <p:nvPr/>
        </p:nvPicPr>
        <p:blipFill>
          <a:blip r:embed="rId3"/>
          <a:stretch>
            <a:fillRect/>
          </a:stretch>
        </p:blipFill>
        <p:spPr>
          <a:xfrm>
            <a:off x="7516368" y="2100671"/>
            <a:ext cx="3758184" cy="2281755"/>
          </a:xfrm>
          <a:prstGeom prst="rect">
            <a:avLst/>
          </a:prstGeom>
        </p:spPr>
      </p:pic>
      <p:sp>
        <p:nvSpPr>
          <p:cNvPr id="7" name="Shape 4"/>
          <p:cNvSpPr/>
          <p:nvPr/>
        </p:nvSpPr>
        <p:spPr>
          <a:xfrm>
            <a:off x="713232" y="1408176"/>
            <a:ext cx="6309360" cy="3950208"/>
          </a:xfrm>
          <a:prstGeom prst="roundRect">
            <a:avLst>
              <a:gd name="adj" fmla="val 2778"/>
            </a:avLst>
          </a:prstGeom>
          <a:solidFill>
            <a:srgbClr val="FFFFFF"/>
          </a:solidFill>
          <a:ln w="12700">
            <a:solidFill>
              <a:srgbClr val="D6E3DF"/>
            </a:solidFill>
            <a:prstDash val="solid"/>
          </a:ln>
        </p:spPr>
      </p:sp>
      <p:sp>
        <p:nvSpPr>
          <p:cNvPr id="8" name="Text 5"/>
          <p:cNvSpPr/>
          <p:nvPr/>
        </p:nvSpPr>
        <p:spPr>
          <a:xfrm>
            <a:off x="987552" y="1773936"/>
            <a:ext cx="5715000" cy="3291840"/>
          </a:xfrm>
          <a:prstGeom prst="rect">
            <a:avLst/>
          </a:prstGeom>
          <a:noFill/>
          <a:ln/>
        </p:spPr>
        <p:txBody>
          <a:bodyPr wrap="square" lIns="381" tIns="381" rIns="381" bIns="381" rtlCol="0" anchor="t">
            <a:normAutofit/>
          </a:bodyPr>
          <a:lstStyle/>
          <a:p>
            <a:pPr marL="139700" indent="-139700">
              <a:buSzPct val="100000"/>
              <a:buChar char="•"/>
            </a:pPr>
            <a:r>
              <a:rPr lang="en-US" sz="2000" dirty="0">
                <a:solidFill>
                  <a:srgbClr val="1E2D36"/>
                </a:solidFill>
                <a:latin typeface="Aptos" pitchFamily="34" charset="0"/>
                <a:ea typeface="Aptos" pitchFamily="34" charset="-122"/>
                <a:cs typeface="Aptos" pitchFamily="34" charset="-120"/>
              </a:rPr>
              <a:t>Data UMKM yang hanya berbentuk tabel sulit menunjukkan pola persebaran.</a:t>
            </a:r>
            <a:endParaRPr lang="en-US" sz="2000" dirty="0"/>
          </a:p>
          <a:p>
            <a:pPr marL="139700" indent="-139700">
              <a:buSzPct val="100000"/>
              <a:buChar char="•"/>
            </a:pPr>
            <a:r>
              <a:rPr lang="en-US" sz="2000" dirty="0">
                <a:solidFill>
                  <a:srgbClr val="1E2D36"/>
                </a:solidFill>
                <a:latin typeface="Aptos" pitchFamily="34" charset="0"/>
                <a:ea typeface="Aptos" pitchFamily="34" charset="-122"/>
                <a:cs typeface="Aptos" pitchFamily="34" charset="-120"/>
              </a:rPr>
              <a:t>Peta interaktif membantu pengguna melihat lokasi, mencari, dan memfilter UMKM.</a:t>
            </a:r>
            <a:endParaRPr lang="en-US" sz="2000" dirty="0"/>
          </a:p>
          <a:p>
            <a:pPr marL="139700" indent="-139700">
              <a:buSzPct val="100000"/>
              <a:buChar char="•"/>
            </a:pPr>
            <a:r>
              <a:rPr lang="en-US" sz="2000" dirty="0">
                <a:solidFill>
                  <a:srgbClr val="1E2D36"/>
                </a:solidFill>
                <a:latin typeface="Aptos" pitchFamily="34" charset="0"/>
                <a:ea typeface="Aptos" pitchFamily="34" charset="-122"/>
                <a:cs typeface="Aptos" pitchFamily="34" charset="-120"/>
              </a:rPr>
              <a:t>Masalah utama penelitian adalah kualitas koordinat yang belum semuanya presisi.</a:t>
            </a:r>
            <a:endParaRPr lang="en-US" sz="2000" dirty="0"/>
          </a:p>
          <a:p>
            <a:pPr marL="139700" indent="-139700">
              <a:buSzPct val="100000"/>
              <a:buChar char="•"/>
            </a:pPr>
            <a:r>
              <a:rPr lang="en-US" sz="2000" dirty="0">
                <a:solidFill>
                  <a:srgbClr val="1E2D36"/>
                </a:solidFill>
                <a:latin typeface="Aptos" pitchFamily="34" charset="0"/>
                <a:ea typeface="Aptos" pitchFamily="34" charset="-122"/>
                <a:cs typeface="Aptos" pitchFamily="34" charset="-120"/>
              </a:rPr>
              <a:t>Sistem perlu membedakan data untuk tampilan peta dan data untuk analisis.</a:t>
            </a:r>
            <a:endParaRPr lang="en-US" sz="2000" dirty="0"/>
          </a:p>
        </p:txBody>
      </p:sp>
      <p:sp>
        <p:nvSpPr>
          <p:cNvPr id="9" name="Shape 6"/>
          <p:cNvSpPr/>
          <p:nvPr/>
        </p:nvSpPr>
        <p:spPr>
          <a:xfrm>
            <a:off x="713232" y="5577840"/>
            <a:ext cx="6309360" cy="411480"/>
          </a:xfrm>
          <a:prstGeom prst="roundRect">
            <a:avLst>
              <a:gd name="adj" fmla="val 26667"/>
            </a:avLst>
          </a:prstGeom>
          <a:solidFill>
            <a:srgbClr val="DDF4EA"/>
          </a:solidFill>
          <a:ln w="12700">
            <a:solidFill>
              <a:srgbClr val="B8E5D7"/>
            </a:solidFill>
            <a:prstDash val="solid"/>
          </a:ln>
        </p:spPr>
      </p:sp>
      <p:sp>
        <p:nvSpPr>
          <p:cNvPr id="10" name="Text 7"/>
          <p:cNvSpPr/>
          <p:nvPr/>
        </p:nvSpPr>
        <p:spPr>
          <a:xfrm>
            <a:off x="960120" y="5705856"/>
            <a:ext cx="5806440" cy="109728"/>
          </a:xfrm>
          <a:prstGeom prst="rect">
            <a:avLst/>
          </a:prstGeom>
          <a:noFill/>
          <a:ln/>
        </p:spPr>
        <p:txBody>
          <a:bodyPr wrap="square" lIns="0" tIns="0" rIns="0" bIns="0" rtlCol="0" anchor="ctr">
            <a:normAutofit/>
          </a:bodyPr>
          <a:lstStyle/>
          <a:p>
            <a:pPr marL="0" indent="0" algn="ctr">
              <a:buNone/>
            </a:pPr>
            <a:r>
              <a:rPr lang="en-US" sz="1150" b="1" dirty="0">
                <a:solidFill>
                  <a:srgbClr val="0F6B72"/>
                </a:solidFill>
              </a:rPr>
              <a:t>Inti masalah: data UMKM perlu dibaca secara spasial, bukan hanya administratif.</a:t>
            </a:r>
            <a:endParaRPr lang="en-US" sz="1150" dirty="0"/>
          </a:p>
        </p:txBody>
      </p:sp>
      <p:sp>
        <p:nvSpPr>
          <p:cNvPr id="25"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393192"/>
            <a:ext cx="10789920" cy="438912"/>
          </a:xfrm>
          <a:prstGeom prst="rect">
            <a:avLst/>
          </a:prstGeom>
          <a:noFill/>
          <a:ln/>
        </p:spPr>
        <p:txBody>
          <a:bodyPr wrap="square" lIns="0" tIns="0" rIns="0" bIns="0" rtlCol="0" anchor="ctr">
            <a:normAutofit/>
          </a:bodyPr>
          <a:lstStyle/>
          <a:p>
            <a:pPr marL="0" indent="0">
              <a:buNone/>
            </a:pPr>
            <a:r>
              <a:rPr lang="en-US" sz="3000" b="1" dirty="0">
                <a:solidFill>
                  <a:srgbClr val="09212B"/>
                </a:solidFill>
                <a:latin typeface="Aptos Display" pitchFamily="34" charset="0"/>
                <a:ea typeface="Aptos Display" pitchFamily="34" charset="-122"/>
                <a:cs typeface="Aptos Display" pitchFamily="34" charset="-120"/>
              </a:rPr>
              <a:t>Rumusan Masalah dan Tujuan</a:t>
            </a:r>
            <a:endParaRPr lang="en-US" sz="3000" dirty="0"/>
          </a:p>
        </p:txBody>
      </p:sp>
      <p:sp>
        <p:nvSpPr>
          <p:cNvPr id="3" name="Text 1"/>
          <p:cNvSpPr/>
          <p:nvPr/>
        </p:nvSpPr>
        <p:spPr>
          <a:xfrm>
            <a:off x="685800" y="886968"/>
            <a:ext cx="9966960" cy="274320"/>
          </a:xfrm>
          <a:prstGeom prst="rect">
            <a:avLst/>
          </a:prstGeom>
          <a:noFill/>
          <a:ln/>
        </p:spPr>
        <p:txBody>
          <a:bodyPr wrap="square" lIns="0" tIns="0" rIns="0" bIns="0" rtlCol="0" anchor="ctr">
            <a:normAutofit/>
          </a:bodyPr>
          <a:lstStyle/>
          <a:p>
            <a:pPr marL="0" indent="0">
              <a:buNone/>
            </a:pPr>
            <a:r>
              <a:rPr lang="en-US" sz="1300" dirty="0">
                <a:solidFill>
                  <a:srgbClr val="5E7178"/>
                </a:solidFill>
              </a:rPr>
              <a:t>Pertanyaan penelitian diarahkan pada sistem, data, dan analisis</a:t>
            </a:r>
            <a:endParaRPr lang="en-US" sz="1300" dirty="0"/>
          </a:p>
        </p:txBody>
      </p:sp>
      <p:sp>
        <p:nvSpPr>
          <p:cNvPr id="4" name="Shape 2"/>
          <p:cNvSpPr/>
          <p:nvPr/>
        </p:nvSpPr>
        <p:spPr>
          <a:xfrm>
            <a:off x="658368" y="1188720"/>
            <a:ext cx="868680" cy="64008"/>
          </a:xfrm>
          <a:prstGeom prst="rect">
            <a:avLst/>
          </a:prstGeom>
          <a:solidFill>
            <a:srgbClr val="F2C94C"/>
          </a:solidFill>
          <a:ln w="12700">
            <a:solidFill>
              <a:srgbClr val="F2C94C"/>
            </a:solidFill>
            <a:prstDash val="solid"/>
          </a:ln>
        </p:spPr>
      </p:sp>
      <p:sp>
        <p:nvSpPr>
          <p:cNvPr id="5" name="Shape 3"/>
          <p:cNvSpPr/>
          <p:nvPr/>
        </p:nvSpPr>
        <p:spPr>
          <a:xfrm>
            <a:off x="713232" y="1335024"/>
            <a:ext cx="5303520" cy="4297680"/>
          </a:xfrm>
          <a:prstGeom prst="roundRect">
            <a:avLst>
              <a:gd name="adj" fmla="val 2128"/>
            </a:avLst>
          </a:prstGeom>
          <a:solidFill>
            <a:srgbClr val="FFFFFF"/>
          </a:solidFill>
          <a:ln w="12700">
            <a:solidFill>
              <a:srgbClr val="D6E3DF"/>
            </a:solidFill>
            <a:prstDash val="solid"/>
          </a:ln>
        </p:spPr>
      </p:sp>
      <p:sp>
        <p:nvSpPr>
          <p:cNvPr id="6" name="Shape 4"/>
          <p:cNvSpPr/>
          <p:nvPr/>
        </p:nvSpPr>
        <p:spPr>
          <a:xfrm>
            <a:off x="713232" y="1335024"/>
            <a:ext cx="73152" cy="4297680"/>
          </a:xfrm>
          <a:prstGeom prst="rect">
            <a:avLst/>
          </a:prstGeom>
          <a:solidFill>
            <a:srgbClr val="0F6B72"/>
          </a:solidFill>
          <a:ln w="12700">
            <a:solidFill>
              <a:srgbClr val="0F6B72"/>
            </a:solidFill>
            <a:prstDash val="solid"/>
          </a:ln>
        </p:spPr>
      </p:sp>
      <p:sp>
        <p:nvSpPr>
          <p:cNvPr id="7" name="Text 5"/>
          <p:cNvSpPr/>
          <p:nvPr/>
        </p:nvSpPr>
        <p:spPr>
          <a:xfrm>
            <a:off x="969264" y="1536192"/>
            <a:ext cx="480060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Rumusan masalah utama</a:t>
            </a:r>
            <a:endParaRPr lang="en-US" sz="1650" dirty="0"/>
          </a:p>
        </p:txBody>
      </p:sp>
      <p:sp>
        <p:nvSpPr>
          <p:cNvPr id="8" name="Text 6"/>
          <p:cNvSpPr/>
          <p:nvPr/>
        </p:nvSpPr>
        <p:spPr>
          <a:xfrm>
            <a:off x="969264" y="1956816"/>
            <a:ext cx="4800600" cy="3474720"/>
          </a:xfrm>
          <a:prstGeom prst="rect">
            <a:avLst/>
          </a:prstGeom>
          <a:noFill/>
          <a:ln/>
        </p:spPr>
        <p:txBody>
          <a:bodyPr wrap="square" lIns="0" tIns="0" rIns="0" bIns="0" rtlCol="0" anchor="t">
            <a:normAutofit/>
          </a:bodyPr>
          <a:lstStyle/>
          <a:p>
            <a:pPr marL="0" indent="0">
              <a:buNone/>
            </a:pPr>
            <a:r>
              <a:rPr lang="en-US" sz="1380" dirty="0">
                <a:solidFill>
                  <a:srgbClr val="1E2D36"/>
                </a:solidFill>
              </a:rPr>
              <a:t>1. Bagaimana membangun Web GIS UMKM?</a:t>
            </a:r>
            <a:endParaRPr lang="en-US" sz="1380" dirty="0"/>
          </a:p>
          <a:p>
            <a:pPr marL="0" indent="0">
              <a:buNone/>
            </a:pPr>
            <a:endParaRPr lang="en-US" sz="1380" dirty="0"/>
          </a:p>
          <a:p>
            <a:pPr marL="0" indent="0">
              <a:buNone/>
            </a:pPr>
            <a:r>
              <a:rPr lang="en-US" sz="1380" dirty="0">
                <a:solidFill>
                  <a:srgbClr val="1E2D36"/>
                </a:solidFill>
              </a:rPr>
              <a:t>2. Bagaimana menyediakan pengajuan publik, pelacakan, dan admin?</a:t>
            </a:r>
            <a:endParaRPr lang="en-US" sz="1380" dirty="0"/>
          </a:p>
          <a:p>
            <a:pPr marL="0" indent="0">
              <a:buNone/>
            </a:pPr>
            <a:endParaRPr lang="en-US" sz="1380" dirty="0"/>
          </a:p>
          <a:p>
            <a:pPr marL="0" indent="0">
              <a:buNone/>
            </a:pPr>
            <a:r>
              <a:rPr lang="en-US" sz="1380" dirty="0">
                <a:solidFill>
                  <a:srgbClr val="1E2D36"/>
                </a:solidFill>
              </a:rPr>
              <a:t>3. Bagaimana membedakan kualitas koordinat?</a:t>
            </a:r>
            <a:endParaRPr lang="en-US" sz="1380" dirty="0"/>
          </a:p>
          <a:p>
            <a:pPr marL="0" indent="0">
              <a:buNone/>
            </a:pPr>
            <a:endParaRPr lang="en-US" sz="1380" dirty="0"/>
          </a:p>
          <a:p>
            <a:pPr marL="0" indent="0">
              <a:buNone/>
            </a:pPr>
            <a:r>
              <a:rPr lang="en-US" sz="1380" dirty="0">
                <a:solidFill>
                  <a:srgbClr val="1E2D36"/>
                </a:solidFill>
              </a:rPr>
              <a:t>4. Bagaimana menerapkan K-Means++ dengan Haversine?</a:t>
            </a:r>
            <a:endParaRPr lang="en-US" sz="1380" dirty="0"/>
          </a:p>
          <a:p>
            <a:pPr marL="0" indent="0">
              <a:buNone/>
            </a:pPr>
            <a:endParaRPr lang="en-US" sz="1380" dirty="0"/>
          </a:p>
          <a:p>
            <a:pPr marL="0" indent="0">
              <a:buNone/>
            </a:pPr>
            <a:r>
              <a:rPr lang="en-US" sz="1380" dirty="0">
                <a:solidFill>
                  <a:srgbClr val="1E2D36"/>
                </a:solidFill>
              </a:rPr>
              <a:t>5. Bagaimana memverifikasi sistem melalui pengujian?</a:t>
            </a:r>
            <a:endParaRPr lang="en-US" sz="1380" dirty="0"/>
          </a:p>
        </p:txBody>
      </p:sp>
      <p:sp>
        <p:nvSpPr>
          <p:cNvPr id="9" name="Shape 7"/>
          <p:cNvSpPr/>
          <p:nvPr/>
        </p:nvSpPr>
        <p:spPr>
          <a:xfrm>
            <a:off x="6309360" y="1335024"/>
            <a:ext cx="5138928" cy="4297680"/>
          </a:xfrm>
          <a:prstGeom prst="roundRect">
            <a:avLst>
              <a:gd name="adj" fmla="val 2128"/>
            </a:avLst>
          </a:prstGeom>
          <a:solidFill>
            <a:srgbClr val="FFFDF2"/>
          </a:solidFill>
          <a:ln w="12700">
            <a:solidFill>
              <a:srgbClr val="D6E3DF"/>
            </a:solidFill>
            <a:prstDash val="solid"/>
          </a:ln>
        </p:spPr>
      </p:sp>
      <p:sp>
        <p:nvSpPr>
          <p:cNvPr id="10" name="Shape 8"/>
          <p:cNvSpPr/>
          <p:nvPr/>
        </p:nvSpPr>
        <p:spPr>
          <a:xfrm>
            <a:off x="6309360" y="1335024"/>
            <a:ext cx="73152" cy="4297680"/>
          </a:xfrm>
          <a:prstGeom prst="rect">
            <a:avLst/>
          </a:prstGeom>
          <a:solidFill>
            <a:srgbClr val="F2C94C"/>
          </a:solidFill>
          <a:ln w="12700">
            <a:solidFill>
              <a:srgbClr val="F2C94C"/>
            </a:solidFill>
            <a:prstDash val="solid"/>
          </a:ln>
        </p:spPr>
      </p:sp>
      <p:sp>
        <p:nvSpPr>
          <p:cNvPr id="11" name="Text 9"/>
          <p:cNvSpPr/>
          <p:nvPr/>
        </p:nvSpPr>
        <p:spPr>
          <a:xfrm>
            <a:off x="6565392" y="1536192"/>
            <a:ext cx="4636008"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Tujuan penelitian</a:t>
            </a:r>
            <a:endParaRPr lang="en-US" sz="1650" dirty="0"/>
          </a:p>
        </p:txBody>
      </p:sp>
      <p:sp>
        <p:nvSpPr>
          <p:cNvPr id="12" name="Text 10"/>
          <p:cNvSpPr/>
          <p:nvPr/>
        </p:nvSpPr>
        <p:spPr>
          <a:xfrm>
            <a:off x="6565392" y="1956816"/>
            <a:ext cx="4636008" cy="3474720"/>
          </a:xfrm>
          <a:prstGeom prst="rect">
            <a:avLst/>
          </a:prstGeom>
          <a:noFill/>
          <a:ln/>
        </p:spPr>
        <p:txBody>
          <a:bodyPr wrap="square" lIns="0" tIns="0" rIns="0" bIns="0" rtlCol="0" anchor="t">
            <a:normAutofit/>
          </a:bodyPr>
          <a:lstStyle/>
          <a:p>
            <a:pPr marL="0" indent="0">
              <a:buNone/>
            </a:pPr>
            <a:r>
              <a:rPr lang="en-US" sz="1380" dirty="0">
                <a:solidFill>
                  <a:srgbClr val="1E2D36"/>
                </a:solidFill>
              </a:rPr>
              <a:t>Mengembangkan aplikasi Web GIS yang interaktif, memiliki layanan publik dan panel admin, mengelola kualitas lokasi, menerapkan K-Means spasial, serta menyimpan hasil analisis agar dapat ditelusuri kembali.</a:t>
            </a:r>
            <a:endParaRPr lang="en-US" sz="1380" dirty="0"/>
          </a:p>
        </p:txBody>
      </p:sp>
      <p:sp>
        <p:nvSpPr>
          <p:cNvPr id="13" name="Shape 11"/>
          <p:cNvSpPr/>
          <p:nvPr/>
        </p:nvSpPr>
        <p:spPr>
          <a:xfrm>
            <a:off x="6309360" y="5687568"/>
            <a:ext cx="5138928" cy="438912"/>
          </a:xfrm>
          <a:prstGeom prst="roundRect">
            <a:avLst>
              <a:gd name="adj" fmla="val 25000"/>
            </a:avLst>
          </a:prstGeom>
          <a:solidFill>
            <a:srgbClr val="0F4C5C"/>
          </a:solidFill>
          <a:ln w="12700">
            <a:solidFill>
              <a:srgbClr val="0F4C5C"/>
            </a:solidFill>
            <a:prstDash val="solid"/>
          </a:ln>
        </p:spPr>
      </p:sp>
      <p:sp>
        <p:nvSpPr>
          <p:cNvPr id="14" name="Text 12"/>
          <p:cNvSpPr/>
          <p:nvPr/>
        </p:nvSpPr>
        <p:spPr>
          <a:xfrm>
            <a:off x="6565392" y="5815584"/>
            <a:ext cx="4617720" cy="10972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rPr>
              <a:t>Fokus: sistem berfungsi dan hasil analisis dapat dipertanggungjawabkan.</a:t>
            </a:r>
            <a:endParaRPr lang="en-US" sz="1300" dirty="0"/>
          </a:p>
        </p:txBody>
      </p:sp>
      <p:sp>
        <p:nvSpPr>
          <p:cNvPr id="25"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393192"/>
            <a:ext cx="10789920" cy="438912"/>
          </a:xfrm>
          <a:prstGeom prst="rect">
            <a:avLst/>
          </a:prstGeom>
          <a:noFill/>
          <a:ln/>
        </p:spPr>
        <p:txBody>
          <a:bodyPr wrap="square" lIns="0" tIns="0" rIns="0" bIns="0" rtlCol="0" anchor="ctr">
            <a:normAutofit/>
          </a:bodyPr>
          <a:lstStyle/>
          <a:p>
            <a:pPr marL="0" indent="0">
              <a:buNone/>
            </a:pPr>
            <a:r>
              <a:rPr lang="en-US" sz="3000" b="1" dirty="0">
                <a:solidFill>
                  <a:srgbClr val="09212B"/>
                </a:solidFill>
                <a:latin typeface="Aptos Display" pitchFamily="34" charset="0"/>
                <a:ea typeface="Aptos Display" pitchFamily="34" charset="-122"/>
                <a:cs typeface="Aptos Display" pitchFamily="34" charset="-120"/>
              </a:rPr>
              <a:t>Solusi yang Dibangun</a:t>
            </a:r>
            <a:endParaRPr lang="en-US" sz="3000" dirty="0"/>
          </a:p>
        </p:txBody>
      </p:sp>
      <p:sp>
        <p:nvSpPr>
          <p:cNvPr id="3" name="Text 1"/>
          <p:cNvSpPr/>
          <p:nvPr/>
        </p:nvSpPr>
        <p:spPr>
          <a:xfrm>
            <a:off x="685800" y="886968"/>
            <a:ext cx="9966960" cy="274320"/>
          </a:xfrm>
          <a:prstGeom prst="rect">
            <a:avLst/>
          </a:prstGeom>
          <a:noFill/>
          <a:ln/>
        </p:spPr>
        <p:txBody>
          <a:bodyPr wrap="square" lIns="0" tIns="0" rIns="0" bIns="0" rtlCol="0" anchor="ctr">
            <a:normAutofit/>
          </a:bodyPr>
          <a:lstStyle/>
          <a:p>
            <a:pPr marL="0" indent="0">
              <a:buNone/>
            </a:pPr>
            <a:r>
              <a:rPr lang="en-US" sz="1300" dirty="0">
                <a:solidFill>
                  <a:srgbClr val="5E7178"/>
                </a:solidFill>
              </a:rPr>
              <a:t>Web GIS UMKM dengan dua jalur utama: publik dan admin</a:t>
            </a:r>
            <a:endParaRPr lang="en-US" sz="1300" dirty="0"/>
          </a:p>
        </p:txBody>
      </p:sp>
      <p:sp>
        <p:nvSpPr>
          <p:cNvPr id="4" name="Shape 2"/>
          <p:cNvSpPr/>
          <p:nvPr/>
        </p:nvSpPr>
        <p:spPr>
          <a:xfrm>
            <a:off x="658368" y="1188720"/>
            <a:ext cx="868680" cy="64008"/>
          </a:xfrm>
          <a:prstGeom prst="rect">
            <a:avLst/>
          </a:prstGeom>
          <a:solidFill>
            <a:srgbClr val="F2C94C"/>
          </a:solidFill>
          <a:ln w="12700">
            <a:solidFill>
              <a:srgbClr val="F2C94C"/>
            </a:solidFill>
            <a:prstDash val="solid"/>
          </a:ln>
        </p:spPr>
      </p:sp>
      <p:sp>
        <p:nvSpPr>
          <p:cNvPr id="5" name="Shape 3"/>
          <p:cNvSpPr/>
          <p:nvPr/>
        </p:nvSpPr>
        <p:spPr>
          <a:xfrm>
            <a:off x="731520" y="1417320"/>
            <a:ext cx="10716768" cy="493776"/>
          </a:xfrm>
          <a:prstGeom prst="roundRect">
            <a:avLst>
              <a:gd name="adj" fmla="val 25926"/>
            </a:avLst>
          </a:prstGeom>
          <a:solidFill>
            <a:srgbClr val="0B2F3A"/>
          </a:solidFill>
          <a:ln w="12700">
            <a:solidFill>
              <a:srgbClr val="0B2F3A"/>
            </a:solidFill>
            <a:prstDash val="solid"/>
          </a:ln>
        </p:spPr>
      </p:sp>
      <p:sp>
        <p:nvSpPr>
          <p:cNvPr id="6" name="Text 4"/>
          <p:cNvSpPr/>
          <p:nvPr/>
        </p:nvSpPr>
        <p:spPr>
          <a:xfrm>
            <a:off x="960120" y="1572768"/>
            <a:ext cx="10241280" cy="146304"/>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rPr>
              <a:t>Aplikasi menghubungkan data UMKM, peta interaktif, pengajuan publik, verifikasi lokasi, dan analisis K-Means.</a:t>
            </a:r>
            <a:endParaRPr lang="en-US" sz="1320" dirty="0"/>
          </a:p>
        </p:txBody>
      </p:sp>
      <p:sp>
        <p:nvSpPr>
          <p:cNvPr id="7" name="Shape 5"/>
          <p:cNvSpPr/>
          <p:nvPr/>
        </p:nvSpPr>
        <p:spPr>
          <a:xfrm>
            <a:off x="804672" y="2395728"/>
            <a:ext cx="3246120" cy="2606040"/>
          </a:xfrm>
          <a:prstGeom prst="roundRect">
            <a:avLst>
              <a:gd name="adj" fmla="val 3509"/>
            </a:avLst>
          </a:prstGeom>
          <a:solidFill>
            <a:srgbClr val="FFFFFF"/>
          </a:solidFill>
          <a:ln w="12700">
            <a:solidFill>
              <a:srgbClr val="D6E3DF"/>
            </a:solidFill>
            <a:prstDash val="solid"/>
          </a:ln>
        </p:spPr>
      </p:sp>
      <p:sp>
        <p:nvSpPr>
          <p:cNvPr id="8" name="Shape 6"/>
          <p:cNvSpPr/>
          <p:nvPr/>
        </p:nvSpPr>
        <p:spPr>
          <a:xfrm>
            <a:off x="804672" y="2395728"/>
            <a:ext cx="73152" cy="2606040"/>
          </a:xfrm>
          <a:prstGeom prst="rect">
            <a:avLst/>
          </a:prstGeom>
          <a:solidFill>
            <a:srgbClr val="1B98A8"/>
          </a:solidFill>
          <a:ln w="12700">
            <a:solidFill>
              <a:srgbClr val="1B98A8"/>
            </a:solidFill>
            <a:prstDash val="solid"/>
          </a:ln>
        </p:spPr>
      </p:sp>
      <p:sp>
        <p:nvSpPr>
          <p:cNvPr id="9" name="Text 7"/>
          <p:cNvSpPr/>
          <p:nvPr/>
        </p:nvSpPr>
        <p:spPr>
          <a:xfrm>
            <a:off x="1060704" y="2596896"/>
            <a:ext cx="274320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Publik</a:t>
            </a:r>
            <a:endParaRPr lang="en-US" sz="1650" dirty="0"/>
          </a:p>
        </p:txBody>
      </p:sp>
      <p:sp>
        <p:nvSpPr>
          <p:cNvPr id="10" name="Text 8"/>
          <p:cNvSpPr/>
          <p:nvPr/>
        </p:nvSpPr>
        <p:spPr>
          <a:xfrm>
            <a:off x="1060704" y="3017520"/>
            <a:ext cx="2743200" cy="1783080"/>
          </a:xfrm>
          <a:prstGeom prst="rect">
            <a:avLst/>
          </a:prstGeom>
          <a:noFill/>
          <a:ln/>
        </p:spPr>
        <p:txBody>
          <a:bodyPr wrap="square" lIns="0" tIns="0" rIns="0" bIns="0" rtlCol="0" anchor="t">
            <a:normAutofit/>
          </a:bodyPr>
          <a:lstStyle/>
          <a:p>
            <a:pPr marL="0" indent="0">
              <a:buNone/>
            </a:pPr>
            <a:r>
              <a:rPr lang="en-US" sz="1380" dirty="0">
                <a:solidFill>
                  <a:srgbClr val="1E2D36"/>
                </a:solidFill>
              </a:rPr>
              <a:t>Melihat peta, mencari UMKM, filter kategori, melihat rute, menemukan UMKM terdekat, berbagi tautan, dan mengajukan UMKM baru.</a:t>
            </a:r>
            <a:endParaRPr lang="en-US" sz="1380" dirty="0"/>
          </a:p>
        </p:txBody>
      </p:sp>
      <p:sp>
        <p:nvSpPr>
          <p:cNvPr id="11" name="Shape 9"/>
          <p:cNvSpPr/>
          <p:nvPr/>
        </p:nvSpPr>
        <p:spPr>
          <a:xfrm>
            <a:off x="4462272" y="2395728"/>
            <a:ext cx="3246120" cy="2606040"/>
          </a:xfrm>
          <a:prstGeom prst="roundRect">
            <a:avLst>
              <a:gd name="adj" fmla="val 3509"/>
            </a:avLst>
          </a:prstGeom>
          <a:solidFill>
            <a:srgbClr val="FFFFFF"/>
          </a:solidFill>
          <a:ln w="12700">
            <a:solidFill>
              <a:srgbClr val="D6E3DF"/>
            </a:solidFill>
            <a:prstDash val="solid"/>
          </a:ln>
        </p:spPr>
      </p:sp>
      <p:sp>
        <p:nvSpPr>
          <p:cNvPr id="12" name="Shape 10"/>
          <p:cNvSpPr/>
          <p:nvPr/>
        </p:nvSpPr>
        <p:spPr>
          <a:xfrm>
            <a:off x="4462272" y="2395728"/>
            <a:ext cx="73152" cy="2606040"/>
          </a:xfrm>
          <a:prstGeom prst="rect">
            <a:avLst/>
          </a:prstGeom>
          <a:solidFill>
            <a:srgbClr val="0F6B72"/>
          </a:solidFill>
          <a:ln w="12700">
            <a:solidFill>
              <a:srgbClr val="0F6B72"/>
            </a:solidFill>
            <a:prstDash val="solid"/>
          </a:ln>
        </p:spPr>
      </p:sp>
      <p:sp>
        <p:nvSpPr>
          <p:cNvPr id="13" name="Text 11"/>
          <p:cNvSpPr/>
          <p:nvPr/>
        </p:nvSpPr>
        <p:spPr>
          <a:xfrm>
            <a:off x="4718304" y="2596896"/>
            <a:ext cx="274320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Admin</a:t>
            </a:r>
            <a:endParaRPr lang="en-US" sz="1650" dirty="0"/>
          </a:p>
        </p:txBody>
      </p:sp>
      <p:sp>
        <p:nvSpPr>
          <p:cNvPr id="14" name="Text 12"/>
          <p:cNvSpPr/>
          <p:nvPr/>
        </p:nvSpPr>
        <p:spPr>
          <a:xfrm>
            <a:off x="4718304" y="3017520"/>
            <a:ext cx="2743200" cy="1783080"/>
          </a:xfrm>
          <a:prstGeom prst="rect">
            <a:avLst/>
          </a:prstGeom>
          <a:noFill/>
          <a:ln/>
        </p:spPr>
        <p:txBody>
          <a:bodyPr wrap="square" lIns="0" tIns="0" rIns="0" bIns="0" rtlCol="0" anchor="t">
            <a:normAutofit/>
          </a:bodyPr>
          <a:lstStyle/>
          <a:p>
            <a:pPr marL="0" indent="0">
              <a:buNone/>
            </a:pPr>
            <a:r>
              <a:rPr lang="en-US" sz="1380" dirty="0">
                <a:solidFill>
                  <a:srgbClr val="1E2D36"/>
                </a:solidFill>
              </a:rPr>
              <a:t>Mengelola data UMKM, meninjau pengajuan, memverifikasi koordinat, menjalankan K-Means, melakukan import/export, dan melihat audit.</a:t>
            </a:r>
            <a:endParaRPr lang="en-US" sz="1380" dirty="0"/>
          </a:p>
        </p:txBody>
      </p:sp>
      <p:sp>
        <p:nvSpPr>
          <p:cNvPr id="15" name="Shape 13"/>
          <p:cNvSpPr/>
          <p:nvPr/>
        </p:nvSpPr>
        <p:spPr>
          <a:xfrm>
            <a:off x="8119872" y="2395728"/>
            <a:ext cx="3246120" cy="2606040"/>
          </a:xfrm>
          <a:prstGeom prst="roundRect">
            <a:avLst>
              <a:gd name="adj" fmla="val 3509"/>
            </a:avLst>
          </a:prstGeom>
          <a:solidFill>
            <a:srgbClr val="FFFDF2"/>
          </a:solidFill>
          <a:ln w="12700">
            <a:solidFill>
              <a:srgbClr val="D6E3DF"/>
            </a:solidFill>
            <a:prstDash val="solid"/>
          </a:ln>
        </p:spPr>
      </p:sp>
      <p:sp>
        <p:nvSpPr>
          <p:cNvPr id="16" name="Shape 14"/>
          <p:cNvSpPr/>
          <p:nvPr/>
        </p:nvSpPr>
        <p:spPr>
          <a:xfrm>
            <a:off x="8119872" y="2395728"/>
            <a:ext cx="73152" cy="2606040"/>
          </a:xfrm>
          <a:prstGeom prst="rect">
            <a:avLst/>
          </a:prstGeom>
          <a:solidFill>
            <a:srgbClr val="F2C94C"/>
          </a:solidFill>
          <a:ln w="12700">
            <a:solidFill>
              <a:srgbClr val="F2C94C"/>
            </a:solidFill>
            <a:prstDash val="solid"/>
          </a:ln>
        </p:spPr>
      </p:sp>
      <p:sp>
        <p:nvSpPr>
          <p:cNvPr id="17" name="Text 15"/>
          <p:cNvSpPr/>
          <p:nvPr/>
        </p:nvSpPr>
        <p:spPr>
          <a:xfrm>
            <a:off x="8375904" y="2596896"/>
            <a:ext cx="274320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Analisis</a:t>
            </a:r>
            <a:endParaRPr lang="en-US" sz="1650" dirty="0"/>
          </a:p>
        </p:txBody>
      </p:sp>
      <p:sp>
        <p:nvSpPr>
          <p:cNvPr id="18" name="Text 16"/>
          <p:cNvSpPr/>
          <p:nvPr/>
        </p:nvSpPr>
        <p:spPr>
          <a:xfrm>
            <a:off x="8375904" y="3017520"/>
            <a:ext cx="2743200" cy="1783080"/>
          </a:xfrm>
          <a:prstGeom prst="rect">
            <a:avLst/>
          </a:prstGeom>
          <a:noFill/>
          <a:ln/>
        </p:spPr>
        <p:txBody>
          <a:bodyPr wrap="square" lIns="0" tIns="0" rIns="0" bIns="0" rtlCol="0" anchor="t">
            <a:normAutofit/>
          </a:bodyPr>
          <a:lstStyle/>
          <a:p>
            <a:pPr marL="0" indent="0">
              <a:buNone/>
            </a:pPr>
            <a:r>
              <a:rPr lang="en-US" sz="1380" dirty="0">
                <a:solidFill>
                  <a:srgbClr val="1E2D36"/>
                </a:solidFill>
              </a:rPr>
              <a:t>K-Means++ membentuk zona spasial, menghitung WCSS, centroid, radius, snapshot, dan hash dataset.</a:t>
            </a:r>
            <a:endParaRPr lang="en-US" sz="1380" dirty="0"/>
          </a:p>
        </p:txBody>
      </p:sp>
      <p:sp>
        <p:nvSpPr>
          <p:cNvPr id="19" name="Shape 17"/>
          <p:cNvSpPr/>
          <p:nvPr/>
        </p:nvSpPr>
        <p:spPr>
          <a:xfrm>
            <a:off x="4087368" y="3694176"/>
            <a:ext cx="292608" cy="0"/>
          </a:xfrm>
          <a:prstGeom prst="line">
            <a:avLst/>
          </a:prstGeom>
          <a:noFill/>
          <a:ln w="25400">
            <a:solidFill>
              <a:srgbClr val="F2C94C"/>
            </a:solidFill>
            <a:prstDash val="solid"/>
            <a:headEnd type="none"/>
            <a:tailEnd type="triangle"/>
          </a:ln>
        </p:spPr>
      </p:sp>
      <p:sp>
        <p:nvSpPr>
          <p:cNvPr id="20" name="Shape 18"/>
          <p:cNvSpPr/>
          <p:nvPr/>
        </p:nvSpPr>
        <p:spPr>
          <a:xfrm>
            <a:off x="7744968" y="3694176"/>
            <a:ext cx="292608" cy="0"/>
          </a:xfrm>
          <a:prstGeom prst="line">
            <a:avLst/>
          </a:prstGeom>
          <a:noFill/>
          <a:ln w="25400">
            <a:solidFill>
              <a:srgbClr val="F2C94C"/>
            </a:solidFill>
            <a:prstDash val="solid"/>
            <a:headEnd type="none"/>
            <a:tailEnd type="triangle"/>
          </a:ln>
        </p:spPr>
      </p:sp>
      <p:sp>
        <p:nvSpPr>
          <p:cNvPr id="25"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393192"/>
            <a:ext cx="10789920" cy="438912"/>
          </a:xfrm>
          <a:prstGeom prst="rect">
            <a:avLst/>
          </a:prstGeom>
          <a:noFill/>
          <a:ln/>
        </p:spPr>
        <p:txBody>
          <a:bodyPr wrap="square" lIns="0" tIns="0" rIns="0" bIns="0" rtlCol="0" anchor="ctr">
            <a:normAutofit/>
          </a:bodyPr>
          <a:lstStyle/>
          <a:p>
            <a:pPr marL="0" indent="0">
              <a:buNone/>
            </a:pPr>
            <a:r>
              <a:rPr lang="en-US" sz="3000" b="1" dirty="0">
                <a:solidFill>
                  <a:srgbClr val="09212B"/>
                </a:solidFill>
                <a:latin typeface="Aptos Display" pitchFamily="34" charset="0"/>
                <a:ea typeface="Aptos Display" pitchFamily="34" charset="-122"/>
                <a:cs typeface="Aptos Display" pitchFamily="34" charset="-120"/>
              </a:rPr>
              <a:t>Metodologi Penelitian</a:t>
            </a:r>
            <a:endParaRPr lang="en-US" sz="3000" dirty="0"/>
          </a:p>
        </p:txBody>
      </p:sp>
      <p:sp>
        <p:nvSpPr>
          <p:cNvPr id="3" name="Text 1"/>
          <p:cNvSpPr/>
          <p:nvPr/>
        </p:nvSpPr>
        <p:spPr>
          <a:xfrm>
            <a:off x="685800" y="886968"/>
            <a:ext cx="9966960" cy="274320"/>
          </a:xfrm>
          <a:prstGeom prst="rect">
            <a:avLst/>
          </a:prstGeom>
          <a:noFill/>
          <a:ln/>
        </p:spPr>
        <p:txBody>
          <a:bodyPr wrap="square" lIns="0" tIns="0" rIns="0" bIns="0" rtlCol="0" anchor="ctr">
            <a:normAutofit/>
          </a:bodyPr>
          <a:lstStyle/>
          <a:p>
            <a:pPr marL="0" indent="0">
              <a:buNone/>
            </a:pPr>
            <a:r>
              <a:rPr lang="en-US" sz="1300" dirty="0">
                <a:solidFill>
                  <a:srgbClr val="5E7178"/>
                </a:solidFill>
              </a:rPr>
              <a:t>Tahapan pengembangan dan evaluasi sistem</a:t>
            </a:r>
            <a:endParaRPr lang="en-US" sz="1300" dirty="0"/>
          </a:p>
        </p:txBody>
      </p:sp>
      <p:sp>
        <p:nvSpPr>
          <p:cNvPr id="4" name="Shape 2"/>
          <p:cNvSpPr/>
          <p:nvPr/>
        </p:nvSpPr>
        <p:spPr>
          <a:xfrm>
            <a:off x="658368" y="1188720"/>
            <a:ext cx="868680" cy="64008"/>
          </a:xfrm>
          <a:prstGeom prst="rect">
            <a:avLst/>
          </a:prstGeom>
          <a:solidFill>
            <a:srgbClr val="F2C94C"/>
          </a:solidFill>
          <a:ln w="12700">
            <a:solidFill>
              <a:srgbClr val="F2C94C"/>
            </a:solidFill>
            <a:prstDash val="solid"/>
          </a:ln>
        </p:spPr>
      </p:sp>
      <p:sp>
        <p:nvSpPr>
          <p:cNvPr id="5" name="Shape 3"/>
          <p:cNvSpPr/>
          <p:nvPr/>
        </p:nvSpPr>
        <p:spPr>
          <a:xfrm>
            <a:off x="6995160" y="1325880"/>
            <a:ext cx="4297680" cy="4297680"/>
          </a:xfrm>
          <a:prstGeom prst="roundRect">
            <a:avLst>
              <a:gd name="adj" fmla="val 1702"/>
            </a:avLst>
          </a:prstGeom>
          <a:solidFill>
            <a:srgbClr val="FFFFFF"/>
          </a:solidFill>
          <a:ln w="12700">
            <a:solidFill>
              <a:srgbClr val="D6E3DF"/>
            </a:solidFill>
            <a:prstDash val="solid"/>
          </a:ln>
        </p:spPr>
      </p:sp>
      <p:pic>
        <p:nvPicPr>
          <p:cNvPr id="6" name="Image 0" descr="/mnt/data/thesis_imgs/image2.png"/>
          <p:cNvPicPr>
            <a:picLocks noChangeAspect="1"/>
          </p:cNvPicPr>
          <p:nvPr/>
        </p:nvPicPr>
        <p:blipFill>
          <a:blip r:embed="rId3"/>
          <a:stretch>
            <a:fillRect/>
          </a:stretch>
        </p:blipFill>
        <p:spPr>
          <a:xfrm>
            <a:off x="7104888" y="1520571"/>
            <a:ext cx="4078224" cy="3908298"/>
          </a:xfrm>
          <a:prstGeom prst="rect">
            <a:avLst/>
          </a:prstGeom>
        </p:spPr>
      </p:pic>
      <p:sp>
        <p:nvSpPr>
          <p:cNvPr id="7" name="Shape 4"/>
          <p:cNvSpPr/>
          <p:nvPr/>
        </p:nvSpPr>
        <p:spPr>
          <a:xfrm>
            <a:off x="777240" y="1353312"/>
            <a:ext cx="5806440" cy="713232"/>
          </a:xfrm>
          <a:prstGeom prst="roundRect">
            <a:avLst>
              <a:gd name="adj" fmla="val 12821"/>
            </a:avLst>
          </a:prstGeom>
          <a:solidFill>
            <a:srgbClr val="FFFFFF"/>
          </a:solidFill>
          <a:ln w="12700">
            <a:solidFill>
              <a:srgbClr val="D6E3DF"/>
            </a:solidFill>
            <a:prstDash val="solid"/>
          </a:ln>
        </p:spPr>
      </p:sp>
      <p:sp>
        <p:nvSpPr>
          <p:cNvPr id="8" name="Shape 5"/>
          <p:cNvSpPr/>
          <p:nvPr/>
        </p:nvSpPr>
        <p:spPr>
          <a:xfrm>
            <a:off x="960120" y="1508760"/>
            <a:ext cx="393192" cy="393192"/>
          </a:xfrm>
          <a:prstGeom prst="ellipse">
            <a:avLst/>
          </a:prstGeom>
          <a:solidFill>
            <a:srgbClr val="1B98A8"/>
          </a:solidFill>
          <a:ln w="12700">
            <a:solidFill>
              <a:srgbClr val="1B98A8"/>
            </a:solidFill>
            <a:prstDash val="solid"/>
          </a:ln>
        </p:spPr>
      </p:sp>
      <p:sp>
        <p:nvSpPr>
          <p:cNvPr id="9" name="Text 6"/>
          <p:cNvSpPr/>
          <p:nvPr/>
        </p:nvSpPr>
        <p:spPr>
          <a:xfrm>
            <a:off x="960120" y="1577340"/>
            <a:ext cx="393192" cy="109728"/>
          </a:xfrm>
          <a:prstGeom prst="rect">
            <a:avLst/>
          </a:prstGeom>
          <a:noFill/>
          <a:ln/>
        </p:spPr>
        <p:txBody>
          <a:bodyPr wrap="square" lIns="0" tIns="0" rIns="0" bIns="0" rtlCol="0" anchor="ctr"/>
          <a:lstStyle/>
          <a:p>
            <a:pPr marL="0" indent="0" algn="ctr">
              <a:buNone/>
            </a:pPr>
            <a:r>
              <a:rPr lang="en-US" sz="880" b="1" dirty="0">
                <a:solidFill>
                  <a:srgbClr val="FFFFFF"/>
                </a:solidFill>
              </a:rPr>
              <a:t>1</a:t>
            </a:r>
            <a:endParaRPr lang="en-US" sz="880" dirty="0"/>
          </a:p>
        </p:txBody>
      </p:sp>
      <p:sp>
        <p:nvSpPr>
          <p:cNvPr id="10" name="Text 7"/>
          <p:cNvSpPr/>
          <p:nvPr/>
        </p:nvSpPr>
        <p:spPr>
          <a:xfrm>
            <a:off x="1536192" y="1527048"/>
            <a:ext cx="4663440" cy="329184"/>
          </a:xfrm>
          <a:prstGeom prst="rect">
            <a:avLst/>
          </a:prstGeom>
          <a:noFill/>
          <a:ln/>
        </p:spPr>
        <p:txBody>
          <a:bodyPr wrap="square" lIns="0" tIns="0" rIns="0" bIns="0" rtlCol="0" anchor="ctr">
            <a:normAutofit/>
          </a:bodyPr>
          <a:lstStyle/>
          <a:p>
            <a:pPr marL="0" indent="0" algn="l">
              <a:buNone/>
            </a:pPr>
            <a:r>
              <a:rPr lang="en-US" sz="1550" b="1" dirty="0">
                <a:solidFill>
                  <a:srgbClr val="1E2D36"/>
                </a:solidFill>
              </a:rPr>
              <a:t>Analisis kebutuhan dan data spasial</a:t>
            </a:r>
            <a:endParaRPr lang="en-US" sz="1550" dirty="0"/>
          </a:p>
        </p:txBody>
      </p:sp>
      <p:sp>
        <p:nvSpPr>
          <p:cNvPr id="11" name="Shape 8"/>
          <p:cNvSpPr/>
          <p:nvPr/>
        </p:nvSpPr>
        <p:spPr>
          <a:xfrm>
            <a:off x="777240" y="2176272"/>
            <a:ext cx="5806440" cy="713232"/>
          </a:xfrm>
          <a:prstGeom prst="roundRect">
            <a:avLst>
              <a:gd name="adj" fmla="val 12821"/>
            </a:avLst>
          </a:prstGeom>
          <a:solidFill>
            <a:srgbClr val="F1F7F5"/>
          </a:solidFill>
          <a:ln w="12700">
            <a:solidFill>
              <a:srgbClr val="D6E3DF"/>
            </a:solidFill>
            <a:prstDash val="solid"/>
          </a:ln>
        </p:spPr>
      </p:sp>
      <p:sp>
        <p:nvSpPr>
          <p:cNvPr id="12" name="Shape 9"/>
          <p:cNvSpPr/>
          <p:nvPr/>
        </p:nvSpPr>
        <p:spPr>
          <a:xfrm>
            <a:off x="960120" y="2331720"/>
            <a:ext cx="393192" cy="393192"/>
          </a:xfrm>
          <a:prstGeom prst="ellipse">
            <a:avLst/>
          </a:prstGeom>
          <a:solidFill>
            <a:srgbClr val="1B98A8"/>
          </a:solidFill>
          <a:ln w="12700">
            <a:solidFill>
              <a:srgbClr val="1B98A8"/>
            </a:solidFill>
            <a:prstDash val="solid"/>
          </a:ln>
        </p:spPr>
      </p:sp>
      <p:sp>
        <p:nvSpPr>
          <p:cNvPr id="13" name="Text 10"/>
          <p:cNvSpPr/>
          <p:nvPr/>
        </p:nvSpPr>
        <p:spPr>
          <a:xfrm>
            <a:off x="960120" y="2400300"/>
            <a:ext cx="393192" cy="109728"/>
          </a:xfrm>
          <a:prstGeom prst="rect">
            <a:avLst/>
          </a:prstGeom>
          <a:noFill/>
          <a:ln/>
        </p:spPr>
        <p:txBody>
          <a:bodyPr wrap="square" lIns="0" tIns="0" rIns="0" bIns="0" rtlCol="0" anchor="ctr"/>
          <a:lstStyle/>
          <a:p>
            <a:pPr marL="0" indent="0" algn="ctr">
              <a:buNone/>
            </a:pPr>
            <a:r>
              <a:rPr lang="en-US" sz="880" b="1" dirty="0">
                <a:solidFill>
                  <a:srgbClr val="FFFFFF"/>
                </a:solidFill>
              </a:rPr>
              <a:t>2</a:t>
            </a:r>
            <a:endParaRPr lang="en-US" sz="880" dirty="0"/>
          </a:p>
        </p:txBody>
      </p:sp>
      <p:sp>
        <p:nvSpPr>
          <p:cNvPr id="14" name="Text 11"/>
          <p:cNvSpPr/>
          <p:nvPr/>
        </p:nvSpPr>
        <p:spPr>
          <a:xfrm>
            <a:off x="1536192" y="2350008"/>
            <a:ext cx="4663440" cy="329184"/>
          </a:xfrm>
          <a:prstGeom prst="rect">
            <a:avLst/>
          </a:prstGeom>
          <a:noFill/>
          <a:ln/>
        </p:spPr>
        <p:txBody>
          <a:bodyPr wrap="square" lIns="0" tIns="0" rIns="0" bIns="0" rtlCol="0" anchor="ctr">
            <a:normAutofit/>
          </a:bodyPr>
          <a:lstStyle/>
          <a:p>
            <a:pPr marL="0" indent="0" algn="l">
              <a:buNone/>
            </a:pPr>
            <a:r>
              <a:rPr lang="en-US" sz="1550" b="1" dirty="0">
                <a:solidFill>
                  <a:srgbClr val="1E2D36"/>
                </a:solidFill>
              </a:rPr>
              <a:t>Perancangan arsitektur, basis data, dan hak akses</a:t>
            </a:r>
            <a:endParaRPr lang="en-US" sz="1550" dirty="0"/>
          </a:p>
        </p:txBody>
      </p:sp>
      <p:sp>
        <p:nvSpPr>
          <p:cNvPr id="15" name="Shape 12"/>
          <p:cNvSpPr/>
          <p:nvPr/>
        </p:nvSpPr>
        <p:spPr>
          <a:xfrm>
            <a:off x="777240" y="2999232"/>
            <a:ext cx="5806440" cy="713232"/>
          </a:xfrm>
          <a:prstGeom prst="roundRect">
            <a:avLst>
              <a:gd name="adj" fmla="val 12821"/>
            </a:avLst>
          </a:prstGeom>
          <a:solidFill>
            <a:srgbClr val="FFFFFF"/>
          </a:solidFill>
          <a:ln w="12700">
            <a:solidFill>
              <a:srgbClr val="D6E3DF"/>
            </a:solidFill>
            <a:prstDash val="solid"/>
          </a:ln>
        </p:spPr>
      </p:sp>
      <p:sp>
        <p:nvSpPr>
          <p:cNvPr id="16" name="Shape 13"/>
          <p:cNvSpPr/>
          <p:nvPr/>
        </p:nvSpPr>
        <p:spPr>
          <a:xfrm>
            <a:off x="960120" y="3154680"/>
            <a:ext cx="393192" cy="393192"/>
          </a:xfrm>
          <a:prstGeom prst="ellipse">
            <a:avLst/>
          </a:prstGeom>
          <a:solidFill>
            <a:srgbClr val="0F6B72"/>
          </a:solidFill>
          <a:ln w="12700">
            <a:solidFill>
              <a:srgbClr val="0F6B72"/>
            </a:solidFill>
            <a:prstDash val="solid"/>
          </a:ln>
        </p:spPr>
      </p:sp>
      <p:sp>
        <p:nvSpPr>
          <p:cNvPr id="17" name="Text 14"/>
          <p:cNvSpPr/>
          <p:nvPr/>
        </p:nvSpPr>
        <p:spPr>
          <a:xfrm>
            <a:off x="960120" y="3223260"/>
            <a:ext cx="393192" cy="109728"/>
          </a:xfrm>
          <a:prstGeom prst="rect">
            <a:avLst/>
          </a:prstGeom>
          <a:noFill/>
          <a:ln/>
        </p:spPr>
        <p:txBody>
          <a:bodyPr wrap="square" lIns="0" tIns="0" rIns="0" bIns="0" rtlCol="0" anchor="ctr"/>
          <a:lstStyle/>
          <a:p>
            <a:pPr marL="0" indent="0" algn="ctr">
              <a:buNone/>
            </a:pPr>
            <a:r>
              <a:rPr lang="en-US" sz="880" b="1" dirty="0">
                <a:solidFill>
                  <a:srgbClr val="FFFFFF"/>
                </a:solidFill>
              </a:rPr>
              <a:t>3</a:t>
            </a:r>
            <a:endParaRPr lang="en-US" sz="880" dirty="0"/>
          </a:p>
        </p:txBody>
      </p:sp>
      <p:sp>
        <p:nvSpPr>
          <p:cNvPr id="18" name="Text 15"/>
          <p:cNvSpPr/>
          <p:nvPr/>
        </p:nvSpPr>
        <p:spPr>
          <a:xfrm>
            <a:off x="1536192" y="3172968"/>
            <a:ext cx="4663440" cy="329184"/>
          </a:xfrm>
          <a:prstGeom prst="rect">
            <a:avLst/>
          </a:prstGeom>
          <a:noFill/>
          <a:ln/>
        </p:spPr>
        <p:txBody>
          <a:bodyPr wrap="square" lIns="0" tIns="0" rIns="0" bIns="0" rtlCol="0" anchor="ctr">
            <a:normAutofit/>
          </a:bodyPr>
          <a:lstStyle/>
          <a:p>
            <a:pPr marL="0" indent="0" algn="l">
              <a:buNone/>
            </a:pPr>
            <a:r>
              <a:rPr lang="en-US" sz="1550" b="1" dirty="0">
                <a:solidFill>
                  <a:srgbClr val="1E2D36"/>
                </a:solidFill>
              </a:rPr>
              <a:t>Implementasi Web GIS, admin, dan layanan publik</a:t>
            </a:r>
            <a:endParaRPr lang="en-US" sz="1550" dirty="0"/>
          </a:p>
        </p:txBody>
      </p:sp>
      <p:sp>
        <p:nvSpPr>
          <p:cNvPr id="19" name="Shape 16"/>
          <p:cNvSpPr/>
          <p:nvPr/>
        </p:nvSpPr>
        <p:spPr>
          <a:xfrm>
            <a:off x="777240" y="3822192"/>
            <a:ext cx="5806440" cy="713232"/>
          </a:xfrm>
          <a:prstGeom prst="roundRect">
            <a:avLst>
              <a:gd name="adj" fmla="val 12821"/>
            </a:avLst>
          </a:prstGeom>
          <a:solidFill>
            <a:srgbClr val="F1F7F5"/>
          </a:solidFill>
          <a:ln w="12700">
            <a:solidFill>
              <a:srgbClr val="D6E3DF"/>
            </a:solidFill>
            <a:prstDash val="solid"/>
          </a:ln>
        </p:spPr>
      </p:sp>
      <p:sp>
        <p:nvSpPr>
          <p:cNvPr id="20" name="Shape 17"/>
          <p:cNvSpPr/>
          <p:nvPr/>
        </p:nvSpPr>
        <p:spPr>
          <a:xfrm>
            <a:off x="960120" y="3977640"/>
            <a:ext cx="393192" cy="393192"/>
          </a:xfrm>
          <a:prstGeom prst="ellipse">
            <a:avLst/>
          </a:prstGeom>
          <a:solidFill>
            <a:srgbClr val="0F6B72"/>
          </a:solidFill>
          <a:ln w="12700">
            <a:solidFill>
              <a:srgbClr val="0F6B72"/>
            </a:solidFill>
            <a:prstDash val="solid"/>
          </a:ln>
        </p:spPr>
      </p:sp>
      <p:sp>
        <p:nvSpPr>
          <p:cNvPr id="21" name="Text 18"/>
          <p:cNvSpPr/>
          <p:nvPr/>
        </p:nvSpPr>
        <p:spPr>
          <a:xfrm>
            <a:off x="960120" y="4046220"/>
            <a:ext cx="393192" cy="109728"/>
          </a:xfrm>
          <a:prstGeom prst="rect">
            <a:avLst/>
          </a:prstGeom>
          <a:noFill/>
          <a:ln/>
        </p:spPr>
        <p:txBody>
          <a:bodyPr wrap="square" lIns="0" tIns="0" rIns="0" bIns="0" rtlCol="0" anchor="ctr"/>
          <a:lstStyle/>
          <a:p>
            <a:pPr marL="0" indent="0" algn="ctr">
              <a:buNone/>
            </a:pPr>
            <a:r>
              <a:rPr lang="en-US" sz="880" b="1" dirty="0">
                <a:solidFill>
                  <a:srgbClr val="FFFFFF"/>
                </a:solidFill>
              </a:rPr>
              <a:t>4</a:t>
            </a:r>
            <a:endParaRPr lang="en-US" sz="880" dirty="0"/>
          </a:p>
        </p:txBody>
      </p:sp>
      <p:sp>
        <p:nvSpPr>
          <p:cNvPr id="22" name="Text 19"/>
          <p:cNvSpPr/>
          <p:nvPr/>
        </p:nvSpPr>
        <p:spPr>
          <a:xfrm>
            <a:off x="1536192" y="3995928"/>
            <a:ext cx="4663440" cy="329184"/>
          </a:xfrm>
          <a:prstGeom prst="rect">
            <a:avLst/>
          </a:prstGeom>
          <a:noFill/>
          <a:ln/>
        </p:spPr>
        <p:txBody>
          <a:bodyPr wrap="square" lIns="0" tIns="0" rIns="0" bIns="0" rtlCol="0" anchor="ctr">
            <a:normAutofit/>
          </a:bodyPr>
          <a:lstStyle/>
          <a:p>
            <a:pPr marL="0" indent="0" algn="l">
              <a:buNone/>
            </a:pPr>
            <a:r>
              <a:rPr lang="en-US" sz="1550" b="1" dirty="0">
                <a:solidFill>
                  <a:srgbClr val="1E2D36"/>
                </a:solidFill>
              </a:rPr>
              <a:t>Verifikasi lokasi dan penerapan K-Means</a:t>
            </a:r>
            <a:endParaRPr lang="en-US" sz="1550" dirty="0"/>
          </a:p>
        </p:txBody>
      </p:sp>
      <p:sp>
        <p:nvSpPr>
          <p:cNvPr id="23" name="Shape 20"/>
          <p:cNvSpPr/>
          <p:nvPr/>
        </p:nvSpPr>
        <p:spPr>
          <a:xfrm>
            <a:off x="777240" y="4645152"/>
            <a:ext cx="5806440" cy="713232"/>
          </a:xfrm>
          <a:prstGeom prst="roundRect">
            <a:avLst>
              <a:gd name="adj" fmla="val 12821"/>
            </a:avLst>
          </a:prstGeom>
          <a:solidFill>
            <a:srgbClr val="FFFFFF"/>
          </a:solidFill>
          <a:ln w="12700">
            <a:solidFill>
              <a:srgbClr val="D6E3DF"/>
            </a:solidFill>
            <a:prstDash val="solid"/>
          </a:ln>
        </p:spPr>
      </p:sp>
      <p:sp>
        <p:nvSpPr>
          <p:cNvPr id="24" name="Shape 21"/>
          <p:cNvSpPr/>
          <p:nvPr/>
        </p:nvSpPr>
        <p:spPr>
          <a:xfrm>
            <a:off x="960120" y="4800600"/>
            <a:ext cx="393192" cy="393192"/>
          </a:xfrm>
          <a:prstGeom prst="ellipse">
            <a:avLst/>
          </a:prstGeom>
          <a:solidFill>
            <a:srgbClr val="F2C94C"/>
          </a:solidFill>
          <a:ln w="12700">
            <a:solidFill>
              <a:srgbClr val="F2C94C"/>
            </a:solidFill>
            <a:prstDash val="solid"/>
          </a:ln>
        </p:spPr>
      </p:sp>
      <p:sp>
        <p:nvSpPr>
          <p:cNvPr id="25" name="Text 22"/>
          <p:cNvSpPr/>
          <p:nvPr/>
        </p:nvSpPr>
        <p:spPr>
          <a:xfrm>
            <a:off x="960120" y="4869180"/>
            <a:ext cx="393192" cy="109728"/>
          </a:xfrm>
          <a:prstGeom prst="rect">
            <a:avLst/>
          </a:prstGeom>
          <a:noFill/>
          <a:ln/>
        </p:spPr>
        <p:txBody>
          <a:bodyPr wrap="square" lIns="0" tIns="0" rIns="0" bIns="0" rtlCol="0" anchor="ctr"/>
          <a:lstStyle/>
          <a:p>
            <a:pPr marL="0" indent="0" algn="ctr">
              <a:buNone/>
            </a:pPr>
            <a:r>
              <a:rPr lang="en-US" sz="880" b="1" dirty="0">
                <a:solidFill>
                  <a:srgbClr val="FFFFFF"/>
                </a:solidFill>
              </a:rPr>
              <a:t>5</a:t>
            </a:r>
            <a:endParaRPr lang="en-US" sz="880" dirty="0"/>
          </a:p>
        </p:txBody>
      </p:sp>
      <p:sp>
        <p:nvSpPr>
          <p:cNvPr id="26" name="Text 23"/>
          <p:cNvSpPr/>
          <p:nvPr/>
        </p:nvSpPr>
        <p:spPr>
          <a:xfrm>
            <a:off x="1536192" y="4818888"/>
            <a:ext cx="4663440" cy="329184"/>
          </a:xfrm>
          <a:prstGeom prst="rect">
            <a:avLst/>
          </a:prstGeom>
          <a:noFill/>
          <a:ln/>
        </p:spPr>
        <p:txBody>
          <a:bodyPr wrap="square" lIns="0" tIns="0" rIns="0" bIns="0" rtlCol="0" anchor="ctr">
            <a:normAutofit/>
          </a:bodyPr>
          <a:lstStyle/>
          <a:p>
            <a:pPr marL="0" indent="0" algn="l">
              <a:buNone/>
            </a:pPr>
            <a:r>
              <a:rPr lang="en-US" sz="1550" b="1" dirty="0">
                <a:solidFill>
                  <a:srgbClr val="1E2D36"/>
                </a:solidFill>
              </a:rPr>
              <a:t>Pengujian, evaluasi WCSS, dan dokumentasi hasil</a:t>
            </a:r>
            <a:endParaRPr lang="en-US" sz="1550" dirty="0"/>
          </a:p>
        </p:txBody>
      </p:sp>
      <p:sp>
        <p:nvSpPr>
          <p:cNvPr id="27" name="Shape 24"/>
          <p:cNvSpPr/>
          <p:nvPr/>
        </p:nvSpPr>
        <p:spPr>
          <a:xfrm>
            <a:off x="777240" y="5705856"/>
            <a:ext cx="10515600" cy="320040"/>
          </a:xfrm>
          <a:prstGeom prst="roundRect">
            <a:avLst>
              <a:gd name="adj" fmla="val 34286"/>
            </a:avLst>
          </a:prstGeom>
          <a:solidFill>
            <a:srgbClr val="FFF8E8"/>
          </a:solidFill>
          <a:ln w="12700">
            <a:solidFill>
              <a:srgbClr val="F6D778"/>
            </a:solidFill>
            <a:prstDash val="solid"/>
          </a:ln>
        </p:spPr>
      </p:sp>
      <p:sp>
        <p:nvSpPr>
          <p:cNvPr id="28" name="Text 25"/>
          <p:cNvSpPr/>
          <p:nvPr/>
        </p:nvSpPr>
        <p:spPr>
          <a:xfrm>
            <a:off x="1005840" y="5797296"/>
            <a:ext cx="10012680" cy="109728"/>
          </a:xfrm>
          <a:prstGeom prst="rect">
            <a:avLst/>
          </a:prstGeom>
          <a:noFill/>
          <a:ln/>
        </p:spPr>
        <p:txBody>
          <a:bodyPr wrap="square" lIns="0" tIns="0" rIns="0" bIns="0" rtlCol="0" anchor="ctr">
            <a:normAutofit/>
          </a:bodyPr>
          <a:lstStyle/>
          <a:p>
            <a:pPr marL="0" indent="0" algn="ctr">
              <a:buNone/>
            </a:pPr>
            <a:r>
              <a:rPr lang="en-US" sz="1250" b="1" dirty="0">
                <a:solidFill>
                  <a:srgbClr val="09212B"/>
                </a:solidFill>
              </a:rPr>
              <a:t>Snapshot lokal: 1.802 record UMKM, 1.743 titik dianalisis, 59 dikecualikan.</a:t>
            </a:r>
            <a:endParaRPr lang="en-US" sz="1250" dirty="0"/>
          </a:p>
        </p:txBody>
      </p:sp>
      <p:sp>
        <p:nvSpPr>
          <p:cNvPr id="29"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8368" y="393192"/>
            <a:ext cx="10789920" cy="438912"/>
          </a:xfrm>
          <a:prstGeom prst="rect">
            <a:avLst/>
          </a:prstGeom>
          <a:noFill/>
          <a:ln/>
        </p:spPr>
        <p:txBody>
          <a:bodyPr wrap="square" lIns="0" tIns="0" rIns="0" bIns="0" rtlCol="0" anchor="ctr">
            <a:normAutofit/>
          </a:bodyPr>
          <a:lstStyle/>
          <a:p>
            <a:pPr marL="0" indent="0">
              <a:buNone/>
            </a:pPr>
            <a:r>
              <a:rPr lang="en-US" sz="3000" b="1" dirty="0">
                <a:solidFill>
                  <a:srgbClr val="09212B"/>
                </a:solidFill>
                <a:latin typeface="Aptos Display" pitchFamily="34" charset="0"/>
                <a:ea typeface="Aptos Display" pitchFamily="34" charset="-122"/>
                <a:cs typeface="Aptos Display" pitchFamily="34" charset="-120"/>
              </a:rPr>
              <a:t>Arsitektur Sistem</a:t>
            </a:r>
            <a:endParaRPr lang="en-US" sz="3000" dirty="0"/>
          </a:p>
        </p:txBody>
      </p:sp>
      <p:sp>
        <p:nvSpPr>
          <p:cNvPr id="3" name="Text 1"/>
          <p:cNvSpPr/>
          <p:nvPr/>
        </p:nvSpPr>
        <p:spPr>
          <a:xfrm>
            <a:off x="685800" y="886968"/>
            <a:ext cx="9966960" cy="274320"/>
          </a:xfrm>
          <a:prstGeom prst="rect">
            <a:avLst/>
          </a:prstGeom>
          <a:noFill/>
          <a:ln/>
        </p:spPr>
        <p:txBody>
          <a:bodyPr wrap="square" lIns="0" tIns="0" rIns="0" bIns="0" rtlCol="0" anchor="ctr">
            <a:normAutofit/>
          </a:bodyPr>
          <a:lstStyle/>
          <a:p>
            <a:pPr marL="0" indent="0">
              <a:buNone/>
            </a:pPr>
            <a:r>
              <a:rPr lang="en-US" sz="1300" dirty="0">
                <a:solidFill>
                  <a:srgbClr val="5E7178"/>
                </a:solidFill>
              </a:rPr>
              <a:t>Aliran data antara pengguna, aplikasi, algoritma, dan backend</a:t>
            </a:r>
            <a:endParaRPr lang="en-US" sz="1300" dirty="0"/>
          </a:p>
        </p:txBody>
      </p:sp>
      <p:sp>
        <p:nvSpPr>
          <p:cNvPr id="4" name="Shape 2"/>
          <p:cNvSpPr/>
          <p:nvPr/>
        </p:nvSpPr>
        <p:spPr>
          <a:xfrm>
            <a:off x="658368" y="1188720"/>
            <a:ext cx="868680" cy="64008"/>
          </a:xfrm>
          <a:prstGeom prst="rect">
            <a:avLst/>
          </a:prstGeom>
          <a:solidFill>
            <a:srgbClr val="F2C94C"/>
          </a:solidFill>
          <a:ln w="12700">
            <a:solidFill>
              <a:srgbClr val="F2C94C"/>
            </a:solidFill>
            <a:prstDash val="solid"/>
          </a:ln>
        </p:spPr>
      </p:sp>
      <p:sp>
        <p:nvSpPr>
          <p:cNvPr id="5" name="Shape 3"/>
          <p:cNvSpPr/>
          <p:nvPr/>
        </p:nvSpPr>
        <p:spPr>
          <a:xfrm>
            <a:off x="713232" y="1353312"/>
            <a:ext cx="5943600" cy="4526280"/>
          </a:xfrm>
          <a:prstGeom prst="roundRect">
            <a:avLst>
              <a:gd name="adj" fmla="val 1616"/>
            </a:avLst>
          </a:prstGeom>
          <a:solidFill>
            <a:srgbClr val="FFFFFF"/>
          </a:solidFill>
          <a:ln w="12700">
            <a:solidFill>
              <a:srgbClr val="D6E3DF"/>
            </a:solidFill>
            <a:prstDash val="solid"/>
          </a:ln>
        </p:spPr>
      </p:sp>
      <p:pic>
        <p:nvPicPr>
          <p:cNvPr id="6" name="Image 0" descr="/mnt/data/thesis_imgs/image3.png"/>
          <p:cNvPicPr>
            <a:picLocks noChangeAspect="1"/>
          </p:cNvPicPr>
          <p:nvPr/>
        </p:nvPicPr>
        <p:blipFill>
          <a:blip r:embed="rId3"/>
          <a:stretch>
            <a:fillRect/>
          </a:stretch>
        </p:blipFill>
        <p:spPr>
          <a:xfrm>
            <a:off x="822960" y="1878765"/>
            <a:ext cx="5724144" cy="3475373"/>
          </a:xfrm>
          <a:prstGeom prst="rect">
            <a:avLst/>
          </a:prstGeom>
        </p:spPr>
      </p:pic>
      <p:sp>
        <p:nvSpPr>
          <p:cNvPr id="7" name="Shape 4"/>
          <p:cNvSpPr/>
          <p:nvPr/>
        </p:nvSpPr>
        <p:spPr>
          <a:xfrm>
            <a:off x="6995160" y="1417320"/>
            <a:ext cx="4160520" cy="1078992"/>
          </a:xfrm>
          <a:prstGeom prst="roundRect">
            <a:avLst>
              <a:gd name="adj" fmla="val 8475"/>
            </a:avLst>
          </a:prstGeom>
          <a:solidFill>
            <a:srgbClr val="FFFFFF"/>
          </a:solidFill>
          <a:ln w="12700">
            <a:solidFill>
              <a:srgbClr val="D6E3DF"/>
            </a:solidFill>
            <a:prstDash val="solid"/>
          </a:ln>
        </p:spPr>
      </p:sp>
      <p:sp>
        <p:nvSpPr>
          <p:cNvPr id="8" name="Shape 5"/>
          <p:cNvSpPr/>
          <p:nvPr/>
        </p:nvSpPr>
        <p:spPr>
          <a:xfrm>
            <a:off x="6995160" y="1417320"/>
            <a:ext cx="73152" cy="1078992"/>
          </a:xfrm>
          <a:prstGeom prst="rect">
            <a:avLst/>
          </a:prstGeom>
          <a:solidFill>
            <a:srgbClr val="1B98A8"/>
          </a:solidFill>
          <a:ln w="12700">
            <a:solidFill>
              <a:srgbClr val="1B98A8"/>
            </a:solidFill>
            <a:prstDash val="solid"/>
          </a:ln>
        </p:spPr>
      </p:sp>
      <p:sp>
        <p:nvSpPr>
          <p:cNvPr id="9" name="Text 6"/>
          <p:cNvSpPr/>
          <p:nvPr/>
        </p:nvSpPr>
        <p:spPr>
          <a:xfrm>
            <a:off x="7251192" y="1618488"/>
            <a:ext cx="365760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Frontend</a:t>
            </a:r>
            <a:endParaRPr lang="en-US" sz="1650" dirty="0"/>
          </a:p>
        </p:txBody>
      </p:sp>
      <p:sp>
        <p:nvSpPr>
          <p:cNvPr id="10" name="Text 7"/>
          <p:cNvSpPr/>
          <p:nvPr/>
        </p:nvSpPr>
        <p:spPr>
          <a:xfrm>
            <a:off x="7251192" y="2039112"/>
            <a:ext cx="3657600" cy="256032"/>
          </a:xfrm>
          <a:prstGeom prst="rect">
            <a:avLst/>
          </a:prstGeom>
          <a:noFill/>
          <a:ln/>
        </p:spPr>
        <p:txBody>
          <a:bodyPr wrap="square" lIns="0" tIns="0" rIns="0" bIns="0" rtlCol="0" anchor="t">
            <a:normAutofit/>
          </a:bodyPr>
          <a:lstStyle/>
          <a:p>
            <a:pPr marL="0" indent="0">
              <a:buNone/>
            </a:pPr>
            <a:r>
              <a:rPr lang="en-US" sz="1380" dirty="0">
                <a:solidFill>
                  <a:srgbClr val="1E2D36"/>
                </a:solidFill>
              </a:rPr>
              <a:t>React 19, Vite 8, Leaflet, React-Leaflet, dan marker cluster.</a:t>
            </a:r>
            <a:endParaRPr lang="en-US" sz="1380" dirty="0"/>
          </a:p>
        </p:txBody>
      </p:sp>
      <p:sp>
        <p:nvSpPr>
          <p:cNvPr id="11" name="Shape 8"/>
          <p:cNvSpPr/>
          <p:nvPr/>
        </p:nvSpPr>
        <p:spPr>
          <a:xfrm>
            <a:off x="6995160" y="2761488"/>
            <a:ext cx="4160520" cy="1078992"/>
          </a:xfrm>
          <a:prstGeom prst="roundRect">
            <a:avLst>
              <a:gd name="adj" fmla="val 8475"/>
            </a:avLst>
          </a:prstGeom>
          <a:solidFill>
            <a:srgbClr val="FFFFFF"/>
          </a:solidFill>
          <a:ln w="12700">
            <a:solidFill>
              <a:srgbClr val="D6E3DF"/>
            </a:solidFill>
            <a:prstDash val="solid"/>
          </a:ln>
        </p:spPr>
      </p:sp>
      <p:sp>
        <p:nvSpPr>
          <p:cNvPr id="12" name="Shape 9"/>
          <p:cNvSpPr/>
          <p:nvPr/>
        </p:nvSpPr>
        <p:spPr>
          <a:xfrm>
            <a:off x="6995160" y="2761488"/>
            <a:ext cx="73152" cy="1078992"/>
          </a:xfrm>
          <a:prstGeom prst="rect">
            <a:avLst/>
          </a:prstGeom>
          <a:solidFill>
            <a:srgbClr val="0F6B72"/>
          </a:solidFill>
          <a:ln w="12700">
            <a:solidFill>
              <a:srgbClr val="0F6B72"/>
            </a:solidFill>
            <a:prstDash val="solid"/>
          </a:ln>
        </p:spPr>
      </p:sp>
      <p:sp>
        <p:nvSpPr>
          <p:cNvPr id="13" name="Text 10"/>
          <p:cNvSpPr/>
          <p:nvPr/>
        </p:nvSpPr>
        <p:spPr>
          <a:xfrm>
            <a:off x="7251192" y="2962656"/>
            <a:ext cx="365760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Backend</a:t>
            </a:r>
            <a:endParaRPr lang="en-US" sz="1650" dirty="0"/>
          </a:p>
        </p:txBody>
      </p:sp>
      <p:sp>
        <p:nvSpPr>
          <p:cNvPr id="14" name="Text 11"/>
          <p:cNvSpPr/>
          <p:nvPr/>
        </p:nvSpPr>
        <p:spPr>
          <a:xfrm>
            <a:off x="7251192" y="3383280"/>
            <a:ext cx="3657600" cy="256032"/>
          </a:xfrm>
          <a:prstGeom prst="rect">
            <a:avLst/>
          </a:prstGeom>
          <a:noFill/>
          <a:ln/>
        </p:spPr>
        <p:txBody>
          <a:bodyPr wrap="square" lIns="0" tIns="0" rIns="0" bIns="0" rtlCol="0" anchor="t">
            <a:normAutofit/>
          </a:bodyPr>
          <a:lstStyle/>
          <a:p>
            <a:pPr marL="0" indent="0">
              <a:buNone/>
            </a:pPr>
            <a:r>
              <a:rPr lang="en-US" sz="1380" dirty="0">
                <a:solidFill>
                  <a:srgbClr val="1E2D36"/>
                </a:solidFill>
              </a:rPr>
              <a:t>Supabase PostgreSQL, Authentication, RLS, RPC, dan Storage privat.</a:t>
            </a:r>
            <a:endParaRPr lang="en-US" sz="1380" dirty="0"/>
          </a:p>
        </p:txBody>
      </p:sp>
      <p:sp>
        <p:nvSpPr>
          <p:cNvPr id="15" name="Shape 12"/>
          <p:cNvSpPr/>
          <p:nvPr/>
        </p:nvSpPr>
        <p:spPr>
          <a:xfrm>
            <a:off x="6995160" y="4105656"/>
            <a:ext cx="4160520" cy="1078992"/>
          </a:xfrm>
          <a:prstGeom prst="roundRect">
            <a:avLst>
              <a:gd name="adj" fmla="val 8475"/>
            </a:avLst>
          </a:prstGeom>
          <a:solidFill>
            <a:srgbClr val="FFFDF2"/>
          </a:solidFill>
          <a:ln w="12700">
            <a:solidFill>
              <a:srgbClr val="D6E3DF"/>
            </a:solidFill>
            <a:prstDash val="solid"/>
          </a:ln>
        </p:spPr>
      </p:sp>
      <p:sp>
        <p:nvSpPr>
          <p:cNvPr id="16" name="Shape 13"/>
          <p:cNvSpPr/>
          <p:nvPr/>
        </p:nvSpPr>
        <p:spPr>
          <a:xfrm>
            <a:off x="6995160" y="4105656"/>
            <a:ext cx="73152" cy="1078992"/>
          </a:xfrm>
          <a:prstGeom prst="rect">
            <a:avLst/>
          </a:prstGeom>
          <a:solidFill>
            <a:srgbClr val="F2C94C"/>
          </a:solidFill>
          <a:ln w="12700">
            <a:solidFill>
              <a:srgbClr val="F2C94C"/>
            </a:solidFill>
            <a:prstDash val="solid"/>
          </a:ln>
        </p:spPr>
      </p:sp>
      <p:sp>
        <p:nvSpPr>
          <p:cNvPr id="17" name="Text 14"/>
          <p:cNvSpPr/>
          <p:nvPr/>
        </p:nvSpPr>
        <p:spPr>
          <a:xfrm>
            <a:off x="7251192" y="4306824"/>
            <a:ext cx="365760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Analisis</a:t>
            </a:r>
            <a:endParaRPr lang="en-US" sz="1650" dirty="0"/>
          </a:p>
        </p:txBody>
      </p:sp>
      <p:sp>
        <p:nvSpPr>
          <p:cNvPr id="18" name="Text 15"/>
          <p:cNvSpPr/>
          <p:nvPr/>
        </p:nvSpPr>
        <p:spPr>
          <a:xfrm>
            <a:off x="7251192" y="4727448"/>
            <a:ext cx="3657600" cy="256032"/>
          </a:xfrm>
          <a:prstGeom prst="rect">
            <a:avLst/>
          </a:prstGeom>
          <a:noFill/>
          <a:ln/>
        </p:spPr>
        <p:txBody>
          <a:bodyPr wrap="square" lIns="0" tIns="0" rIns="0" bIns="0" rtlCol="0" anchor="t">
            <a:normAutofit/>
          </a:bodyPr>
          <a:lstStyle/>
          <a:p>
            <a:pPr marL="0" indent="0">
              <a:buNone/>
            </a:pPr>
            <a:r>
              <a:rPr lang="en-US" sz="1380" dirty="0">
                <a:solidFill>
                  <a:srgbClr val="1E2D36"/>
                </a:solidFill>
              </a:rPr>
              <a:t>K-Means++, Haversine, WCSS, centroid, radius, snapshot, dan hash.</a:t>
            </a:r>
            <a:endParaRPr lang="en-US" sz="1380" dirty="0"/>
          </a:p>
        </p:txBody>
      </p:sp>
      <p:sp>
        <p:nvSpPr>
          <p:cNvPr id="25"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8368" y="393192"/>
            <a:ext cx="10789920" cy="438912"/>
          </a:xfrm>
          <a:prstGeom prst="rect">
            <a:avLst/>
          </a:prstGeom>
          <a:noFill/>
          <a:ln/>
        </p:spPr>
        <p:txBody>
          <a:bodyPr wrap="square" lIns="0" tIns="0" rIns="0" bIns="0" rtlCol="0" anchor="ctr">
            <a:normAutofit/>
          </a:bodyPr>
          <a:lstStyle/>
          <a:p>
            <a:pPr marL="0" indent="0">
              <a:buNone/>
            </a:pPr>
            <a:r>
              <a:rPr lang="en-US" sz="3000" b="1" dirty="0">
                <a:solidFill>
                  <a:srgbClr val="09212B"/>
                </a:solidFill>
                <a:latin typeface="Aptos Display" pitchFamily="34" charset="0"/>
                <a:ea typeface="Aptos Display" pitchFamily="34" charset="-122"/>
                <a:cs typeface="Aptos Display" pitchFamily="34" charset="-120"/>
              </a:rPr>
              <a:t>Kualitas Data Lokasi</a:t>
            </a:r>
            <a:endParaRPr lang="en-US" sz="3000" dirty="0"/>
          </a:p>
        </p:txBody>
      </p:sp>
      <p:sp>
        <p:nvSpPr>
          <p:cNvPr id="3" name="Text 1"/>
          <p:cNvSpPr/>
          <p:nvPr/>
        </p:nvSpPr>
        <p:spPr>
          <a:xfrm>
            <a:off x="685800" y="886968"/>
            <a:ext cx="9966960" cy="274320"/>
          </a:xfrm>
          <a:prstGeom prst="rect">
            <a:avLst/>
          </a:prstGeom>
          <a:noFill/>
          <a:ln/>
        </p:spPr>
        <p:txBody>
          <a:bodyPr wrap="square" lIns="0" tIns="0" rIns="0" bIns="0" rtlCol="0" anchor="ctr">
            <a:normAutofit/>
          </a:bodyPr>
          <a:lstStyle/>
          <a:p>
            <a:pPr marL="0" indent="0">
              <a:buNone/>
            </a:pPr>
            <a:r>
              <a:rPr lang="en-US" sz="1300" dirty="0">
                <a:solidFill>
                  <a:srgbClr val="5E7178"/>
                </a:solidFill>
              </a:rPr>
              <a:t>Koordinat diperlakukan sesuai tingkat kepercayaannya</a:t>
            </a:r>
            <a:endParaRPr lang="en-US" sz="1300" dirty="0"/>
          </a:p>
        </p:txBody>
      </p:sp>
      <p:sp>
        <p:nvSpPr>
          <p:cNvPr id="4" name="Shape 2"/>
          <p:cNvSpPr/>
          <p:nvPr/>
        </p:nvSpPr>
        <p:spPr>
          <a:xfrm>
            <a:off x="658368" y="1188720"/>
            <a:ext cx="868680" cy="64008"/>
          </a:xfrm>
          <a:prstGeom prst="rect">
            <a:avLst/>
          </a:prstGeom>
          <a:solidFill>
            <a:srgbClr val="F2C94C"/>
          </a:solidFill>
          <a:ln w="12700">
            <a:solidFill>
              <a:srgbClr val="F2C94C"/>
            </a:solidFill>
            <a:prstDash val="solid"/>
          </a:ln>
        </p:spPr>
      </p:sp>
      <p:sp>
        <p:nvSpPr>
          <p:cNvPr id="5" name="Shape 3"/>
          <p:cNvSpPr/>
          <p:nvPr/>
        </p:nvSpPr>
        <p:spPr>
          <a:xfrm>
            <a:off x="6327648" y="1325880"/>
            <a:ext cx="4956048" cy="4023360"/>
          </a:xfrm>
          <a:prstGeom prst="roundRect">
            <a:avLst>
              <a:gd name="adj" fmla="val 1818"/>
            </a:avLst>
          </a:prstGeom>
          <a:solidFill>
            <a:srgbClr val="FFFFFF"/>
          </a:solidFill>
          <a:ln w="12700">
            <a:solidFill>
              <a:srgbClr val="D6E3DF"/>
            </a:solidFill>
            <a:prstDash val="solid"/>
          </a:ln>
        </p:spPr>
      </p:sp>
      <p:pic>
        <p:nvPicPr>
          <p:cNvPr id="6" name="Image 0" descr="/mnt/data/thesis_imgs/image7.png"/>
          <p:cNvPicPr>
            <a:picLocks noChangeAspect="1"/>
          </p:cNvPicPr>
          <p:nvPr/>
        </p:nvPicPr>
        <p:blipFill>
          <a:blip r:embed="rId3"/>
          <a:stretch>
            <a:fillRect/>
          </a:stretch>
        </p:blipFill>
        <p:spPr>
          <a:xfrm>
            <a:off x="6437376" y="2337613"/>
            <a:ext cx="4736592" cy="1999894"/>
          </a:xfrm>
          <a:prstGeom prst="rect">
            <a:avLst/>
          </a:prstGeom>
        </p:spPr>
      </p:pic>
      <p:sp>
        <p:nvSpPr>
          <p:cNvPr id="7" name="Shape 4"/>
          <p:cNvSpPr/>
          <p:nvPr/>
        </p:nvSpPr>
        <p:spPr>
          <a:xfrm>
            <a:off x="749808" y="1417320"/>
            <a:ext cx="4937760" cy="1078992"/>
          </a:xfrm>
          <a:prstGeom prst="roundRect">
            <a:avLst>
              <a:gd name="adj" fmla="val 8475"/>
            </a:avLst>
          </a:prstGeom>
          <a:solidFill>
            <a:srgbClr val="EDF8F1"/>
          </a:solidFill>
          <a:ln w="12700">
            <a:solidFill>
              <a:srgbClr val="D6E3DF"/>
            </a:solidFill>
            <a:prstDash val="solid"/>
          </a:ln>
        </p:spPr>
      </p:sp>
      <p:sp>
        <p:nvSpPr>
          <p:cNvPr id="8" name="Shape 5"/>
          <p:cNvSpPr/>
          <p:nvPr/>
        </p:nvSpPr>
        <p:spPr>
          <a:xfrm>
            <a:off x="749808" y="1417320"/>
            <a:ext cx="73152" cy="1078992"/>
          </a:xfrm>
          <a:prstGeom prst="rect">
            <a:avLst/>
          </a:prstGeom>
          <a:solidFill>
            <a:srgbClr val="2E7D57"/>
          </a:solidFill>
          <a:ln w="12700">
            <a:solidFill>
              <a:srgbClr val="2E7D57"/>
            </a:solidFill>
            <a:prstDash val="solid"/>
          </a:ln>
        </p:spPr>
      </p:sp>
      <p:sp>
        <p:nvSpPr>
          <p:cNvPr id="9" name="Text 6"/>
          <p:cNvSpPr/>
          <p:nvPr/>
        </p:nvSpPr>
        <p:spPr>
          <a:xfrm>
            <a:off x="1005840" y="1618488"/>
            <a:ext cx="443484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Tepat</a:t>
            </a:r>
            <a:endParaRPr lang="en-US" sz="1650" dirty="0"/>
          </a:p>
        </p:txBody>
      </p:sp>
      <p:sp>
        <p:nvSpPr>
          <p:cNvPr id="10" name="Text 7"/>
          <p:cNvSpPr/>
          <p:nvPr/>
        </p:nvSpPr>
        <p:spPr>
          <a:xfrm>
            <a:off x="1005840" y="2039112"/>
            <a:ext cx="4434840" cy="256032"/>
          </a:xfrm>
          <a:prstGeom prst="rect">
            <a:avLst/>
          </a:prstGeom>
          <a:noFill/>
          <a:ln/>
        </p:spPr>
        <p:txBody>
          <a:bodyPr wrap="square" lIns="0" tIns="0" rIns="0" bIns="0" rtlCol="0" anchor="t">
            <a:normAutofit/>
          </a:bodyPr>
          <a:lstStyle/>
          <a:p>
            <a:pPr marL="0" indent="0">
              <a:buNone/>
            </a:pPr>
            <a:r>
              <a:rPr lang="en-US" sz="1380" dirty="0">
                <a:solidFill>
                  <a:srgbClr val="1E2D36"/>
                </a:solidFill>
              </a:rPr>
              <a:t>Koordinat sudah diperiksa dan memiliki verified_at serta verified_by.</a:t>
            </a:r>
            <a:endParaRPr lang="en-US" sz="1380" dirty="0"/>
          </a:p>
        </p:txBody>
      </p:sp>
      <p:sp>
        <p:nvSpPr>
          <p:cNvPr id="11" name="Shape 8"/>
          <p:cNvSpPr/>
          <p:nvPr/>
        </p:nvSpPr>
        <p:spPr>
          <a:xfrm>
            <a:off x="749808" y="2761488"/>
            <a:ext cx="4937760" cy="1078992"/>
          </a:xfrm>
          <a:prstGeom prst="roundRect">
            <a:avLst>
              <a:gd name="adj" fmla="val 8475"/>
            </a:avLst>
          </a:prstGeom>
          <a:solidFill>
            <a:srgbClr val="FFF8E8"/>
          </a:solidFill>
          <a:ln w="12700">
            <a:solidFill>
              <a:srgbClr val="D6E3DF"/>
            </a:solidFill>
            <a:prstDash val="solid"/>
          </a:ln>
        </p:spPr>
      </p:sp>
      <p:sp>
        <p:nvSpPr>
          <p:cNvPr id="12" name="Shape 9"/>
          <p:cNvSpPr/>
          <p:nvPr/>
        </p:nvSpPr>
        <p:spPr>
          <a:xfrm>
            <a:off x="749808" y="2761488"/>
            <a:ext cx="73152" cy="1078992"/>
          </a:xfrm>
          <a:prstGeom prst="rect">
            <a:avLst/>
          </a:prstGeom>
          <a:solidFill>
            <a:srgbClr val="F2C94C"/>
          </a:solidFill>
          <a:ln w="12700">
            <a:solidFill>
              <a:srgbClr val="F2C94C"/>
            </a:solidFill>
            <a:prstDash val="solid"/>
          </a:ln>
        </p:spPr>
      </p:sp>
      <p:sp>
        <p:nvSpPr>
          <p:cNvPr id="13" name="Text 10"/>
          <p:cNvSpPr/>
          <p:nvPr/>
        </p:nvSpPr>
        <p:spPr>
          <a:xfrm>
            <a:off x="1005840" y="2962656"/>
            <a:ext cx="443484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Perkiraan kecamatan</a:t>
            </a:r>
            <a:endParaRPr lang="en-US" sz="1650" dirty="0"/>
          </a:p>
        </p:txBody>
      </p:sp>
      <p:sp>
        <p:nvSpPr>
          <p:cNvPr id="14" name="Text 11"/>
          <p:cNvSpPr/>
          <p:nvPr/>
        </p:nvSpPr>
        <p:spPr>
          <a:xfrm>
            <a:off x="1005840" y="3383280"/>
            <a:ext cx="4434840" cy="256032"/>
          </a:xfrm>
          <a:prstGeom prst="rect">
            <a:avLst/>
          </a:prstGeom>
          <a:noFill/>
          <a:ln/>
        </p:spPr>
        <p:txBody>
          <a:bodyPr wrap="square" lIns="0" tIns="0" rIns="0" bIns="0" rtlCol="0" anchor="t">
            <a:normAutofit/>
          </a:bodyPr>
          <a:lstStyle/>
          <a:p>
            <a:pPr marL="0" indent="0">
              <a:buNone/>
            </a:pPr>
            <a:r>
              <a:rPr lang="en-US" sz="1380" dirty="0">
                <a:solidFill>
                  <a:srgbClr val="1E2D36"/>
                </a:solidFill>
              </a:rPr>
              <a:t>Dapat ditampilkan dan dianalisis secara eksploratif, tetapi bukan GPS usaha.</a:t>
            </a:r>
            <a:endParaRPr lang="en-US" sz="1380" dirty="0"/>
          </a:p>
        </p:txBody>
      </p:sp>
      <p:sp>
        <p:nvSpPr>
          <p:cNvPr id="15" name="Shape 12"/>
          <p:cNvSpPr/>
          <p:nvPr/>
        </p:nvSpPr>
        <p:spPr>
          <a:xfrm>
            <a:off x="749808" y="4105656"/>
            <a:ext cx="4937760" cy="1078992"/>
          </a:xfrm>
          <a:prstGeom prst="roundRect">
            <a:avLst>
              <a:gd name="adj" fmla="val 8475"/>
            </a:avLst>
          </a:prstGeom>
          <a:solidFill>
            <a:srgbClr val="FDEDEC"/>
          </a:solidFill>
          <a:ln w="12700">
            <a:solidFill>
              <a:srgbClr val="D6E3DF"/>
            </a:solidFill>
            <a:prstDash val="solid"/>
          </a:ln>
        </p:spPr>
      </p:sp>
      <p:sp>
        <p:nvSpPr>
          <p:cNvPr id="16" name="Shape 13"/>
          <p:cNvSpPr/>
          <p:nvPr/>
        </p:nvSpPr>
        <p:spPr>
          <a:xfrm>
            <a:off x="749808" y="4105656"/>
            <a:ext cx="73152" cy="1078992"/>
          </a:xfrm>
          <a:prstGeom prst="rect">
            <a:avLst/>
          </a:prstGeom>
          <a:solidFill>
            <a:srgbClr val="D94841"/>
          </a:solidFill>
          <a:ln w="12700">
            <a:solidFill>
              <a:srgbClr val="D94841"/>
            </a:solidFill>
            <a:prstDash val="solid"/>
          </a:ln>
        </p:spPr>
      </p:sp>
      <p:sp>
        <p:nvSpPr>
          <p:cNvPr id="17" name="Text 14"/>
          <p:cNvSpPr/>
          <p:nvPr/>
        </p:nvSpPr>
        <p:spPr>
          <a:xfrm>
            <a:off x="1005840" y="4306824"/>
            <a:ext cx="443484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Belum terverifikasi</a:t>
            </a:r>
            <a:endParaRPr lang="en-US" sz="1650" dirty="0"/>
          </a:p>
        </p:txBody>
      </p:sp>
      <p:sp>
        <p:nvSpPr>
          <p:cNvPr id="18" name="Text 15"/>
          <p:cNvSpPr/>
          <p:nvPr/>
        </p:nvSpPr>
        <p:spPr>
          <a:xfrm>
            <a:off x="1005840" y="4727448"/>
            <a:ext cx="4434840" cy="256032"/>
          </a:xfrm>
          <a:prstGeom prst="rect">
            <a:avLst/>
          </a:prstGeom>
          <a:noFill/>
          <a:ln/>
        </p:spPr>
        <p:txBody>
          <a:bodyPr wrap="square" lIns="0" tIns="0" rIns="0" bIns="0" rtlCol="0" anchor="t">
            <a:normAutofit/>
          </a:bodyPr>
          <a:lstStyle/>
          <a:p>
            <a:pPr marL="0" indent="0">
              <a:buNone/>
            </a:pPr>
            <a:r>
              <a:rPr lang="en-US" sz="1380" dirty="0">
                <a:solidFill>
                  <a:srgbClr val="1E2D36"/>
                </a:solidFill>
              </a:rPr>
              <a:t>Dikecualikan dari input K-Means karena belum cukup dipercaya.</a:t>
            </a:r>
            <a:endParaRPr lang="en-US" sz="1380" dirty="0"/>
          </a:p>
        </p:txBody>
      </p:sp>
      <p:sp>
        <p:nvSpPr>
          <p:cNvPr id="19" name="Shape 16"/>
          <p:cNvSpPr/>
          <p:nvPr/>
        </p:nvSpPr>
        <p:spPr>
          <a:xfrm>
            <a:off x="749808" y="5605272"/>
            <a:ext cx="10533888" cy="438912"/>
          </a:xfrm>
          <a:prstGeom prst="roundRect">
            <a:avLst>
              <a:gd name="adj" fmla="val 25000"/>
            </a:avLst>
          </a:prstGeom>
          <a:solidFill>
            <a:srgbClr val="DDF4EA"/>
          </a:solidFill>
          <a:ln w="12700">
            <a:solidFill>
              <a:srgbClr val="B8E5D7"/>
            </a:solidFill>
            <a:prstDash val="solid"/>
          </a:ln>
        </p:spPr>
      </p:sp>
      <p:sp>
        <p:nvSpPr>
          <p:cNvPr id="20" name="Text 17"/>
          <p:cNvSpPr/>
          <p:nvPr/>
        </p:nvSpPr>
        <p:spPr>
          <a:xfrm>
            <a:off x="960120" y="5733288"/>
            <a:ext cx="10104120" cy="109728"/>
          </a:xfrm>
          <a:prstGeom prst="rect">
            <a:avLst/>
          </a:prstGeom>
          <a:noFill/>
          <a:ln/>
        </p:spPr>
        <p:txBody>
          <a:bodyPr wrap="square" lIns="0" tIns="0" rIns="0" bIns="0" rtlCol="0" anchor="ctr">
            <a:normAutofit/>
          </a:bodyPr>
          <a:lstStyle/>
          <a:p>
            <a:pPr marL="0" indent="0" algn="ctr">
              <a:buNone/>
            </a:pPr>
            <a:r>
              <a:rPr lang="en-US" sz="1230" b="1" dirty="0">
                <a:solidFill>
                  <a:srgbClr val="0F6B72"/>
                </a:solidFill>
              </a:rPr>
              <a:t>Pemisahan analysis_lat/lng dan display_lat/lng mencegah tampilan peta memengaruhi hasil clustering.</a:t>
            </a:r>
            <a:endParaRPr lang="en-US" sz="1230" dirty="0"/>
          </a:p>
        </p:txBody>
      </p:sp>
      <p:sp>
        <p:nvSpPr>
          <p:cNvPr id="25"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8368" y="393192"/>
            <a:ext cx="10789920" cy="438912"/>
          </a:xfrm>
          <a:prstGeom prst="rect">
            <a:avLst/>
          </a:prstGeom>
          <a:noFill/>
          <a:ln/>
        </p:spPr>
        <p:txBody>
          <a:bodyPr wrap="square" lIns="0" tIns="0" rIns="0" bIns="0" rtlCol="0" anchor="ctr">
            <a:normAutofit/>
          </a:bodyPr>
          <a:lstStyle/>
          <a:p>
            <a:pPr marL="0" indent="0">
              <a:buNone/>
            </a:pPr>
            <a:r>
              <a:rPr lang="en-US" sz="3000" b="1" dirty="0">
                <a:solidFill>
                  <a:srgbClr val="09212B"/>
                </a:solidFill>
                <a:latin typeface="Aptos Display" pitchFamily="34" charset="0"/>
                <a:ea typeface="Aptos Display" pitchFamily="34" charset="-122"/>
                <a:cs typeface="Aptos Display" pitchFamily="34" charset="-120"/>
              </a:rPr>
              <a:t>Proses K-Means Spasial</a:t>
            </a:r>
            <a:endParaRPr lang="en-US" sz="3000" dirty="0"/>
          </a:p>
        </p:txBody>
      </p:sp>
      <p:sp>
        <p:nvSpPr>
          <p:cNvPr id="3" name="Text 1"/>
          <p:cNvSpPr/>
          <p:nvPr/>
        </p:nvSpPr>
        <p:spPr>
          <a:xfrm>
            <a:off x="685800" y="886968"/>
            <a:ext cx="9966960" cy="274320"/>
          </a:xfrm>
          <a:prstGeom prst="rect">
            <a:avLst/>
          </a:prstGeom>
          <a:noFill/>
          <a:ln/>
        </p:spPr>
        <p:txBody>
          <a:bodyPr wrap="square" lIns="0" tIns="0" rIns="0" bIns="0" rtlCol="0" anchor="ctr">
            <a:normAutofit/>
          </a:bodyPr>
          <a:lstStyle/>
          <a:p>
            <a:pPr marL="0" indent="0">
              <a:buNone/>
            </a:pPr>
            <a:r>
              <a:rPr lang="en-US" sz="1300" dirty="0">
                <a:solidFill>
                  <a:srgbClr val="5E7178"/>
                </a:solidFill>
              </a:rPr>
              <a:t>Dari titik UMKM menjadi zona berbasis kedekatan</a:t>
            </a:r>
            <a:endParaRPr lang="en-US" sz="1300" dirty="0"/>
          </a:p>
        </p:txBody>
      </p:sp>
      <p:sp>
        <p:nvSpPr>
          <p:cNvPr id="4" name="Shape 2"/>
          <p:cNvSpPr/>
          <p:nvPr/>
        </p:nvSpPr>
        <p:spPr>
          <a:xfrm>
            <a:off x="658368" y="1188720"/>
            <a:ext cx="868680" cy="64008"/>
          </a:xfrm>
          <a:prstGeom prst="rect">
            <a:avLst/>
          </a:prstGeom>
          <a:solidFill>
            <a:srgbClr val="F2C94C"/>
          </a:solidFill>
          <a:ln w="12700">
            <a:solidFill>
              <a:srgbClr val="F2C94C"/>
            </a:solidFill>
            <a:prstDash val="solid"/>
          </a:ln>
        </p:spPr>
      </p:sp>
      <p:sp>
        <p:nvSpPr>
          <p:cNvPr id="5" name="Shape 3"/>
          <p:cNvSpPr/>
          <p:nvPr/>
        </p:nvSpPr>
        <p:spPr>
          <a:xfrm>
            <a:off x="777240" y="1298448"/>
            <a:ext cx="4572000" cy="4526280"/>
          </a:xfrm>
          <a:prstGeom prst="roundRect">
            <a:avLst>
              <a:gd name="adj" fmla="val 1616"/>
            </a:avLst>
          </a:prstGeom>
          <a:solidFill>
            <a:srgbClr val="FFFFFF"/>
          </a:solidFill>
          <a:ln w="12700">
            <a:solidFill>
              <a:srgbClr val="D6E3DF"/>
            </a:solidFill>
            <a:prstDash val="solid"/>
          </a:ln>
        </p:spPr>
      </p:sp>
      <p:pic>
        <p:nvPicPr>
          <p:cNvPr id="6" name="Image 0" descr="/mnt/data/thesis_imgs/image8.png"/>
          <p:cNvPicPr>
            <a:picLocks noChangeAspect="1"/>
          </p:cNvPicPr>
          <p:nvPr/>
        </p:nvPicPr>
        <p:blipFill>
          <a:blip r:embed="rId3"/>
          <a:stretch>
            <a:fillRect/>
          </a:stretch>
        </p:blipFill>
        <p:spPr>
          <a:xfrm>
            <a:off x="886968" y="1472367"/>
            <a:ext cx="4352544" cy="4178442"/>
          </a:xfrm>
          <a:prstGeom prst="rect">
            <a:avLst/>
          </a:prstGeom>
        </p:spPr>
      </p:pic>
      <p:sp>
        <p:nvSpPr>
          <p:cNvPr id="7" name="Shape 4"/>
          <p:cNvSpPr/>
          <p:nvPr/>
        </p:nvSpPr>
        <p:spPr>
          <a:xfrm>
            <a:off x="5806440" y="1389888"/>
            <a:ext cx="5321808" cy="3401568"/>
          </a:xfrm>
          <a:prstGeom prst="roundRect">
            <a:avLst>
              <a:gd name="adj" fmla="val 2688"/>
            </a:avLst>
          </a:prstGeom>
          <a:solidFill>
            <a:srgbClr val="FFFFFF"/>
          </a:solidFill>
          <a:ln w="12700">
            <a:solidFill>
              <a:srgbClr val="D6E3DF"/>
            </a:solidFill>
            <a:prstDash val="solid"/>
          </a:ln>
        </p:spPr>
      </p:sp>
      <p:sp>
        <p:nvSpPr>
          <p:cNvPr id="8" name="Shape 5"/>
          <p:cNvSpPr/>
          <p:nvPr/>
        </p:nvSpPr>
        <p:spPr>
          <a:xfrm>
            <a:off x="5806440" y="1389888"/>
            <a:ext cx="73152" cy="3401568"/>
          </a:xfrm>
          <a:prstGeom prst="rect">
            <a:avLst/>
          </a:prstGeom>
          <a:solidFill>
            <a:srgbClr val="0F6B72"/>
          </a:solidFill>
          <a:ln w="12700">
            <a:solidFill>
              <a:srgbClr val="0F6B72"/>
            </a:solidFill>
            <a:prstDash val="solid"/>
          </a:ln>
        </p:spPr>
      </p:sp>
      <p:sp>
        <p:nvSpPr>
          <p:cNvPr id="9" name="Text 6"/>
          <p:cNvSpPr/>
          <p:nvPr/>
        </p:nvSpPr>
        <p:spPr>
          <a:xfrm>
            <a:off x="6062472" y="1591056"/>
            <a:ext cx="4818888"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Langkah inti algoritma</a:t>
            </a:r>
            <a:endParaRPr lang="en-US" sz="1650" dirty="0"/>
          </a:p>
        </p:txBody>
      </p:sp>
      <p:sp>
        <p:nvSpPr>
          <p:cNvPr id="10" name="Text 7"/>
          <p:cNvSpPr/>
          <p:nvPr/>
        </p:nvSpPr>
        <p:spPr>
          <a:xfrm>
            <a:off x="6062472" y="2011680"/>
            <a:ext cx="4818888" cy="2578608"/>
          </a:xfrm>
          <a:prstGeom prst="rect">
            <a:avLst/>
          </a:prstGeom>
          <a:noFill/>
          <a:ln/>
        </p:spPr>
        <p:txBody>
          <a:bodyPr wrap="square" lIns="0" tIns="0" rIns="0" bIns="0" rtlCol="0" anchor="t">
            <a:normAutofit/>
          </a:bodyPr>
          <a:lstStyle/>
          <a:p>
            <a:pPr marL="0" indent="0">
              <a:buNone/>
            </a:pPr>
            <a:r>
              <a:rPr lang="en-US" sz="1380" dirty="0">
                <a:solidFill>
                  <a:srgbClr val="1E2D36"/>
                </a:solidFill>
              </a:rPr>
              <a:t>1. Mengambil UMKM aktif, published, dan mappable.</a:t>
            </a:r>
            <a:endParaRPr lang="en-US" sz="1380" dirty="0"/>
          </a:p>
          <a:p>
            <a:pPr marL="0" indent="0">
              <a:buNone/>
            </a:pPr>
            <a:endParaRPr lang="en-US" sz="1380" dirty="0"/>
          </a:p>
          <a:p>
            <a:pPr marL="0" indent="0">
              <a:buNone/>
            </a:pPr>
            <a:r>
              <a:rPr lang="en-US" sz="1380" dirty="0">
                <a:solidFill>
                  <a:srgbClr val="1E2D36"/>
                </a:solidFill>
              </a:rPr>
              <a:t>2. Membentuk snapshot id–lat–lng yang terurut.</a:t>
            </a:r>
            <a:endParaRPr lang="en-US" sz="1380" dirty="0"/>
          </a:p>
          <a:p>
            <a:pPr marL="0" indent="0">
              <a:buNone/>
            </a:pPr>
            <a:endParaRPr lang="en-US" sz="1380" dirty="0"/>
          </a:p>
          <a:p>
            <a:pPr marL="0" indent="0">
              <a:buNone/>
            </a:pPr>
            <a:r>
              <a:rPr lang="en-US" sz="1380" dirty="0">
                <a:solidFill>
                  <a:srgbClr val="1E2D36"/>
                </a:solidFill>
              </a:rPr>
              <a:t>3. Menentukan K dan seed deterministik.</a:t>
            </a:r>
            <a:endParaRPr lang="en-US" sz="1380" dirty="0"/>
          </a:p>
          <a:p>
            <a:pPr marL="0" indent="0">
              <a:buNone/>
            </a:pPr>
            <a:endParaRPr lang="en-US" sz="1380" dirty="0"/>
          </a:p>
          <a:p>
            <a:pPr marL="0" indent="0">
              <a:buNone/>
            </a:pPr>
            <a:r>
              <a:rPr lang="en-US" sz="1380" dirty="0">
                <a:solidFill>
                  <a:srgbClr val="1E2D36"/>
                </a:solidFill>
              </a:rPr>
              <a:t>4. Memilih centroid awal dengan K-Means++.</a:t>
            </a:r>
            <a:endParaRPr lang="en-US" sz="1380" dirty="0"/>
          </a:p>
          <a:p>
            <a:pPr marL="0" indent="0">
              <a:buNone/>
            </a:pPr>
            <a:endParaRPr lang="en-US" sz="1380" dirty="0"/>
          </a:p>
          <a:p>
            <a:pPr marL="0" indent="0">
              <a:buNone/>
            </a:pPr>
            <a:r>
              <a:rPr lang="en-US" sz="1380" dirty="0">
                <a:solidFill>
                  <a:srgbClr val="1E2D36"/>
                </a:solidFill>
              </a:rPr>
              <a:t>5. Menghitung jarak Haversine, cluster, WCSS, dan radius.</a:t>
            </a:r>
            <a:endParaRPr lang="en-US" sz="1380" dirty="0"/>
          </a:p>
        </p:txBody>
      </p:sp>
      <p:sp>
        <p:nvSpPr>
          <p:cNvPr id="11" name="Shape 8"/>
          <p:cNvSpPr/>
          <p:nvPr/>
        </p:nvSpPr>
        <p:spPr>
          <a:xfrm>
            <a:off x="5806440" y="5230368"/>
            <a:ext cx="5321808" cy="475488"/>
          </a:xfrm>
          <a:prstGeom prst="roundRect">
            <a:avLst>
              <a:gd name="adj" fmla="val 26923"/>
            </a:avLst>
          </a:prstGeom>
          <a:solidFill>
            <a:srgbClr val="0B2F3A"/>
          </a:solidFill>
          <a:ln w="12700">
            <a:solidFill>
              <a:srgbClr val="0B2F3A"/>
            </a:solidFill>
            <a:prstDash val="solid"/>
          </a:ln>
        </p:spPr>
      </p:sp>
      <p:sp>
        <p:nvSpPr>
          <p:cNvPr id="12" name="Text 9"/>
          <p:cNvSpPr/>
          <p:nvPr/>
        </p:nvSpPr>
        <p:spPr>
          <a:xfrm>
            <a:off x="6144768" y="5385816"/>
            <a:ext cx="4663440" cy="164592"/>
          </a:xfrm>
          <a:prstGeom prst="rect">
            <a:avLst/>
          </a:prstGeom>
          <a:noFill/>
          <a:ln/>
        </p:spPr>
        <p:txBody>
          <a:bodyPr wrap="square" lIns="0" tIns="0" rIns="0" bIns="0" rtlCol="0" anchor="ctr">
            <a:normAutofit/>
          </a:bodyPr>
          <a:lstStyle/>
          <a:p>
            <a:pPr marL="0" indent="0" algn="ctr">
              <a:buNone/>
            </a:pPr>
            <a:r>
              <a:rPr lang="en-US" sz="1210" b="1" dirty="0">
                <a:solidFill>
                  <a:srgbClr val="FFFFFF"/>
                </a:solidFill>
              </a:rPr>
              <a:t>Output: centroid, anggota cluster, radius, WCSS, snapshot, dan hash dataset.</a:t>
            </a:r>
            <a:endParaRPr lang="en-US" sz="1210" dirty="0"/>
          </a:p>
        </p:txBody>
      </p:sp>
      <p:sp>
        <p:nvSpPr>
          <p:cNvPr id="25"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58368" y="393192"/>
            <a:ext cx="10789920" cy="438912"/>
          </a:xfrm>
          <a:prstGeom prst="rect">
            <a:avLst/>
          </a:prstGeom>
          <a:noFill/>
          <a:ln/>
        </p:spPr>
        <p:txBody>
          <a:bodyPr wrap="square" lIns="0" tIns="0" rIns="0" bIns="0" rtlCol="0" anchor="ctr">
            <a:normAutofit/>
          </a:bodyPr>
          <a:lstStyle/>
          <a:p>
            <a:pPr marL="0" indent="0">
              <a:buNone/>
            </a:pPr>
            <a:r>
              <a:rPr lang="en-US" sz="3000" b="1" dirty="0">
                <a:solidFill>
                  <a:srgbClr val="09212B"/>
                </a:solidFill>
                <a:latin typeface="Aptos Display" pitchFamily="34" charset="0"/>
                <a:ea typeface="Aptos Display" pitchFamily="34" charset="-122"/>
                <a:cs typeface="Aptos Display" pitchFamily="34" charset="-120"/>
              </a:rPr>
              <a:t>Hasil Implementasi dan Pengujian</a:t>
            </a:r>
            <a:endParaRPr lang="en-US" sz="3000" dirty="0"/>
          </a:p>
        </p:txBody>
      </p:sp>
      <p:sp>
        <p:nvSpPr>
          <p:cNvPr id="3" name="Text 1"/>
          <p:cNvSpPr/>
          <p:nvPr/>
        </p:nvSpPr>
        <p:spPr>
          <a:xfrm>
            <a:off x="685800" y="886968"/>
            <a:ext cx="9966960" cy="274320"/>
          </a:xfrm>
          <a:prstGeom prst="rect">
            <a:avLst/>
          </a:prstGeom>
          <a:noFill/>
          <a:ln/>
        </p:spPr>
        <p:txBody>
          <a:bodyPr wrap="square" lIns="0" tIns="0" rIns="0" bIns="0" rtlCol="0" anchor="ctr">
            <a:normAutofit/>
          </a:bodyPr>
          <a:lstStyle/>
          <a:p>
            <a:pPr marL="0" indent="0">
              <a:buNone/>
            </a:pPr>
            <a:r>
              <a:rPr lang="en-US" sz="1300" dirty="0">
                <a:solidFill>
                  <a:srgbClr val="5E7178"/>
                </a:solidFill>
              </a:rPr>
              <a:t>Apa yang sudah tersedia dan sudah diuji</a:t>
            </a:r>
            <a:endParaRPr lang="en-US" sz="1300" dirty="0"/>
          </a:p>
        </p:txBody>
      </p:sp>
      <p:sp>
        <p:nvSpPr>
          <p:cNvPr id="4" name="Shape 2"/>
          <p:cNvSpPr/>
          <p:nvPr/>
        </p:nvSpPr>
        <p:spPr>
          <a:xfrm>
            <a:off x="658368" y="1188720"/>
            <a:ext cx="868680" cy="64008"/>
          </a:xfrm>
          <a:prstGeom prst="rect">
            <a:avLst/>
          </a:prstGeom>
          <a:solidFill>
            <a:srgbClr val="F2C94C"/>
          </a:solidFill>
          <a:ln w="12700">
            <a:solidFill>
              <a:srgbClr val="F2C94C"/>
            </a:solidFill>
            <a:prstDash val="solid"/>
          </a:ln>
        </p:spPr>
      </p:sp>
      <p:sp>
        <p:nvSpPr>
          <p:cNvPr id="5" name="Shape 3"/>
          <p:cNvSpPr/>
          <p:nvPr/>
        </p:nvSpPr>
        <p:spPr>
          <a:xfrm>
            <a:off x="841248" y="1417320"/>
            <a:ext cx="2148840" cy="960120"/>
          </a:xfrm>
          <a:prstGeom prst="roundRect">
            <a:avLst>
              <a:gd name="adj" fmla="val 9524"/>
            </a:avLst>
          </a:prstGeom>
          <a:solidFill>
            <a:srgbClr val="FFFFFF"/>
          </a:solidFill>
          <a:ln w="12700">
            <a:solidFill>
              <a:srgbClr val="D6E3DF"/>
            </a:solidFill>
            <a:prstDash val="solid"/>
          </a:ln>
        </p:spPr>
      </p:sp>
      <p:sp>
        <p:nvSpPr>
          <p:cNvPr id="6" name="Text 4"/>
          <p:cNvSpPr/>
          <p:nvPr/>
        </p:nvSpPr>
        <p:spPr>
          <a:xfrm>
            <a:off x="1005840" y="1554480"/>
            <a:ext cx="1819656" cy="384048"/>
          </a:xfrm>
          <a:prstGeom prst="rect">
            <a:avLst/>
          </a:prstGeom>
          <a:noFill/>
          <a:ln/>
        </p:spPr>
        <p:txBody>
          <a:bodyPr wrap="square" lIns="0" tIns="0" rIns="0" bIns="0" rtlCol="0" anchor="ctr">
            <a:normAutofit/>
          </a:bodyPr>
          <a:lstStyle/>
          <a:p>
            <a:pPr marL="0" indent="0" algn="ctr">
              <a:buNone/>
            </a:pPr>
            <a:r>
              <a:rPr lang="en-US" sz="2400" b="1" dirty="0">
                <a:solidFill>
                  <a:srgbClr val="0F6B72"/>
                </a:solidFill>
              </a:rPr>
              <a:t>1.802</a:t>
            </a:r>
            <a:endParaRPr lang="en-US" sz="2400" dirty="0"/>
          </a:p>
        </p:txBody>
      </p:sp>
      <p:sp>
        <p:nvSpPr>
          <p:cNvPr id="7" name="Text 5"/>
          <p:cNvSpPr/>
          <p:nvPr/>
        </p:nvSpPr>
        <p:spPr>
          <a:xfrm>
            <a:off x="978408" y="2002536"/>
            <a:ext cx="1874520" cy="228600"/>
          </a:xfrm>
          <a:prstGeom prst="rect">
            <a:avLst/>
          </a:prstGeom>
          <a:noFill/>
          <a:ln/>
        </p:spPr>
        <p:txBody>
          <a:bodyPr wrap="square" lIns="0" tIns="0" rIns="0" bIns="0" rtlCol="0" anchor="ctr">
            <a:normAutofit/>
          </a:bodyPr>
          <a:lstStyle/>
          <a:p>
            <a:pPr marL="0" indent="0" algn="ctr">
              <a:buNone/>
            </a:pPr>
            <a:r>
              <a:rPr lang="en-US" sz="1050" dirty="0">
                <a:solidFill>
                  <a:srgbClr val="5E7178"/>
                </a:solidFill>
              </a:rPr>
              <a:t>Record UMKM</a:t>
            </a:r>
            <a:endParaRPr lang="en-US" sz="1050" dirty="0"/>
          </a:p>
        </p:txBody>
      </p:sp>
      <p:sp>
        <p:nvSpPr>
          <p:cNvPr id="8" name="Shape 6"/>
          <p:cNvSpPr/>
          <p:nvPr/>
        </p:nvSpPr>
        <p:spPr>
          <a:xfrm>
            <a:off x="3218688" y="1417320"/>
            <a:ext cx="2148840" cy="960120"/>
          </a:xfrm>
          <a:prstGeom prst="roundRect">
            <a:avLst>
              <a:gd name="adj" fmla="val 9524"/>
            </a:avLst>
          </a:prstGeom>
          <a:solidFill>
            <a:srgbClr val="FFFFFF"/>
          </a:solidFill>
          <a:ln w="12700">
            <a:solidFill>
              <a:srgbClr val="D6E3DF"/>
            </a:solidFill>
            <a:prstDash val="solid"/>
          </a:ln>
        </p:spPr>
      </p:sp>
      <p:sp>
        <p:nvSpPr>
          <p:cNvPr id="9" name="Text 7"/>
          <p:cNvSpPr/>
          <p:nvPr/>
        </p:nvSpPr>
        <p:spPr>
          <a:xfrm>
            <a:off x="3383280" y="1554480"/>
            <a:ext cx="1819656" cy="384048"/>
          </a:xfrm>
          <a:prstGeom prst="rect">
            <a:avLst/>
          </a:prstGeom>
          <a:noFill/>
          <a:ln/>
        </p:spPr>
        <p:txBody>
          <a:bodyPr wrap="square" lIns="0" tIns="0" rIns="0" bIns="0" rtlCol="0" anchor="ctr">
            <a:normAutofit/>
          </a:bodyPr>
          <a:lstStyle/>
          <a:p>
            <a:pPr marL="0" indent="0" algn="ctr">
              <a:buNone/>
            </a:pPr>
            <a:r>
              <a:rPr lang="en-US" sz="2400" b="1" dirty="0">
                <a:solidFill>
                  <a:srgbClr val="2E7D57"/>
                </a:solidFill>
              </a:rPr>
              <a:t>1.743</a:t>
            </a:r>
            <a:endParaRPr lang="en-US" sz="2400" dirty="0"/>
          </a:p>
        </p:txBody>
      </p:sp>
      <p:sp>
        <p:nvSpPr>
          <p:cNvPr id="10" name="Text 8"/>
          <p:cNvSpPr/>
          <p:nvPr/>
        </p:nvSpPr>
        <p:spPr>
          <a:xfrm>
            <a:off x="3355848" y="2002536"/>
            <a:ext cx="1874520" cy="228600"/>
          </a:xfrm>
          <a:prstGeom prst="rect">
            <a:avLst/>
          </a:prstGeom>
          <a:noFill/>
          <a:ln/>
        </p:spPr>
        <p:txBody>
          <a:bodyPr wrap="square" lIns="0" tIns="0" rIns="0" bIns="0" rtlCol="0" anchor="ctr">
            <a:normAutofit/>
          </a:bodyPr>
          <a:lstStyle/>
          <a:p>
            <a:pPr marL="0" indent="0" algn="ctr">
              <a:buNone/>
            </a:pPr>
            <a:r>
              <a:rPr lang="en-US" sz="1050" dirty="0">
                <a:solidFill>
                  <a:srgbClr val="5E7178"/>
                </a:solidFill>
              </a:rPr>
              <a:t>Titik dianalisis</a:t>
            </a:r>
            <a:endParaRPr lang="en-US" sz="1050" dirty="0"/>
          </a:p>
        </p:txBody>
      </p:sp>
      <p:sp>
        <p:nvSpPr>
          <p:cNvPr id="11" name="Shape 9"/>
          <p:cNvSpPr/>
          <p:nvPr/>
        </p:nvSpPr>
        <p:spPr>
          <a:xfrm>
            <a:off x="5596128" y="1417320"/>
            <a:ext cx="2148840" cy="960120"/>
          </a:xfrm>
          <a:prstGeom prst="roundRect">
            <a:avLst>
              <a:gd name="adj" fmla="val 9524"/>
            </a:avLst>
          </a:prstGeom>
          <a:solidFill>
            <a:srgbClr val="FFFFFF"/>
          </a:solidFill>
          <a:ln w="12700">
            <a:solidFill>
              <a:srgbClr val="D6E3DF"/>
            </a:solidFill>
            <a:prstDash val="solid"/>
          </a:ln>
        </p:spPr>
      </p:sp>
      <p:sp>
        <p:nvSpPr>
          <p:cNvPr id="12" name="Text 10"/>
          <p:cNvSpPr/>
          <p:nvPr/>
        </p:nvSpPr>
        <p:spPr>
          <a:xfrm>
            <a:off x="5760720" y="1554480"/>
            <a:ext cx="1819656" cy="384048"/>
          </a:xfrm>
          <a:prstGeom prst="rect">
            <a:avLst/>
          </a:prstGeom>
          <a:noFill/>
          <a:ln/>
        </p:spPr>
        <p:txBody>
          <a:bodyPr wrap="square" lIns="0" tIns="0" rIns="0" bIns="0" rtlCol="0" anchor="ctr">
            <a:normAutofit/>
          </a:bodyPr>
          <a:lstStyle/>
          <a:p>
            <a:pPr marL="0" indent="0" algn="ctr">
              <a:buNone/>
            </a:pPr>
            <a:r>
              <a:rPr lang="en-US" sz="2400" b="1" dirty="0">
                <a:solidFill>
                  <a:srgbClr val="F2994A"/>
                </a:solidFill>
              </a:rPr>
              <a:t>2–10</a:t>
            </a:r>
            <a:endParaRPr lang="en-US" sz="2400" dirty="0"/>
          </a:p>
        </p:txBody>
      </p:sp>
      <p:sp>
        <p:nvSpPr>
          <p:cNvPr id="13" name="Text 11"/>
          <p:cNvSpPr/>
          <p:nvPr/>
        </p:nvSpPr>
        <p:spPr>
          <a:xfrm>
            <a:off x="5733288" y="2002536"/>
            <a:ext cx="1874520" cy="228600"/>
          </a:xfrm>
          <a:prstGeom prst="rect">
            <a:avLst/>
          </a:prstGeom>
          <a:noFill/>
          <a:ln/>
        </p:spPr>
        <p:txBody>
          <a:bodyPr wrap="square" lIns="0" tIns="0" rIns="0" bIns="0" rtlCol="0" anchor="ctr">
            <a:normAutofit/>
          </a:bodyPr>
          <a:lstStyle/>
          <a:p>
            <a:pPr marL="0" indent="0" algn="ctr">
              <a:buNone/>
            </a:pPr>
            <a:r>
              <a:rPr lang="en-US" sz="1050" dirty="0">
                <a:solidFill>
                  <a:srgbClr val="5E7178"/>
                </a:solidFill>
              </a:rPr>
              <a:t>K diuji</a:t>
            </a:r>
            <a:endParaRPr lang="en-US" sz="1050" dirty="0"/>
          </a:p>
        </p:txBody>
      </p:sp>
      <p:sp>
        <p:nvSpPr>
          <p:cNvPr id="14" name="Shape 12"/>
          <p:cNvSpPr/>
          <p:nvPr/>
        </p:nvSpPr>
        <p:spPr>
          <a:xfrm>
            <a:off x="7973568" y="1417320"/>
            <a:ext cx="2148840" cy="960120"/>
          </a:xfrm>
          <a:prstGeom prst="roundRect">
            <a:avLst>
              <a:gd name="adj" fmla="val 9524"/>
            </a:avLst>
          </a:prstGeom>
          <a:solidFill>
            <a:srgbClr val="FFFFFF"/>
          </a:solidFill>
          <a:ln w="12700">
            <a:solidFill>
              <a:srgbClr val="D6E3DF"/>
            </a:solidFill>
            <a:prstDash val="solid"/>
          </a:ln>
        </p:spPr>
      </p:sp>
      <p:sp>
        <p:nvSpPr>
          <p:cNvPr id="15" name="Text 13"/>
          <p:cNvSpPr/>
          <p:nvPr/>
        </p:nvSpPr>
        <p:spPr>
          <a:xfrm>
            <a:off x="8138160" y="1554480"/>
            <a:ext cx="1819656" cy="384048"/>
          </a:xfrm>
          <a:prstGeom prst="rect">
            <a:avLst/>
          </a:prstGeom>
          <a:noFill/>
          <a:ln/>
        </p:spPr>
        <p:txBody>
          <a:bodyPr wrap="square" lIns="0" tIns="0" rIns="0" bIns="0" rtlCol="0" anchor="ctr">
            <a:normAutofit/>
          </a:bodyPr>
          <a:lstStyle/>
          <a:p>
            <a:pPr marL="0" indent="0" algn="ctr">
              <a:buNone/>
            </a:pPr>
            <a:r>
              <a:rPr lang="en-US" sz="2400" b="1" dirty="0">
                <a:solidFill>
                  <a:srgbClr val="0F6B72"/>
                </a:solidFill>
              </a:rPr>
              <a:t>Lulus</a:t>
            </a:r>
            <a:endParaRPr lang="en-US" sz="2400" dirty="0"/>
          </a:p>
        </p:txBody>
      </p:sp>
      <p:sp>
        <p:nvSpPr>
          <p:cNvPr id="16" name="Text 14"/>
          <p:cNvSpPr/>
          <p:nvPr/>
        </p:nvSpPr>
        <p:spPr>
          <a:xfrm>
            <a:off x="8110728" y="2002536"/>
            <a:ext cx="1874520" cy="228600"/>
          </a:xfrm>
          <a:prstGeom prst="rect">
            <a:avLst/>
          </a:prstGeom>
          <a:noFill/>
          <a:ln/>
        </p:spPr>
        <p:txBody>
          <a:bodyPr wrap="square" lIns="0" tIns="0" rIns="0" bIns="0" rtlCol="0" anchor="ctr">
            <a:normAutofit/>
          </a:bodyPr>
          <a:lstStyle/>
          <a:p>
            <a:pPr marL="0" indent="0" algn="ctr">
              <a:buNone/>
            </a:pPr>
            <a:r>
              <a:rPr lang="en-US" sz="1050" dirty="0">
                <a:solidFill>
                  <a:srgbClr val="5E7178"/>
                </a:solidFill>
              </a:rPr>
              <a:t>Lint &amp; build</a:t>
            </a:r>
            <a:endParaRPr lang="en-US" sz="1050" dirty="0"/>
          </a:p>
        </p:txBody>
      </p:sp>
      <p:sp>
        <p:nvSpPr>
          <p:cNvPr id="17" name="Shape 15"/>
          <p:cNvSpPr/>
          <p:nvPr/>
        </p:nvSpPr>
        <p:spPr>
          <a:xfrm>
            <a:off x="7333488" y="2779776"/>
            <a:ext cx="3886200" cy="2816352"/>
          </a:xfrm>
          <a:prstGeom prst="roundRect">
            <a:avLst>
              <a:gd name="adj" fmla="val 2597"/>
            </a:avLst>
          </a:prstGeom>
          <a:solidFill>
            <a:srgbClr val="FFFFFF"/>
          </a:solidFill>
          <a:ln w="12700">
            <a:solidFill>
              <a:srgbClr val="D6E3DF"/>
            </a:solidFill>
            <a:prstDash val="solid"/>
          </a:ln>
        </p:spPr>
      </p:sp>
      <p:pic>
        <p:nvPicPr>
          <p:cNvPr id="18" name="Image 0" descr="/mnt/data/thesis_imgs/image10.png"/>
          <p:cNvPicPr>
            <a:picLocks noChangeAspect="1"/>
          </p:cNvPicPr>
          <p:nvPr/>
        </p:nvPicPr>
        <p:blipFill>
          <a:blip r:embed="rId3"/>
          <a:stretch>
            <a:fillRect/>
          </a:stretch>
        </p:blipFill>
        <p:spPr>
          <a:xfrm>
            <a:off x="8095691" y="2889504"/>
            <a:ext cx="2361795" cy="2596896"/>
          </a:xfrm>
          <a:prstGeom prst="rect">
            <a:avLst/>
          </a:prstGeom>
        </p:spPr>
      </p:pic>
      <p:sp>
        <p:nvSpPr>
          <p:cNvPr id="19" name="Shape 16"/>
          <p:cNvSpPr/>
          <p:nvPr/>
        </p:nvSpPr>
        <p:spPr>
          <a:xfrm>
            <a:off x="841248" y="2834640"/>
            <a:ext cx="5806440" cy="2697480"/>
          </a:xfrm>
          <a:prstGeom prst="roundRect">
            <a:avLst>
              <a:gd name="adj" fmla="val 3390"/>
            </a:avLst>
          </a:prstGeom>
          <a:solidFill>
            <a:srgbClr val="FFFFFF"/>
          </a:solidFill>
          <a:ln w="12700">
            <a:solidFill>
              <a:srgbClr val="D6E3DF"/>
            </a:solidFill>
            <a:prstDash val="solid"/>
          </a:ln>
        </p:spPr>
      </p:sp>
      <p:sp>
        <p:nvSpPr>
          <p:cNvPr id="20" name="Shape 17"/>
          <p:cNvSpPr/>
          <p:nvPr/>
        </p:nvSpPr>
        <p:spPr>
          <a:xfrm>
            <a:off x="841248" y="2834640"/>
            <a:ext cx="73152" cy="2697480"/>
          </a:xfrm>
          <a:prstGeom prst="rect">
            <a:avLst/>
          </a:prstGeom>
          <a:solidFill>
            <a:srgbClr val="0F6B72"/>
          </a:solidFill>
          <a:ln w="12700">
            <a:solidFill>
              <a:srgbClr val="0F6B72"/>
            </a:solidFill>
            <a:prstDash val="solid"/>
          </a:ln>
        </p:spPr>
      </p:sp>
      <p:sp>
        <p:nvSpPr>
          <p:cNvPr id="21" name="Text 18"/>
          <p:cNvSpPr/>
          <p:nvPr/>
        </p:nvSpPr>
        <p:spPr>
          <a:xfrm>
            <a:off x="1097280" y="3035808"/>
            <a:ext cx="530352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Ringkasan hasil</a:t>
            </a:r>
            <a:endParaRPr lang="en-US" sz="1650" dirty="0"/>
          </a:p>
        </p:txBody>
      </p:sp>
      <p:sp>
        <p:nvSpPr>
          <p:cNvPr id="22" name="Text 19"/>
          <p:cNvSpPr/>
          <p:nvPr/>
        </p:nvSpPr>
        <p:spPr>
          <a:xfrm>
            <a:off x="1097280" y="3456432"/>
            <a:ext cx="5303520" cy="1874520"/>
          </a:xfrm>
          <a:prstGeom prst="rect">
            <a:avLst/>
          </a:prstGeom>
          <a:noFill/>
          <a:ln/>
        </p:spPr>
        <p:txBody>
          <a:bodyPr wrap="square" lIns="0" tIns="0" rIns="0" bIns="0" rtlCol="0" anchor="t">
            <a:normAutofit/>
          </a:bodyPr>
          <a:lstStyle/>
          <a:p>
            <a:pPr marL="0" indent="0">
              <a:buNone/>
            </a:pPr>
            <a:r>
              <a:rPr lang="en-US" sz="1380" dirty="0">
                <a:solidFill>
                  <a:srgbClr val="1E2D36"/>
                </a:solidFill>
              </a:rPr>
              <a:t>Sistem sudah menyediakan peta publik, pencarian, filter, UMKM terdekat, rute, share, pengajuan, pelacakan, panel admin, verifikasi lokasi, K-Means, import/export, dan audit.</a:t>
            </a:r>
            <a:endParaRPr lang="en-US" sz="1380" dirty="0"/>
          </a:p>
          <a:p>
            <a:pPr marL="0" indent="0">
              <a:buNone/>
            </a:pPr>
            <a:endParaRPr lang="en-US" sz="1380" dirty="0"/>
          </a:p>
          <a:p>
            <a:pPr marL="0" indent="0">
              <a:buNone/>
            </a:pPr>
            <a:r>
              <a:rPr lang="en-US" sz="1380" dirty="0">
                <a:solidFill>
                  <a:srgbClr val="1E2D36"/>
                </a:solidFill>
              </a:rPr>
              <a:t>ESLint dan build produksi berhasil pada 10 September 2026. Pengujian integrasi dan black-box lintas perangkat masih perlu dilengkapi.</a:t>
            </a:r>
            <a:endParaRPr lang="en-US" sz="1380" dirty="0"/>
          </a:p>
        </p:txBody>
      </p:sp>
      <p:sp>
        <p:nvSpPr>
          <p:cNvPr id="25"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58368" y="393192"/>
            <a:ext cx="10789920" cy="438912"/>
          </a:xfrm>
          <a:prstGeom prst="rect">
            <a:avLst/>
          </a:prstGeom>
          <a:noFill/>
          <a:ln/>
        </p:spPr>
        <p:txBody>
          <a:bodyPr wrap="square" lIns="0" tIns="0" rIns="0" bIns="0" rtlCol="0" anchor="ctr">
            <a:normAutofit/>
          </a:bodyPr>
          <a:lstStyle/>
          <a:p>
            <a:pPr marL="0" indent="0">
              <a:buNone/>
            </a:pPr>
            <a:r>
              <a:rPr lang="en-US" sz="3000" b="1" dirty="0">
                <a:solidFill>
                  <a:srgbClr val="09212B"/>
                </a:solidFill>
                <a:latin typeface="Aptos Display" pitchFamily="34" charset="0"/>
                <a:ea typeface="Aptos Display" pitchFamily="34" charset="-122"/>
                <a:cs typeface="Aptos Display" pitchFamily="34" charset="-120"/>
              </a:rPr>
              <a:t>Evaluasi Nilai K</a:t>
            </a:r>
            <a:endParaRPr lang="en-US" sz="3000" dirty="0"/>
          </a:p>
        </p:txBody>
      </p:sp>
      <p:sp>
        <p:nvSpPr>
          <p:cNvPr id="3" name="Text 1"/>
          <p:cNvSpPr/>
          <p:nvPr/>
        </p:nvSpPr>
        <p:spPr>
          <a:xfrm>
            <a:off x="685800" y="886968"/>
            <a:ext cx="9966960" cy="274320"/>
          </a:xfrm>
          <a:prstGeom prst="rect">
            <a:avLst/>
          </a:prstGeom>
          <a:noFill/>
          <a:ln/>
        </p:spPr>
        <p:txBody>
          <a:bodyPr wrap="square" lIns="0" tIns="0" rIns="0" bIns="0" rtlCol="0" anchor="ctr">
            <a:normAutofit/>
          </a:bodyPr>
          <a:lstStyle/>
          <a:p>
            <a:pPr marL="0" indent="0">
              <a:buNone/>
            </a:pPr>
            <a:r>
              <a:rPr lang="en-US" sz="1300" dirty="0">
                <a:solidFill>
                  <a:srgbClr val="5E7178"/>
                </a:solidFill>
              </a:rPr>
              <a:t>WCSS turun secara umum, tetapi belum cukup untuk memilih K optimal</a:t>
            </a:r>
            <a:endParaRPr lang="en-US" sz="1300" dirty="0"/>
          </a:p>
        </p:txBody>
      </p:sp>
      <p:sp>
        <p:nvSpPr>
          <p:cNvPr id="4" name="Shape 2"/>
          <p:cNvSpPr/>
          <p:nvPr/>
        </p:nvSpPr>
        <p:spPr>
          <a:xfrm>
            <a:off x="658368" y="1188720"/>
            <a:ext cx="868680" cy="64008"/>
          </a:xfrm>
          <a:prstGeom prst="rect">
            <a:avLst/>
          </a:prstGeom>
          <a:solidFill>
            <a:srgbClr val="F2C94C"/>
          </a:solidFill>
          <a:ln w="12700">
            <a:solidFill>
              <a:srgbClr val="F2C94C"/>
            </a:solidFill>
            <a:prstDash val="solid"/>
          </a:ln>
        </p:spPr>
      </p:sp>
      <p:graphicFrame>
        <p:nvGraphicFramePr>
          <p:cNvPr id="5" name="Chart 0"/>
          <p:cNvGraphicFramePr/>
          <p:nvPr/>
        </p:nvGraphicFramePr>
        <p:xfrm>
          <a:off x="777240" y="1325880"/>
          <a:ext cx="644652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35240" y="1417320"/>
            <a:ext cx="3611880" cy="3703320"/>
          </a:xfrm>
          <a:prstGeom prst="roundRect">
            <a:avLst>
              <a:gd name="adj" fmla="val 2532"/>
            </a:avLst>
          </a:prstGeom>
          <a:solidFill>
            <a:srgbClr val="FFFDF2"/>
          </a:solidFill>
          <a:ln w="12700">
            <a:solidFill>
              <a:srgbClr val="D6E3DF"/>
            </a:solidFill>
            <a:prstDash val="solid"/>
          </a:ln>
        </p:spPr>
      </p:sp>
      <p:sp>
        <p:nvSpPr>
          <p:cNvPr id="7" name="Shape 4"/>
          <p:cNvSpPr/>
          <p:nvPr/>
        </p:nvSpPr>
        <p:spPr>
          <a:xfrm>
            <a:off x="7635240" y="1417320"/>
            <a:ext cx="73152" cy="3703320"/>
          </a:xfrm>
          <a:prstGeom prst="rect">
            <a:avLst/>
          </a:prstGeom>
          <a:solidFill>
            <a:srgbClr val="F2C94C"/>
          </a:solidFill>
          <a:ln w="12700">
            <a:solidFill>
              <a:srgbClr val="F2C94C"/>
            </a:solidFill>
            <a:prstDash val="solid"/>
          </a:ln>
        </p:spPr>
      </p:sp>
      <p:sp>
        <p:nvSpPr>
          <p:cNvPr id="8" name="Text 5"/>
          <p:cNvSpPr/>
          <p:nvPr/>
        </p:nvSpPr>
        <p:spPr>
          <a:xfrm>
            <a:off x="7891272" y="1618488"/>
            <a:ext cx="310896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Catatan evaluasi</a:t>
            </a:r>
            <a:endParaRPr lang="en-US" sz="1650" dirty="0"/>
          </a:p>
        </p:txBody>
      </p:sp>
      <p:sp>
        <p:nvSpPr>
          <p:cNvPr id="9" name="Text 6"/>
          <p:cNvSpPr/>
          <p:nvPr/>
        </p:nvSpPr>
        <p:spPr>
          <a:xfrm>
            <a:off x="7891272" y="2039112"/>
            <a:ext cx="3108960" cy="2880360"/>
          </a:xfrm>
          <a:prstGeom prst="rect">
            <a:avLst/>
          </a:prstGeom>
          <a:noFill/>
          <a:ln/>
        </p:spPr>
        <p:txBody>
          <a:bodyPr wrap="square" lIns="0" tIns="0" rIns="0" bIns="0" rtlCol="0" anchor="t">
            <a:normAutofit/>
          </a:bodyPr>
          <a:lstStyle/>
          <a:p>
            <a:pPr marL="0" indent="0">
              <a:buNone/>
            </a:pPr>
            <a:r>
              <a:rPr lang="en-US" sz="1380" dirty="0">
                <a:solidFill>
                  <a:srgbClr val="1E2D36"/>
                </a:solidFill>
              </a:rPr>
              <a:t>• K=3 turun 66,85% dari K=2.</a:t>
            </a:r>
            <a:endParaRPr lang="en-US" sz="1380" dirty="0"/>
          </a:p>
          <a:p>
            <a:pPr marL="0" indent="0">
              <a:buNone/>
            </a:pPr>
            <a:endParaRPr lang="en-US" sz="1380" dirty="0"/>
          </a:p>
          <a:p>
            <a:pPr marL="0" indent="0">
              <a:buNone/>
            </a:pPr>
            <a:r>
              <a:rPr lang="en-US" sz="1380" dirty="0">
                <a:solidFill>
                  <a:srgbClr val="1E2D36"/>
                </a:solidFill>
              </a:rPr>
              <a:t>• K=5 turun 60,12% dari K=4.</a:t>
            </a:r>
            <a:endParaRPr lang="en-US" sz="1380" dirty="0"/>
          </a:p>
          <a:p>
            <a:pPr marL="0" indent="0">
              <a:buNone/>
            </a:pPr>
            <a:endParaRPr lang="en-US" sz="1380" dirty="0"/>
          </a:p>
          <a:p>
            <a:pPr marL="0" indent="0">
              <a:buNone/>
            </a:pPr>
            <a:r>
              <a:rPr lang="en-US" sz="1380" dirty="0">
                <a:solidFill>
                  <a:srgbClr val="1E2D36"/>
                </a:solidFill>
              </a:rPr>
              <a:t>• K=9 naik 10,53% dari K=8.</a:t>
            </a:r>
            <a:endParaRPr lang="en-US" sz="1380" dirty="0"/>
          </a:p>
          <a:p>
            <a:pPr marL="0" indent="0">
              <a:buNone/>
            </a:pPr>
            <a:endParaRPr lang="en-US" sz="1380" dirty="0"/>
          </a:p>
          <a:p>
            <a:pPr marL="0" indent="0">
              <a:buNone/>
            </a:pPr>
            <a:r>
              <a:rPr lang="en-US" sz="1380" dirty="0">
                <a:solidFill>
                  <a:srgbClr val="1E2D36"/>
                </a:solidFill>
              </a:rPr>
              <a:t>• Karena kurva tidak monoton, nilai K optimal belum ditetapkan hanya dari satu run per K.</a:t>
            </a:r>
            <a:endParaRPr lang="en-US" sz="1380" dirty="0"/>
          </a:p>
        </p:txBody>
      </p:sp>
      <p:sp>
        <p:nvSpPr>
          <p:cNvPr id="10" name="Shape 7"/>
          <p:cNvSpPr/>
          <p:nvPr/>
        </p:nvSpPr>
        <p:spPr>
          <a:xfrm>
            <a:off x="777240" y="5568696"/>
            <a:ext cx="10469880" cy="457200"/>
          </a:xfrm>
          <a:prstGeom prst="roundRect">
            <a:avLst>
              <a:gd name="adj" fmla="val 24000"/>
            </a:avLst>
          </a:prstGeom>
          <a:solidFill>
            <a:srgbClr val="FDEDEC"/>
          </a:solidFill>
          <a:ln w="12700">
            <a:solidFill>
              <a:srgbClr val="F2C1BD"/>
            </a:solidFill>
            <a:prstDash val="solid"/>
          </a:ln>
        </p:spPr>
      </p:sp>
      <p:sp>
        <p:nvSpPr>
          <p:cNvPr id="11" name="Text 8"/>
          <p:cNvSpPr/>
          <p:nvPr/>
        </p:nvSpPr>
        <p:spPr>
          <a:xfrm>
            <a:off x="1005840" y="5705856"/>
            <a:ext cx="10012680" cy="109728"/>
          </a:xfrm>
          <a:prstGeom prst="rect">
            <a:avLst/>
          </a:prstGeom>
          <a:noFill/>
          <a:ln/>
        </p:spPr>
        <p:txBody>
          <a:bodyPr wrap="square" lIns="0" tIns="0" rIns="0" bIns="0" rtlCol="0" anchor="ctr">
            <a:normAutofit/>
          </a:bodyPr>
          <a:lstStyle/>
          <a:p>
            <a:pPr marL="0" indent="0" algn="ctr">
              <a:buNone/>
            </a:pPr>
            <a:r>
              <a:rPr lang="en-US" sz="1250" b="1" dirty="0">
                <a:solidFill>
                  <a:srgbClr val="D94841"/>
                </a:solidFill>
              </a:rPr>
              <a:t>Kesimpulan: perlu multi-start atau metode evaluasi tambahan sebelum memilih elbow final.</a:t>
            </a:r>
            <a:endParaRPr lang="en-US" sz="1250" dirty="0"/>
          </a:p>
        </p:txBody>
      </p:sp>
      <p:sp>
        <p:nvSpPr>
          <p:cNvPr id="25" name="Slide Number Placeholder 0"/>
          <p:cNvSpPr>
            <a:spLocks noGrp="1"/>
          </p:cNvSpPr>
          <p:nvPr>
            <p:ph type="sldNum" sz="quarter" idx="4294967295"/>
          </p:nvPr>
        </p:nvSpPr>
        <p:spPr>
          <a:xfrm>
            <a:off x="11045952" y="6510528"/>
            <a:ext cx="502920" cy="219456"/>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6B7B84"/>
                </a:solidFill>
                <a:latin typeface="Aptos"/>
                <a:ea typeface="Aptos"/>
                <a:cs typeface="Apto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F3A"/>
        </a:solidFill>
        <a:effectLst/>
      </p:bgPr>
    </p:bg>
    <p:spTree>
      <p:nvGrpSpPr>
        <p:cNvPr id="1" name=""/>
        <p:cNvGrpSpPr/>
        <p:nvPr/>
      </p:nvGrpSpPr>
      <p:grpSpPr>
        <a:xfrm>
          <a:off x="0" y="0"/>
          <a:ext cx="0" cy="0"/>
          <a:chOff x="0" y="0"/>
          <a:chExt cx="0" cy="0"/>
        </a:xfrm>
      </p:grpSpPr>
      <p:sp>
        <p:nvSpPr>
          <p:cNvPr id="2" name="Shape 0"/>
          <p:cNvSpPr/>
          <p:nvPr/>
        </p:nvSpPr>
        <p:spPr>
          <a:xfrm>
            <a:off x="713232" y="566928"/>
            <a:ext cx="2148840" cy="329184"/>
          </a:xfrm>
          <a:prstGeom prst="roundRect">
            <a:avLst>
              <a:gd name="adj" fmla="val 33333"/>
            </a:avLst>
          </a:prstGeom>
          <a:solidFill>
            <a:srgbClr val="E6F4F1"/>
          </a:solidFill>
          <a:ln w="12700">
            <a:solidFill>
              <a:srgbClr val="CFE6DF"/>
            </a:solidFill>
            <a:prstDash val="solid"/>
          </a:ln>
        </p:spPr>
      </p:sp>
      <p:sp>
        <p:nvSpPr>
          <p:cNvPr id="3" name="Text 1"/>
          <p:cNvSpPr/>
          <p:nvPr/>
        </p:nvSpPr>
        <p:spPr>
          <a:xfrm>
            <a:off x="713232" y="640080"/>
            <a:ext cx="2148840" cy="146304"/>
          </a:xfrm>
          <a:prstGeom prst="rect">
            <a:avLst/>
          </a:prstGeom>
          <a:noFill/>
          <a:ln/>
        </p:spPr>
        <p:txBody>
          <a:bodyPr wrap="square" lIns="0" tIns="0" rIns="0" bIns="0" rtlCol="0" anchor="ctr"/>
          <a:lstStyle/>
          <a:p>
            <a:pPr marL="0" indent="0" algn="ctr">
              <a:buNone/>
            </a:pPr>
            <a:r>
              <a:rPr lang="en-US" sz="980" b="1" dirty="0">
                <a:solidFill>
                  <a:srgbClr val="0F6B72"/>
                </a:solidFill>
              </a:rPr>
              <a:t>KESIMPULAN</a:t>
            </a:r>
            <a:endParaRPr lang="en-US" sz="980" dirty="0"/>
          </a:p>
        </p:txBody>
      </p:sp>
      <p:sp>
        <p:nvSpPr>
          <p:cNvPr id="4" name="Text 2"/>
          <p:cNvSpPr/>
          <p:nvPr/>
        </p:nvSpPr>
        <p:spPr>
          <a:xfrm>
            <a:off x="713232" y="1143000"/>
            <a:ext cx="5074920" cy="585216"/>
          </a:xfrm>
          <a:prstGeom prst="rect">
            <a:avLst/>
          </a:prstGeom>
          <a:noFill/>
          <a:ln/>
        </p:spPr>
        <p:txBody>
          <a:bodyPr wrap="square" lIns="0" tIns="0" rIns="0" bIns="0" rtlCol="0" anchor="ctr">
            <a:normAutofit/>
          </a:bodyP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Kesimpulan dan Saran</a:t>
            </a:r>
            <a:endParaRPr lang="en-US" sz="3600" dirty="0"/>
          </a:p>
        </p:txBody>
      </p:sp>
      <p:sp>
        <p:nvSpPr>
          <p:cNvPr id="5" name="Shape 3"/>
          <p:cNvSpPr/>
          <p:nvPr/>
        </p:nvSpPr>
        <p:spPr>
          <a:xfrm>
            <a:off x="749808" y="2148840"/>
            <a:ext cx="4846320" cy="3017520"/>
          </a:xfrm>
          <a:prstGeom prst="roundRect">
            <a:avLst>
              <a:gd name="adj" fmla="val 3030"/>
            </a:avLst>
          </a:prstGeom>
          <a:solidFill>
            <a:srgbClr val="FFFFFF"/>
          </a:solidFill>
          <a:ln w="12700">
            <a:solidFill>
              <a:srgbClr val="D6E3DF"/>
            </a:solidFill>
            <a:prstDash val="solid"/>
          </a:ln>
        </p:spPr>
      </p:sp>
      <p:sp>
        <p:nvSpPr>
          <p:cNvPr id="6" name="Shape 4"/>
          <p:cNvSpPr/>
          <p:nvPr/>
        </p:nvSpPr>
        <p:spPr>
          <a:xfrm>
            <a:off x="749808" y="2148840"/>
            <a:ext cx="73152" cy="3017520"/>
          </a:xfrm>
          <a:prstGeom prst="rect">
            <a:avLst/>
          </a:prstGeom>
          <a:solidFill>
            <a:srgbClr val="0F6B72"/>
          </a:solidFill>
          <a:ln w="12700">
            <a:solidFill>
              <a:srgbClr val="0F6B72"/>
            </a:solidFill>
            <a:prstDash val="solid"/>
          </a:ln>
        </p:spPr>
      </p:sp>
      <p:sp>
        <p:nvSpPr>
          <p:cNvPr id="7" name="Text 5"/>
          <p:cNvSpPr/>
          <p:nvPr/>
        </p:nvSpPr>
        <p:spPr>
          <a:xfrm>
            <a:off x="1005840" y="2350008"/>
            <a:ext cx="434340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Kesimpulan</a:t>
            </a:r>
            <a:endParaRPr lang="en-US" sz="1650" dirty="0"/>
          </a:p>
        </p:txBody>
      </p:sp>
      <p:sp>
        <p:nvSpPr>
          <p:cNvPr id="8" name="Text 6"/>
          <p:cNvSpPr/>
          <p:nvPr/>
        </p:nvSpPr>
        <p:spPr>
          <a:xfrm>
            <a:off x="1005840" y="2770632"/>
            <a:ext cx="4343400" cy="2194560"/>
          </a:xfrm>
          <a:prstGeom prst="rect">
            <a:avLst/>
          </a:prstGeom>
          <a:noFill/>
          <a:ln/>
        </p:spPr>
        <p:txBody>
          <a:bodyPr wrap="square" lIns="0" tIns="0" rIns="0" bIns="0" rtlCol="0" anchor="t">
            <a:normAutofit/>
          </a:bodyPr>
          <a:lstStyle/>
          <a:p>
            <a:pPr marL="0" indent="0">
              <a:buNone/>
            </a:pPr>
            <a:r>
              <a:rPr lang="en-US" sz="1380" dirty="0">
                <a:solidFill>
                  <a:srgbClr val="1E2D36"/>
                </a:solidFill>
              </a:rPr>
              <a:t>Sistem Web GIS berhasil mengintegrasikan pemetaan UMKM, layanan publik, panel admin, kualitas lokasi, dan K-Means. Hasil analisis dapat ditelusuri melalui snapshot, hash, parameter, WCSS, centroid, dan radius.</a:t>
            </a:r>
            <a:endParaRPr lang="en-US" sz="1380" dirty="0"/>
          </a:p>
        </p:txBody>
      </p:sp>
      <p:sp>
        <p:nvSpPr>
          <p:cNvPr id="9" name="Shape 7"/>
          <p:cNvSpPr/>
          <p:nvPr/>
        </p:nvSpPr>
        <p:spPr>
          <a:xfrm>
            <a:off x="5961888" y="2148840"/>
            <a:ext cx="4846320" cy="3017520"/>
          </a:xfrm>
          <a:prstGeom prst="roundRect">
            <a:avLst>
              <a:gd name="adj" fmla="val 3030"/>
            </a:avLst>
          </a:prstGeom>
          <a:solidFill>
            <a:srgbClr val="FFFDF2"/>
          </a:solidFill>
          <a:ln w="12700">
            <a:solidFill>
              <a:srgbClr val="D6E3DF"/>
            </a:solidFill>
            <a:prstDash val="solid"/>
          </a:ln>
        </p:spPr>
      </p:sp>
      <p:sp>
        <p:nvSpPr>
          <p:cNvPr id="10" name="Shape 8"/>
          <p:cNvSpPr/>
          <p:nvPr/>
        </p:nvSpPr>
        <p:spPr>
          <a:xfrm>
            <a:off x="5961888" y="2148840"/>
            <a:ext cx="73152" cy="3017520"/>
          </a:xfrm>
          <a:prstGeom prst="rect">
            <a:avLst/>
          </a:prstGeom>
          <a:solidFill>
            <a:srgbClr val="F2C94C"/>
          </a:solidFill>
          <a:ln w="12700">
            <a:solidFill>
              <a:srgbClr val="F2C94C"/>
            </a:solidFill>
            <a:prstDash val="solid"/>
          </a:ln>
        </p:spPr>
      </p:sp>
      <p:sp>
        <p:nvSpPr>
          <p:cNvPr id="11" name="Text 9"/>
          <p:cNvSpPr/>
          <p:nvPr/>
        </p:nvSpPr>
        <p:spPr>
          <a:xfrm>
            <a:off x="6217920" y="2350008"/>
            <a:ext cx="4343400" cy="292608"/>
          </a:xfrm>
          <a:prstGeom prst="rect">
            <a:avLst/>
          </a:prstGeom>
          <a:noFill/>
          <a:ln/>
        </p:spPr>
        <p:txBody>
          <a:bodyPr wrap="square" lIns="0" tIns="0" rIns="0" bIns="0" rtlCol="0" anchor="ctr">
            <a:normAutofit/>
          </a:bodyPr>
          <a:lstStyle/>
          <a:p>
            <a:pPr marL="0" indent="0">
              <a:buNone/>
            </a:pPr>
            <a:r>
              <a:rPr lang="en-US" sz="1650" b="1" dirty="0">
                <a:solidFill>
                  <a:srgbClr val="09212B"/>
                </a:solidFill>
              </a:rPr>
              <a:t>Saran</a:t>
            </a:r>
            <a:endParaRPr lang="en-US" sz="1650" dirty="0"/>
          </a:p>
        </p:txBody>
      </p:sp>
      <p:sp>
        <p:nvSpPr>
          <p:cNvPr id="12" name="Text 10"/>
          <p:cNvSpPr/>
          <p:nvPr/>
        </p:nvSpPr>
        <p:spPr>
          <a:xfrm>
            <a:off x="6217920" y="2770632"/>
            <a:ext cx="4343400" cy="2194560"/>
          </a:xfrm>
          <a:prstGeom prst="rect">
            <a:avLst/>
          </a:prstGeom>
          <a:noFill/>
          <a:ln/>
        </p:spPr>
        <p:txBody>
          <a:bodyPr wrap="square" lIns="0" tIns="0" rIns="0" bIns="0" rtlCol="0" anchor="t">
            <a:normAutofit/>
          </a:bodyPr>
          <a:lstStyle/>
          <a:p>
            <a:pPr marL="0" indent="0">
              <a:buNone/>
            </a:pPr>
            <a:r>
              <a:rPr lang="en-US" sz="1380" dirty="0">
                <a:solidFill>
                  <a:srgbClr val="1E2D36"/>
                </a:solidFill>
              </a:rPr>
              <a:t>Tingkatkan verifikasi koordinat, jalankan K-Means dengan beberapa inisialisasi, lengkapi pengujian integrasi dan black-box, serta tambahkan evaluasi cluster seperti Silhouette Score atau metode pembanding.</a:t>
            </a:r>
            <a:endParaRPr lang="en-US" sz="1380" dirty="0"/>
          </a:p>
        </p:txBody>
      </p:sp>
      <p:sp>
        <p:nvSpPr>
          <p:cNvPr id="13" name="Text 11"/>
          <p:cNvSpPr/>
          <p:nvPr/>
        </p:nvSpPr>
        <p:spPr>
          <a:xfrm>
            <a:off x="749808" y="5815584"/>
            <a:ext cx="3200400" cy="384048"/>
          </a:xfrm>
          <a:prstGeom prst="rect">
            <a:avLst/>
          </a:prstGeom>
          <a:noFill/>
          <a:ln/>
        </p:spPr>
        <p:txBody>
          <a:bodyPr wrap="square" lIns="0" tIns="0" rIns="0" bIns="0" rtlCol="0" anchor="ctr"/>
          <a:lstStyle/>
          <a:p>
            <a:pPr marL="0" indent="0">
              <a:buNone/>
            </a:pPr>
            <a:r>
              <a:rPr lang="en-US" sz="2400" b="1" dirty="0">
                <a:solidFill>
                  <a:srgbClr val="F2C94C"/>
                </a:solidFill>
              </a:rPr>
              <a:t>Terima kasih</a:t>
            </a:r>
            <a:endParaRPr lang="en-US" sz="2400" dirty="0"/>
          </a:p>
        </p:txBody>
      </p:sp>
      <p:sp>
        <p:nvSpPr>
          <p:cNvPr id="14" name="Text 12"/>
          <p:cNvSpPr/>
          <p:nvPr/>
        </p:nvSpPr>
        <p:spPr>
          <a:xfrm>
            <a:off x="3977640" y="5879592"/>
            <a:ext cx="2926080" cy="219456"/>
          </a:xfrm>
          <a:prstGeom prst="rect">
            <a:avLst/>
          </a:prstGeom>
          <a:noFill/>
          <a:ln/>
        </p:spPr>
        <p:txBody>
          <a:bodyPr wrap="square" lIns="0" tIns="0" rIns="0" bIns="0" rtlCol="0" anchor="ctr"/>
          <a:lstStyle/>
          <a:p>
            <a:pPr marL="0" indent="0">
              <a:buNone/>
            </a:pPr>
            <a:r>
              <a:rPr lang="en-US" sz="1200" dirty="0">
                <a:solidFill>
                  <a:srgbClr val="D9F3EF"/>
                </a:solidFill>
              </a:rPr>
              <a:t>Pertanyaan dan diskusi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TotalTime>
  <Words>1485</Words>
  <Application>Microsoft Office PowerPoint</Application>
  <PresentationFormat>Widescreen</PresentationFormat>
  <Paragraphs>167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Politeknik Negeri Manado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GIS UMKM dan K-Means Clustering</dc:title>
  <dc:subject>Presentasi Skripsi</dc:subject>
  <dc:creator>Putra Febrian</dc:creator>
  <cp:lastModifiedBy>Putra Febrian</cp:lastModifiedBy>
  <cp:revision>1</cp:revision>
  <dcterms:created xsi:type="dcterms:W3CDTF">2026-09-10T16:22:37Z</dcterms:created>
  <dcterms:modified xsi:type="dcterms:W3CDTF">2026-09-10T23:11:00Z</dcterms:modified>
</cp:coreProperties>
</file>